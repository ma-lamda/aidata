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9e5013c5b48f8" /><Relationship Type="http://schemas.openxmlformats.org/officeDocument/2006/relationships/extended-properties" Target="/docProps/app.xml" Id="R56c8e41a34844623" /><Relationship Type="http://schemas.openxmlformats.org/officeDocument/2006/relationships/officeDocument" Target="/ppt/presentation.xml" Id="R6420a3a94f87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03c3588b24129"/>
  </p:sldMasterIdLst>
  <p:notesMasterIdLst>
    <p:notesMasterId xmlns:r="http://schemas.openxmlformats.org/officeDocument/2006/relationships" r:id="Rd037d7f16e1b46ce"/>
  </p:notesMasterIdLst>
  <p:sldIdLst>
    <p:sldId xmlns:r="http://schemas.openxmlformats.org/officeDocument/2006/relationships" id="256" r:id="R580ce8df211447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10e6e0df34e1c" /><Relationship Type="http://schemas.openxmlformats.org/officeDocument/2006/relationships/slideMaster" Target="/ppt/slideMasters/slideMaster1.xml" Id="Rc7a03c3588b24129" /><Relationship Type="http://schemas.openxmlformats.org/officeDocument/2006/relationships/notesMaster" Target="/ppt/notesMasters/notesMaster1.xml" Id="Rd037d7f16e1b46ce" /><Relationship Type="http://schemas.openxmlformats.org/officeDocument/2006/relationships/presProps" Target="/ppt/presProps.xml" Id="R96eca0fc78744c0f" /><Relationship Type="http://schemas.openxmlformats.org/officeDocument/2006/relationships/viewProps" Target="/ppt/viewProps.xml" Id="Rc1e51ba6f03844f3" /><Relationship Type="http://schemas.openxmlformats.org/officeDocument/2006/relationships/tableStyles" Target="/ppt/tableStyles.xml" Id="R26cab6b757724ebf" /><Relationship Type="http://schemas.openxmlformats.org/officeDocument/2006/relationships/slide" Target="/ppt/slides/slide1.xml" Id="R580ce8df2114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2128949cc0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81c6d1923c4c9f" /><Relationship Type="http://schemas.openxmlformats.org/officeDocument/2006/relationships/notesMaster" Target="/ppt/notesMasters/notesMaster1.xml" Id="Rb07f35d1c30d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ccc18f1e940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3c528377b4999" /><Relationship Type="http://schemas.openxmlformats.org/officeDocument/2006/relationships/slideLayout" Target="/ppt/slideLayouts/slideLayout1.xml" Id="Reeb62073ce60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62073ce60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4a6c8f95447f" /><Relationship Type="http://schemas.openxmlformats.org/officeDocument/2006/relationships/image" Target="/ppt/media/image.jpeg" Id="Rdde2fd1871e8462c" /><Relationship Type="http://schemas.openxmlformats.org/officeDocument/2006/relationships/notesSlide" Target="/ppt/notesSlides/notesSlide1.xml" Id="R5f29d2192abf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-rule">
            <a:extLst xmlns:a="http://schemas.openxmlformats.org/drawingml/2006/main">
              <a:ext uri="{FF2B5EF4-FFF2-40B4-BE49-F238E27FC236}">
                <a16:creationId xmlns:a16="http://schemas.microsoft.com/office/drawing/2014/main" id="{EF502DAA-4C66-4781-BF00-469FE132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037D848-2DD4-47DA-9E55-12D84F5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WAIC 2026 · RICHARD S. SUTTON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CD1F62-D1D6-409F-AE56-79627D1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Sutton</a:t>
            </a: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必须</a:t>
            </a: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从“继承知识”走向“创造经验</a:t>
            </a:r>
            <a:r>
              <a:rPr sz="27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4" name="takeaway-bg">
            <a:extLst xmlns:a="http://schemas.openxmlformats.org/drawingml/2006/main">
              <a:ext uri="{FF2B5EF4-FFF2-40B4-BE49-F238E27FC236}">
                <a16:creationId xmlns:a16="http://schemas.microsoft.com/office/drawing/2014/main" id="{0AB30EB4-B49B-4D75-85B9-39833BFE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5F5869B8-2CD3-4DCA-A785-FEF7EB9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FECE3493-F053-4C3A-9C67-6C46A20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LLM </a:t>
            </a: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擅长表达人类已有知识；真正智能</a:t>
            </a: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必须能</a:t>
            </a: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通过行动、反馈与学习，持续发现新知识</a:t>
            </a: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photo-rule">
            <a:extLst xmlns:a="http://schemas.openxmlformats.org/drawingml/2006/main">
              <a:ext uri="{FF2B5EF4-FFF2-40B4-BE49-F238E27FC236}">
                <a16:creationId xmlns:a16="http://schemas.microsoft.com/office/drawing/2014/main" id="{52728881-7CF1-4BFA-93AF-722D9936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2fd1871e8462c"/>
          <a:srcRect xmlns:a="http://schemas.openxmlformats.org/drawingml/2006/main" l="0" t="10667" r="0" b="10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105025"/>
            <a:ext cx="2743200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photo-name">
            <a:extLst xmlns:a="http://schemas.openxmlformats.org/drawingml/2006/main">
              <a:ext uri="{FF2B5EF4-FFF2-40B4-BE49-F238E27FC236}">
                <a16:creationId xmlns:a16="http://schemas.microsoft.com/office/drawing/2014/main" id="{E7112544-22EC-47FF-8E52-A7C04EC7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RICHARD S. SUTTON</a:t>
            </a:r>
          </a:p>
        </p:txBody>
      </p:sp>
      <p:sp>
        <p:nvSpPr>
          <p:cNvPr id="10" name="photo-role">
            <a:extLst xmlns:a="http://schemas.openxmlformats.org/drawingml/2006/main">
              <a:ext uri="{FF2B5EF4-FFF2-40B4-BE49-F238E27FC236}">
                <a16:creationId xmlns:a16="http://schemas.microsoft.com/office/drawing/2014/main" id="{66F96D35-470E-40B6-B95B-62B06C8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767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2024 图灵奖得主｜强化学习奠基人</a:t>
            </a:r>
          </a:p>
        </p:txBody>
      </p:sp>
      <p:sp>
        <p:nvSpPr>
          <p:cNvPr id="11" name="judgment-rule">
            <a:extLst xmlns:a="http://schemas.openxmlformats.org/drawingml/2006/main">
              <a:ext uri="{FF2B5EF4-FFF2-40B4-BE49-F238E27FC236}">
                <a16:creationId xmlns:a16="http://schemas.microsoft.com/office/drawing/2014/main" id="{075EE85D-5D80-4CAA-A6F2-0E0DA7D9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387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8534226E-C3A6-497B-96E7-1D0F7E1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3" name="judgment-text">
            <a:extLst xmlns:a="http://schemas.openxmlformats.org/drawingml/2006/main">
              <a:ext uri="{FF2B5EF4-FFF2-40B4-BE49-F238E27FC236}">
                <a16:creationId xmlns:a16="http://schemas.microsoft.com/office/drawing/2014/main" id="{FF4AE493-06C9-4304-B21D-3EF9E86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6732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轨迹不是静态日志</a:t>
            </a:r>
            <a:r>
              <a: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而是运行中持续产生的经验流</a:t>
            </a:r>
            <a:r>
              <a: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num-01">
            <a:extLst xmlns:a="http://schemas.openxmlformats.org/drawingml/2006/main">
              <a:ext uri="{FF2B5EF4-FFF2-40B4-BE49-F238E27FC236}">
                <a16:creationId xmlns:a16="http://schemas.microsoft.com/office/drawing/2014/main" id="{F49ACBC0-A891-4DE1-ADB8-5BFBCF3D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head-01">
            <a:extLst xmlns:a="http://schemas.openxmlformats.org/drawingml/2006/main">
              <a:ext uri="{FF2B5EF4-FFF2-40B4-BE49-F238E27FC236}">
                <a16:creationId xmlns:a16="http://schemas.microsoft.com/office/drawing/2014/main" id="{FEFE3F19-18D2-4285-9B7F-D04393D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知识不等于智能</a:t>
            </a:r>
          </a:p>
        </p:txBody>
      </p:sp>
      <p:sp>
        <p:nvSpPr>
          <p:cNvPr id="16" name="body-01">
            <a:extLst xmlns:a="http://schemas.openxmlformats.org/drawingml/2006/main">
              <a:ext uri="{FF2B5EF4-FFF2-40B4-BE49-F238E27FC236}">
                <a16:creationId xmlns:a16="http://schemas.microsoft.com/office/drawing/2014/main" id="{2282275B-C27F-4021-91E7-EC2C0E09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静态语料让模型会复述和推理，却无法形成稳定目标、现实验证与自主发现；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模型幻觉与不可靠性因此难以仅靠扩大训练数据根治。</a:t>
            </a:r>
          </a:p>
        </p:txBody>
      </p:sp>
      <p:sp>
        <p:nvSpPr>
          <p:cNvPr id="17" name="sep-01">
            <a:extLst xmlns:a="http://schemas.openxmlformats.org/drawingml/2006/main">
              <a:ext uri="{FF2B5EF4-FFF2-40B4-BE49-F238E27FC236}">
                <a16:creationId xmlns:a16="http://schemas.microsoft.com/office/drawing/2014/main" id="{813FB624-D8E3-4D32-A017-5F91FB2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779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num-02">
            <a:extLst xmlns:a="http://schemas.openxmlformats.org/drawingml/2006/main">
              <a:ext uri="{FF2B5EF4-FFF2-40B4-BE49-F238E27FC236}">
                <a16:creationId xmlns:a16="http://schemas.microsoft.com/office/drawing/2014/main" id="{409626C3-C522-4235-B74C-D4FD357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head-02">
            <a:extLst xmlns:a="http://schemas.openxmlformats.org/drawingml/2006/main">
              <a:ext uri="{FF2B5EF4-FFF2-40B4-BE49-F238E27FC236}">
                <a16:creationId xmlns:a16="http://schemas.microsoft.com/office/drawing/2014/main" id="{1B3EF198-06BF-4552-937C-E9019080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第一视角经验形成连续轨迹</a:t>
            </a:r>
          </a:p>
        </p:txBody>
      </p:sp>
      <p:sp>
        <p:nvSpPr>
          <p:cNvPr id="20" name="body-02">
            <a:extLst xmlns:a="http://schemas.openxmlformats.org/drawingml/2006/main">
              <a:ext uri="{FF2B5EF4-FFF2-40B4-BE49-F238E27FC236}">
                <a16:creationId xmlns:a16="http://schemas.microsoft.com/office/drawing/2014/main" id="{59BFF500-CD99-4ED6-A689-8917CB4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每次交互生成“观察—行动—奖励”轨迹，并直接成为下一次学习的输入。</a:t>
            </a:r>
          </a:p>
        </p:txBody>
      </p:sp>
      <p:sp>
        <p:nvSpPr>
          <p:cNvPr id="21" name="trajectory-arrow-1">
            <a:extLst xmlns:a="http://schemas.openxmlformats.org/drawingml/2006/main">
              <a:ext uri="{FF2B5EF4-FFF2-40B4-BE49-F238E27FC236}">
                <a16:creationId xmlns:a16="http://schemas.microsoft.com/office/drawing/2014/main" id="{B45160D9-D439-4A00-ABD7-DC99807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751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E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rajectory-arrow-2">
            <a:extLst xmlns:a="http://schemas.openxmlformats.org/drawingml/2006/main">
              <a:ext uri="{FF2B5EF4-FFF2-40B4-BE49-F238E27FC236}">
                <a16:creationId xmlns:a16="http://schemas.microsoft.com/office/drawing/2014/main" id="{3F52EAD9-39A1-4BF1-A278-B6FA155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51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E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rajectory-arrow-3">
            <a:extLst xmlns:a="http://schemas.openxmlformats.org/drawingml/2006/main">
              <a:ext uri="{FF2B5EF4-FFF2-40B4-BE49-F238E27FC236}">
                <a16:creationId xmlns:a16="http://schemas.microsoft.com/office/drawing/2014/main" id="{1336B752-B73C-4D2F-AAD4-0448CB4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1751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rajectory-observation">
            <a:extLst xmlns:a="http://schemas.openxmlformats.org/drawingml/2006/main">
              <a:ext uri="{FF2B5EF4-FFF2-40B4-BE49-F238E27FC236}">
                <a16:creationId xmlns:a16="http://schemas.microsoft.com/office/drawing/2014/main" id="{CBB9E899-6EF2-4C04-87C0-52BFB3B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94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观察  oₜ</a:t>
            </a:r>
          </a:p>
        </p:txBody>
      </p:sp>
      <p:sp>
        <p:nvSpPr>
          <p:cNvPr id="25" name="trajectory-action">
            <a:extLst xmlns:a="http://schemas.openxmlformats.org/drawingml/2006/main">
              <a:ext uri="{FF2B5EF4-FFF2-40B4-BE49-F238E27FC236}">
                <a16:creationId xmlns:a16="http://schemas.microsoft.com/office/drawing/2014/main" id="{CDE4BA3C-6701-4952-85BA-2F451DFB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894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行动</a:t>
            </a: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  aₜ</a:t>
            </a:r>
          </a:p>
        </p:txBody>
      </p:sp>
      <p:sp>
        <p:nvSpPr>
          <p:cNvPr id="26" name="trajectory-reward">
            <a:extLst xmlns:a="http://schemas.openxmlformats.org/drawingml/2006/main">
              <a:ext uri="{FF2B5EF4-FFF2-40B4-BE49-F238E27FC236}">
                <a16:creationId xmlns:a16="http://schemas.microsoft.com/office/drawing/2014/main" id="{DCEDF0BF-13A3-4603-99E6-AF13518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894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奖励</a:t>
            </a: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  rₜ₊₁</a:t>
            </a:r>
          </a:p>
        </p:txBody>
      </p:sp>
      <p:sp>
        <p:nvSpPr>
          <p:cNvPr id="27" name="trajectory-next-observation">
            <a:extLst xmlns:a="http://schemas.openxmlformats.org/drawingml/2006/main">
              <a:ext uri="{FF2B5EF4-FFF2-40B4-BE49-F238E27FC236}">
                <a16:creationId xmlns:a16="http://schemas.microsoft.com/office/drawing/2014/main" id="{116599E1-A82C-4C4B-B806-65330E8E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94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新观察  oₜ₊₁</a:t>
            </a:r>
          </a:p>
        </p:txBody>
      </p:sp>
      <p:sp>
        <p:nvSpPr>
          <p:cNvPr id="28" name="trajectory-meaning">
            <a:extLst xmlns:a="http://schemas.openxmlformats.org/drawingml/2006/main">
              <a:ext uri="{FF2B5EF4-FFF2-40B4-BE49-F238E27FC236}">
                <a16:creationId xmlns:a16="http://schemas.microsoft.com/office/drawing/2014/main" id="{261E2A38-733B-4FA5-AC43-F0B6844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89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持续循环：真实结果既评价行为，也验证预测。</a:t>
            </a:r>
          </a:p>
        </p:txBody>
      </p:sp>
      <p:sp>
        <p:nvSpPr>
          <p:cNvPr id="29" name="sep-02">
            <a:extLst xmlns:a="http://schemas.openxmlformats.org/drawingml/2006/main">
              <a:ext uri="{FF2B5EF4-FFF2-40B4-BE49-F238E27FC236}">
                <a16:creationId xmlns:a16="http://schemas.microsoft.com/office/drawing/2014/main" id="{392A3F47-28C8-489C-AC37-F493412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779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num-03">
            <a:extLst xmlns:a="http://schemas.openxmlformats.org/drawingml/2006/main">
              <a:ext uri="{FF2B5EF4-FFF2-40B4-BE49-F238E27FC236}">
                <a16:creationId xmlns:a16="http://schemas.microsoft.com/office/drawing/2014/main" id="{F2DA84AE-CBC1-440E-AF40-1C0C50D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head-03">
            <a:extLst xmlns:a="http://schemas.openxmlformats.org/drawingml/2006/main">
              <a:ext uri="{FF2B5EF4-FFF2-40B4-BE49-F238E27FC236}">
                <a16:creationId xmlns:a16="http://schemas.microsoft.com/office/drawing/2014/main" id="{265A9593-69B9-4541-BF08-ECA144E6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轨迹如何转化为能力</a:t>
            </a:r>
          </a:p>
        </p:txBody>
      </p:sp>
      <p:sp>
        <p:nvSpPr>
          <p:cNvPr id="32" name="use-divider-1">
            <a:extLst xmlns:a="http://schemas.openxmlformats.org/drawingml/2006/main">
              <a:ext uri="{FF2B5EF4-FFF2-40B4-BE49-F238E27FC236}">
                <a16:creationId xmlns:a16="http://schemas.microsoft.com/office/drawing/2014/main" id="{D14F15CF-BB01-4D81-B276-41E8326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use-divider-2">
            <a:extLst xmlns:a="http://schemas.openxmlformats.org/drawingml/2006/main">
              <a:ext uri="{FF2B5EF4-FFF2-40B4-BE49-F238E27FC236}">
                <a16:creationId xmlns:a16="http://schemas.microsoft.com/office/drawing/2014/main" id="{0D934904-BF9D-4A5D-B3CB-2AB3444B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292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use-divider-3">
            <a:extLst xmlns:a="http://schemas.openxmlformats.org/drawingml/2006/main">
              <a:ext uri="{FF2B5EF4-FFF2-40B4-BE49-F238E27FC236}">
                <a16:creationId xmlns:a16="http://schemas.microsoft.com/office/drawing/2014/main" id="{07F1D472-B9AB-462C-8460-97DF45AE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292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use-head-1">
            <a:extLst xmlns:a="http://schemas.openxmlformats.org/drawingml/2006/main">
              <a:ext uri="{FF2B5EF4-FFF2-40B4-BE49-F238E27FC236}">
                <a16:creationId xmlns:a16="http://schemas.microsoft.com/office/drawing/2014/main" id="{349DAA1B-5436-4B1F-BE2A-3F52749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评价行为</a:t>
            </a:r>
          </a:p>
        </p:txBody>
      </p:sp>
      <p:sp>
        <p:nvSpPr>
          <p:cNvPr id="36" name="use-body-1">
            <a:extLst xmlns:a="http://schemas.openxmlformats.org/drawingml/2006/main">
              <a:ext uri="{FF2B5EF4-FFF2-40B4-BE49-F238E27FC236}">
                <a16:creationId xmlns:a16="http://schemas.microsoft.com/office/drawing/2014/main" id="{FE9DBF7F-F5CD-4215-B4BB-0319BD6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62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奖励→更新策略</a:t>
            </a:r>
          </a:p>
        </p:txBody>
      </p:sp>
      <p:sp>
        <p:nvSpPr>
          <p:cNvPr id="37" name="use-head-2">
            <a:extLst xmlns:a="http://schemas.openxmlformats.org/drawingml/2006/main">
              <a:ext uri="{FF2B5EF4-FFF2-40B4-BE49-F238E27FC236}">
                <a16:creationId xmlns:a16="http://schemas.microsoft.com/office/drawing/2014/main" id="{8EBE232A-B3E4-4545-8CE9-52CA317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验证预测</a:t>
            </a:r>
          </a:p>
        </p:txBody>
      </p:sp>
      <p:sp>
        <p:nvSpPr>
          <p:cNvPr id="38" name="use-body-2">
            <a:extLst xmlns:a="http://schemas.openxmlformats.org/drawingml/2006/main">
              <a:ext uri="{FF2B5EF4-FFF2-40B4-BE49-F238E27FC236}">
                <a16:creationId xmlns:a16="http://schemas.microsoft.com/office/drawing/2014/main" id="{6157F6B2-8D63-4C3E-A47A-034EC9D9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626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结果→修正模型</a:t>
            </a:r>
          </a:p>
        </p:txBody>
      </p:sp>
      <p:sp>
        <p:nvSpPr>
          <p:cNvPr id="39" name="use-head-3">
            <a:extLst xmlns:a="http://schemas.openxmlformats.org/drawingml/2006/main">
              <a:ext uri="{FF2B5EF4-FFF2-40B4-BE49-F238E27FC236}">
                <a16:creationId xmlns:a16="http://schemas.microsoft.com/office/drawing/2014/main" id="{210F3D4E-8A97-498E-A79E-AFEF18B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10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持续学习</a:t>
            </a:r>
          </a:p>
        </p:txBody>
      </p:sp>
      <p:sp>
        <p:nvSpPr>
          <p:cNvPr id="40" name="use-body-3">
            <a:extLst xmlns:a="http://schemas.openxmlformats.org/drawingml/2006/main">
              <a:ext uri="{FF2B5EF4-FFF2-40B4-BE49-F238E27FC236}">
                <a16:creationId xmlns:a16="http://schemas.microsoft.com/office/drawing/2014/main" id="{F0DD16BE-1C74-423B-B6C2-7D0FD0C3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626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交互→在线学习</a:t>
            </a:r>
          </a:p>
        </p:txBody>
      </p:sp>
      <p:sp>
        <p:nvSpPr>
          <p:cNvPr id="41" name="use-head-4">
            <a:extLst xmlns:a="http://schemas.openxmlformats.org/drawingml/2006/main">
              <a:ext uri="{FF2B5EF4-FFF2-40B4-BE49-F238E27FC236}">
                <a16:creationId xmlns:a16="http://schemas.microsoft.com/office/drawing/2014/main" id="{7AFC2B95-5BB6-4BCB-9E79-6E83B35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102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形成技能</a:t>
            </a:r>
          </a:p>
        </p:txBody>
      </p:sp>
      <p:sp>
        <p:nvSpPr>
          <p:cNvPr id="42" name="use-body-4">
            <a:extLst xmlns:a="http://schemas.openxmlformats.org/drawingml/2006/main">
              <a:ext uri="{FF2B5EF4-FFF2-40B4-BE49-F238E27FC236}">
                <a16:creationId xmlns:a16="http://schemas.microsoft.com/office/drawing/2014/main" id="{5E43E440-390B-41D4-9ED0-D4443642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62625"/>
            <a:ext cx="181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871"/>
                </a:solidFill>
                <a:latin typeface="Microsoft YaHei"/>
                <a:ea typeface="Microsoft YaHei"/>
                <a:cs typeface="Microsoft YaHei"/>
              </a:rPr>
              <a:t>行为→复用技能</a:t>
            </a:r>
          </a:p>
        </p:txBody>
      </p:sp>
      <p:sp>
        <p:nvSpPr>
          <p:cNvPr id="43" name="implication-rule">
            <a:extLst xmlns:a="http://schemas.openxmlformats.org/drawingml/2006/main">
              <a:ext uri="{FF2B5EF4-FFF2-40B4-BE49-F238E27FC236}">
                <a16:creationId xmlns:a16="http://schemas.microsoft.com/office/drawing/2014/main" id="{8BE8DF2E-92C3-42DF-A846-CD8718A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implication-text">
            <a:extLst xmlns:a="http://schemas.openxmlformats.org/drawingml/2006/main">
              <a:ext uri="{FF2B5EF4-FFF2-40B4-BE49-F238E27FC236}">
                <a16:creationId xmlns:a16="http://schemas.microsoft.com/office/drawing/2014/main" id="{9A1E3EF0-34E1-44B9-B46E-40A1615B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781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272C"/>
                </a:solidFill>
                <a:latin typeface="Microsoft YaHei"/>
                <a:ea typeface="Microsoft YaHei"/>
                <a:cs typeface="Microsoft YaHei"/>
              </a:rPr>
              <a:t>关键区别：轨迹是在线经验流，不是另一套静态训练集。</a:t>
            </a:r>
          </a:p>
        </p:txBody>
      </p:sp>
      <p:sp>
        <p:nvSpPr>
          <p:cNvPr id="4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9F8F3E1-57FB-449D-9410-A0363AF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6579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9A9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9A9FA7"/>
                </a:solidFill>
                <a:latin typeface="Microsoft YaHei"/>
                <a:ea typeface="Microsoft YaHei"/>
                <a:cs typeface="Microsoft YaHei"/>
              </a:rPr>
              <a:t>来源：WAIC 2026｜Sutton et al., 2022｜Amii</a:t>
            </a:r>
          </a:p>
        </p:txBody>
      </p:sp>
    </p:spTree>
    <p:extLst>
      <p:ext uri="{BB962C8B-B14F-4D97-AF65-F5344CB8AC3E}">
        <p14:creationId xmlns:p14="http://schemas.microsoft.com/office/powerpoint/2010/main" val="81016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2026-07-21T13:02:46.4060000Z</dcterms:created>
  <dcterms:modified xsi:type="dcterms:W3CDTF">2026-07-21T13:02:46.4060000Z</dcterms:modified>
</coreProperties>
</file>