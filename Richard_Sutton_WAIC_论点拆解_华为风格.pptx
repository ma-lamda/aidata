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ee448940fb4b7a" /><Relationship Type="http://schemas.openxmlformats.org/officeDocument/2006/relationships/extended-properties" Target="/docProps/app.xml" Id="R350ab53be28b42fb" /><Relationship Type="http://schemas.openxmlformats.org/officeDocument/2006/relationships/officeDocument" Target="/ppt/presentation.xml" Id="R909f08254f7b4b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c405eeec0243b4"/>
  </p:sldMasterIdLst>
  <p:notesMasterIdLst>
    <p:notesMasterId xmlns:r="http://schemas.openxmlformats.org/officeDocument/2006/relationships" r:id="R9ae0260eafd04787"/>
  </p:notesMasterIdLst>
  <p:sldIdLst>
    <p:sldId xmlns:r="http://schemas.openxmlformats.org/officeDocument/2006/relationships" id="256" r:id="R3da8627a01e14dea"/>
    <p:sldId xmlns:r="http://schemas.openxmlformats.org/officeDocument/2006/relationships" id="257" r:id="Ra85490f1644f4a14"/>
    <p:sldId xmlns:r="http://schemas.openxmlformats.org/officeDocument/2006/relationships" id="258" r:id="Rf2d42274f8de4aaf"/>
    <p:sldId xmlns:r="http://schemas.openxmlformats.org/officeDocument/2006/relationships" id="259" r:id="Raaebae06b4da4218"/>
    <p:sldId xmlns:r="http://schemas.openxmlformats.org/officeDocument/2006/relationships" id="260" r:id="R217cf45b03ff4f41"/>
    <p:sldId xmlns:r="http://schemas.openxmlformats.org/officeDocument/2006/relationships" id="261" r:id="R583645919c57423d"/>
    <p:sldId xmlns:r="http://schemas.openxmlformats.org/officeDocument/2006/relationships" id="262" r:id="R02df0dc630304a7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ea60603f1514323" /><Relationship Type="http://schemas.openxmlformats.org/officeDocument/2006/relationships/slideMaster" Target="/ppt/slideMasters/slideMaster1.xml" Id="Rebc405eeec0243b4" /><Relationship Type="http://schemas.openxmlformats.org/officeDocument/2006/relationships/notesMaster" Target="/ppt/notesMasters/notesMaster1.xml" Id="R9ae0260eafd04787" /><Relationship Type="http://schemas.openxmlformats.org/officeDocument/2006/relationships/presProps" Target="/ppt/presProps.xml" Id="R29a78acf1e604fd9" /><Relationship Type="http://schemas.openxmlformats.org/officeDocument/2006/relationships/tableStyles" Target="/ppt/tableStyles.xml" Id="Red60be262fb04e26" /><Relationship Type="http://schemas.openxmlformats.org/officeDocument/2006/relationships/slide" Target="/ppt/slides/slide1.xml" Id="R3da8627a01e14dea" /><Relationship Type="http://schemas.openxmlformats.org/officeDocument/2006/relationships/slide" Target="/ppt/slides/slide2.xml" Id="Ra85490f1644f4a14" /><Relationship Type="http://schemas.openxmlformats.org/officeDocument/2006/relationships/slide" Target="/ppt/slides/slide3.xml" Id="Rf2d42274f8de4aaf" /><Relationship Type="http://schemas.openxmlformats.org/officeDocument/2006/relationships/slide" Target="/ppt/slides/slide4.xml" Id="Raaebae06b4da4218" /><Relationship Type="http://schemas.openxmlformats.org/officeDocument/2006/relationships/slide" Target="/ppt/slides/slide5.xml" Id="R217cf45b03ff4f41" /><Relationship Type="http://schemas.openxmlformats.org/officeDocument/2006/relationships/slide" Target="/ppt/slides/slide6.xml" Id="R583645919c57423d" /><Relationship Type="http://schemas.openxmlformats.org/officeDocument/2006/relationships/slide" Target="/ppt/slides/slide7.xml" Id="R02df0dc630304a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5b569d4c7f40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7943a83de254d5a" /><Relationship Type="http://schemas.openxmlformats.org/officeDocument/2006/relationships/notesMaster" Target="/ppt/notesMasters/notesMaster1.xml" Id="Rdf2e33851a80436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ecc7b9ca27e40a5" /><Relationship Type="http://schemas.openxmlformats.org/officeDocument/2006/relationships/notesMaster" Target="/ppt/notesMasters/notesMaster1.xml" Id="Rb125628cedda45e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81a3a166aa34abf" /><Relationship Type="http://schemas.openxmlformats.org/officeDocument/2006/relationships/notesMaster" Target="/ppt/notesMasters/notesMaster1.xml" Id="R8bdbc25b45c7412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b67a098f4894156" /><Relationship Type="http://schemas.openxmlformats.org/officeDocument/2006/relationships/notesMaster" Target="/ppt/notesMasters/notesMaster1.xml" Id="R5e17c3185fcc4f0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8c3bd2e21c4a07" /><Relationship Type="http://schemas.openxmlformats.org/officeDocument/2006/relationships/notesMaster" Target="/ppt/notesMasters/notesMaster1.xml" Id="R944ffc29626d42d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c3b01cfb2c445ff" /><Relationship Type="http://schemas.openxmlformats.org/officeDocument/2006/relationships/notesMaster" Target="/ppt/notesMasters/notesMaster1.xml" Id="R2008cffb98f8443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41389af01764bda" /><Relationship Type="http://schemas.openxmlformats.org/officeDocument/2006/relationships/notesMaster" Target="/ppt/notesMasters/notesMaster1.xml" Id="Rc4c7ab050e5c40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bea69509c84b8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9693572de2454b" /><Relationship Type="http://schemas.openxmlformats.org/officeDocument/2006/relationships/slideLayout" Target="/ppt/slideLayouts/slideLayout1.xml" Id="R1f8b83bc3f2047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8b83bc3f2047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2cdb56e89f4365" /><Relationship Type="http://schemas.openxmlformats.org/officeDocument/2006/relationships/notesSlide" Target="/ppt/notesSlides/notesSlide1.xml" Id="R1798e24fb16e4a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5909312170457d" /><Relationship Type="http://schemas.openxmlformats.org/officeDocument/2006/relationships/notesSlide" Target="/ppt/notesSlides/notesSlide2.xml" Id="Rd4210edaf56b4f2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a85d7e8a1b4465" /><Relationship Type="http://schemas.openxmlformats.org/officeDocument/2006/relationships/notesSlide" Target="/ppt/notesSlides/notesSlide3.xml" Id="Raa4fc884c6a34ed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357441abe64fad" /><Relationship Type="http://schemas.openxmlformats.org/officeDocument/2006/relationships/notesSlide" Target="/ppt/notesSlides/notesSlide4.xml" Id="R70c0162bc1534a0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48bb0d977a42af" /><Relationship Type="http://schemas.openxmlformats.org/officeDocument/2006/relationships/notesSlide" Target="/ppt/notesSlides/notesSlide5.xml" Id="R58749e85ac594ea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1f069b43364499" /><Relationship Type="http://schemas.openxmlformats.org/officeDocument/2006/relationships/notesSlide" Target="/ppt/notesSlides/notesSlide6.xml" Id="R55e32732bbdd4e7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b616d59baa4edd" /><Relationship Type="http://schemas.openxmlformats.org/officeDocument/2006/relationships/notesSlide" Target="/ppt/notesSlides/notesSlide7.xml" Id="Rb2be29325f7a49d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op-red-1">
            <a:extLst xmlns:a="http://schemas.openxmlformats.org/drawingml/2006/main">
              <a:ext uri="{FF2B5EF4-FFF2-40B4-BE49-F238E27FC236}">
                <a16:creationId xmlns:a16="http://schemas.microsoft.com/office/drawing/2014/main" id="{773BE6B1-70EE-4D1D-A684-174B91B61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black-1">
            <a:extLst xmlns:a="http://schemas.openxmlformats.org/drawingml/2006/main">
              <a:ext uri="{FF2B5EF4-FFF2-40B4-BE49-F238E27FC236}">
                <a16:creationId xmlns:a16="http://schemas.microsoft.com/office/drawing/2014/main" id="{C1CEECAE-8491-4F3A-A738-59A45BCAD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3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kicker-1">
            <a:extLst xmlns:a="http://schemas.openxmlformats.org/drawingml/2006/main">
              <a:ext uri="{FF2B5EF4-FFF2-40B4-BE49-F238E27FC236}">
                <a16:creationId xmlns:a16="http://schemas.microsoft.com/office/drawing/2014/main" id="{A7B64041-DE03-4914-AABC-1FF7FEC9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B"/>
                </a:solidFill>
              </a:defRPr>
            </a:pPr>
            <a:r>
              <a:rPr sz="1200" b="1">
                <a:solidFill>
                  <a:srgbClr val="C7000B"/>
                </a:solidFill>
              </a:rPr>
              <a:t>SUTTON @ WAIC 2026</a:t>
            </a:r>
          </a:p>
        </p:txBody>
      </p:sp>
      <p:sp>
        <p:nvSpPr>
          <p:cNvPr id="4" name="section-1">
            <a:extLst xmlns:a="http://schemas.openxmlformats.org/drawingml/2006/main">
              <a:ext uri="{FF2B5EF4-FFF2-40B4-BE49-F238E27FC236}">
                <a16:creationId xmlns:a16="http://schemas.microsoft.com/office/drawing/2014/main" id="{4BB9434B-94AC-435C-A91E-4411B1F2D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385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616B"/>
                </a:solidFill>
              </a:defRPr>
            </a:pPr>
            <a:r>
              <a:rPr sz="1200" b="1">
                <a:solidFill>
                  <a:srgbClr val="5B616B"/>
                </a:solidFill>
              </a:rPr>
              <a:t>核心判断</a:t>
            </a:r>
          </a:p>
        </p:txBody>
      </p:sp>
      <p:sp>
        <p:nvSpPr>
          <p:cNvPr id="5" name="title-1">
            <a:extLst xmlns:a="http://schemas.openxmlformats.org/drawingml/2006/main">
              <a:ext uri="{FF2B5EF4-FFF2-40B4-BE49-F238E27FC236}">
                <a16:creationId xmlns:a16="http://schemas.microsoft.com/office/drawing/2014/main" id="{3E74B48E-7496-46B5-853F-D1C5CED18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6200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2329"/>
                </a:solidFill>
              </a:defRPr>
            </a:pPr>
            <a:r>
              <a:rPr sz="3000" b="1">
                <a:solidFill>
                  <a:srgbClr val="1F2329"/>
                </a:solidFill>
              </a:rPr>
              <a:t>当前 AI 很强，但“会算”不等于“会思考”</a:t>
            </a:r>
          </a:p>
        </p:txBody>
      </p:sp>
      <p:sp>
        <p:nvSpPr>
          <p:cNvPr id="6" name="page-1">
            <a:extLst xmlns:a="http://schemas.openxmlformats.org/drawingml/2006/main">
              <a:ext uri="{FF2B5EF4-FFF2-40B4-BE49-F238E27FC236}">
                <a16:creationId xmlns:a16="http://schemas.microsoft.com/office/drawing/2014/main" id="{BDC12F5A-60E5-4E4A-A631-7BF78D53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76275"/>
            <a:ext cx="647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150" b="1">
                <a:solidFill>
                  <a:srgbClr val="C7000B"/>
                </a:solidFill>
              </a:defRPr>
            </a:pPr>
            <a:r>
              <a:rPr sz="3150" b="1">
                <a:solidFill>
                  <a:srgbClr val="C7000B"/>
                </a:solidFill>
              </a:rPr>
              <a:t>01</a:t>
            </a:r>
          </a:p>
        </p:txBody>
      </p:sp>
      <p:sp>
        <p:nvSpPr>
          <p:cNvPr id="7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3E4CCB28-1D48-4EBB-8F99-8F13BF55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ource-1">
            <a:extLst xmlns:a="http://schemas.openxmlformats.org/drawingml/2006/main">
              <a:ext uri="{FF2B5EF4-FFF2-40B4-BE49-F238E27FC236}">
                <a16:creationId xmlns:a16="http://schemas.microsoft.com/office/drawing/2014/main" id="{0F33F41A-6F41-430E-86AE-54486FD5D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16B"/>
                </a:solidFill>
              </a:defRPr>
            </a:pPr>
            <a:r>
              <a:rPr sz="900" b="0">
                <a:solidFill>
                  <a:srgbClr val="5B616B"/>
                </a:solidFill>
              </a:rPr>
              <a:t>来源：WAIC 2026 主论坛演讲实录（Richard Sutton，2026-07-17）</a:t>
            </a:r>
          </a:p>
        </p:txBody>
      </p:sp>
      <p:sp>
        <p:nvSpPr>
          <p:cNvPr id="9" name="count-1">
            <a:extLst xmlns:a="http://schemas.openxmlformats.org/drawingml/2006/main">
              <a:ext uri="{FF2B5EF4-FFF2-40B4-BE49-F238E27FC236}">
                <a16:creationId xmlns:a16="http://schemas.microsoft.com/office/drawing/2014/main" id="{6C5C3476-3E7C-4BE2-A47F-EECE6FF6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86525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16B"/>
                </a:solidFill>
              </a:defRPr>
            </a:pPr>
            <a:r>
              <a:rPr sz="900" b="1">
                <a:solidFill>
                  <a:srgbClr val="5B616B"/>
                </a:solidFill>
              </a:rPr>
              <a:t>1 / 7</a:t>
            </a:r>
          </a:p>
        </p:txBody>
      </p:sp>
      <p:sp>
        <p:nvSpPr>
          <p:cNvPr id="10" name="s1-compute">
            <a:extLst xmlns:a="http://schemas.openxmlformats.org/drawingml/2006/main">
              <a:ext uri="{FF2B5EF4-FFF2-40B4-BE49-F238E27FC236}">
                <a16:creationId xmlns:a16="http://schemas.microsoft.com/office/drawing/2014/main" id="{DBA96EF3-5EAA-461A-819C-B862943F0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323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F2329"/>
                </a:solidFill>
              </a:defRPr>
            </a:pPr>
            <a:r>
              <a:rPr sz="3300" b="1">
                <a:solidFill>
                  <a:srgbClr val="1F2329"/>
                </a:solidFill>
              </a:rPr>
              <a:t>计算力</a:t>
            </a:r>
          </a:p>
        </p:txBody>
      </p:sp>
      <p:sp>
        <p:nvSpPr>
          <p:cNvPr id="11" name="s1-neq">
            <a:extLst xmlns:a="http://schemas.openxmlformats.org/drawingml/2006/main">
              <a:ext uri="{FF2B5EF4-FFF2-40B4-BE49-F238E27FC236}">
                <a16:creationId xmlns:a16="http://schemas.microsoft.com/office/drawing/2014/main" id="{288FE0F0-E6D0-4DFE-BEBC-567F1BCB0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581150"/>
            <a:ext cx="1047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C7000B"/>
                </a:solidFill>
              </a:defRPr>
            </a:pPr>
            <a:r>
              <a:rPr sz="4800" b="1">
                <a:solidFill>
                  <a:srgbClr val="C7000B"/>
                </a:solidFill>
              </a:rPr>
              <a:t>≠</a:t>
            </a:r>
          </a:p>
        </p:txBody>
      </p:sp>
      <p:sp>
        <p:nvSpPr>
          <p:cNvPr id="12" name="s1-intelligence">
            <a:extLst xmlns:a="http://schemas.openxmlformats.org/drawingml/2006/main">
              <a:ext uri="{FF2B5EF4-FFF2-40B4-BE49-F238E27FC236}">
                <a16:creationId xmlns:a16="http://schemas.microsoft.com/office/drawing/2014/main" id="{2EE769D8-9EE3-4CD5-A586-48CB2360B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695450"/>
            <a:ext cx="323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F2329"/>
                </a:solidFill>
              </a:defRPr>
            </a:pPr>
            <a:r>
              <a:rPr sz="3300" b="1">
                <a:solidFill>
                  <a:srgbClr val="1F2329"/>
                </a:solidFill>
              </a:rPr>
              <a:t>智能</a:t>
            </a:r>
          </a:p>
        </p:txBody>
      </p:sp>
      <p:sp>
        <p:nvSpPr>
          <p:cNvPr id="13" name="s1-red-rule">
            <a:extLst xmlns:a="http://schemas.openxmlformats.org/drawingml/2006/main">
              <a:ext uri="{FF2B5EF4-FFF2-40B4-BE49-F238E27FC236}">
                <a16:creationId xmlns:a16="http://schemas.microsoft.com/office/drawing/2014/main" id="{C47B58E8-D2C3-402C-B4D8-E695900F6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71725"/>
            <a:ext cx="7677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1-pill-left-shape">
            <a:extLst xmlns:a="http://schemas.openxmlformats.org/drawingml/2006/main">
              <a:ext uri="{FF2B5EF4-FFF2-40B4-BE49-F238E27FC236}">
                <a16:creationId xmlns:a16="http://schemas.microsoft.com/office/drawing/2014/main" id="{0D3CF4C5-8C11-4BBC-9A77-6EDB6CCF5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33675"/>
            <a:ext cx="16573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F23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1-pill-left-text">
            <a:extLst xmlns:a="http://schemas.openxmlformats.org/drawingml/2006/main">
              <a:ext uri="{FF2B5EF4-FFF2-40B4-BE49-F238E27FC236}">
                <a16:creationId xmlns:a16="http://schemas.microsoft.com/office/drawing/2014/main" id="{FAF0ED82-F938-490A-80A6-FE0E7366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当前大模型擅长</a:t>
            </a:r>
          </a:p>
        </p:txBody>
      </p:sp>
      <p:sp>
        <p:nvSpPr>
          <p:cNvPr id="16" name="s1-capabilities">
            <a:extLst xmlns:a="http://schemas.openxmlformats.org/drawingml/2006/main">
              <a:ext uri="{FF2B5EF4-FFF2-40B4-BE49-F238E27FC236}">
                <a16:creationId xmlns:a16="http://schemas.microsoft.com/office/drawing/2014/main" id="{B8A1085A-ED04-48DA-9425-C2856DE7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9925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2329"/>
                </a:solidFill>
              </a:defRPr>
            </a:pPr>
            <a:r>
              <a:rPr sz="1875" b="1">
                <a:solidFill>
                  <a:srgbClr val="1F2329"/>
                </a:solidFill>
              </a:rPr>
              <a:t>海量计算  ·  模式识别  ·  流畅生成</a:t>
            </a:r>
          </a:p>
        </p:txBody>
      </p:sp>
      <p:sp>
        <p:nvSpPr>
          <p:cNvPr id="17" name="s1-cap-desc">
            <a:extLst xmlns:a="http://schemas.openxmlformats.org/drawingml/2006/main">
              <a:ext uri="{FF2B5EF4-FFF2-40B4-BE49-F238E27FC236}">
                <a16:creationId xmlns:a16="http://schemas.microsoft.com/office/drawing/2014/main" id="{544B7CC3-CB47-4B2C-8F82-A6A1C6473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16B"/>
                </a:solidFill>
              </a:defRPr>
            </a:pPr>
            <a:r>
              <a:rPr sz="1350" b="0">
                <a:solidFill>
                  <a:srgbClr val="5B616B"/>
                </a:solidFill>
              </a:rPr>
              <a:t>把人类已有知识压缩、重组并交付</a:t>
            </a:r>
          </a:p>
        </p:txBody>
      </p:sp>
      <p:sp>
        <p:nvSpPr>
          <p:cNvPr id="18" name="s1-pill-right-shape">
            <a:extLst xmlns:a="http://schemas.openxmlformats.org/drawingml/2006/main">
              <a:ext uri="{FF2B5EF4-FFF2-40B4-BE49-F238E27FC236}">
                <a16:creationId xmlns:a16="http://schemas.microsoft.com/office/drawing/2014/main" id="{F1B3F7A7-8E6E-40A1-9B62-FF2723983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16573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1-pill-right-text">
            <a:extLst xmlns:a="http://schemas.openxmlformats.org/drawingml/2006/main">
              <a:ext uri="{FF2B5EF4-FFF2-40B4-BE49-F238E27FC236}">
                <a16:creationId xmlns:a16="http://schemas.microsoft.com/office/drawing/2014/main" id="{F7A30B9B-CEF8-46F5-9249-96A781A11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86275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真正智能还需要</a:t>
            </a:r>
          </a:p>
        </p:txBody>
      </p:sp>
      <p:sp>
        <p:nvSpPr>
          <p:cNvPr id="20" name="s1-needs">
            <a:extLst xmlns:a="http://schemas.openxmlformats.org/drawingml/2006/main">
              <a:ext uri="{FF2B5EF4-FFF2-40B4-BE49-F238E27FC236}">
                <a16:creationId xmlns:a16="http://schemas.microsoft.com/office/drawing/2014/main" id="{E288C6DF-54F6-435C-8053-2388F4C7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2329"/>
                </a:solidFill>
              </a:defRPr>
            </a:pPr>
            <a:r>
              <a:rPr sz="1875" b="1">
                <a:solidFill>
                  <a:srgbClr val="1F2329"/>
                </a:solidFill>
              </a:rPr>
              <a:t>目标  ·  适应  ·  验证  ·  发现</a:t>
            </a:r>
          </a:p>
        </p:txBody>
      </p:sp>
      <p:sp>
        <p:nvSpPr>
          <p:cNvPr id="21" name="s1-needs-desc">
            <a:extLst xmlns:a="http://schemas.openxmlformats.org/drawingml/2006/main">
              <a:ext uri="{FF2B5EF4-FFF2-40B4-BE49-F238E27FC236}">
                <a16:creationId xmlns:a16="http://schemas.microsoft.com/office/drawing/2014/main" id="{E69419B1-27C6-41AE-834A-A572B1A9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0067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16B"/>
                </a:solidFill>
              </a:defRPr>
            </a:pPr>
            <a:r>
              <a:rPr sz="1350" b="0">
                <a:solidFill>
                  <a:srgbClr val="5B616B"/>
                </a:solidFill>
              </a:rPr>
              <a:t>根据行动结果持续修正，并产生新知识</a:t>
            </a:r>
          </a:p>
        </p:txBody>
      </p:sp>
      <p:sp>
        <p:nvSpPr>
          <p:cNvPr id="22" name="s1-quote-panel">
            <a:extLst xmlns:a="http://schemas.openxmlformats.org/drawingml/2006/main">
              <a:ext uri="{FF2B5EF4-FFF2-40B4-BE49-F238E27FC236}">
                <a16:creationId xmlns:a16="http://schemas.microsoft.com/office/drawing/2014/main" id="{9C8DDBFB-786A-4688-8770-A738CDF2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724150"/>
            <a:ext cx="4733925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CEDEE"/>
            </a:solidFill>
            <a:prstDash val="solid"/>
          </a:ln>
        </p:spPr>
      </p:sp>
      <p:sp>
        <p:nvSpPr>
          <p:cNvPr id="23" name="s1-quote-mark">
            <a:extLst xmlns:a="http://schemas.openxmlformats.org/drawingml/2006/main">
              <a:ext uri="{FF2B5EF4-FFF2-40B4-BE49-F238E27FC236}">
                <a16:creationId xmlns:a16="http://schemas.microsoft.com/office/drawing/2014/main" id="{4B85B523-0F11-4DAE-B5E2-75D5B9BA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62250"/>
            <a:ext cx="857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450" b="1">
                <a:solidFill>
                  <a:srgbClr val="C7000B"/>
                </a:solidFill>
              </a:defRPr>
            </a:pPr>
            <a:r>
              <a:rPr sz="6450" b="1">
                <a:solidFill>
                  <a:srgbClr val="C7000B"/>
                </a:solidFill>
              </a:rPr>
              <a:t>“</a:t>
            </a:r>
          </a:p>
        </p:txBody>
      </p:sp>
      <p:sp>
        <p:nvSpPr>
          <p:cNvPr id="24" name="s1-quote-a">
            <a:extLst xmlns:a="http://schemas.openxmlformats.org/drawingml/2006/main">
              <a:ext uri="{FF2B5EF4-FFF2-40B4-BE49-F238E27FC236}">
                <a16:creationId xmlns:a16="http://schemas.microsoft.com/office/drawing/2014/main" id="{BB0DD7A9-581A-47F9-B175-4A505B79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400425"/>
            <a:ext cx="3257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F2329"/>
                </a:solidFill>
              </a:defRPr>
            </a:pPr>
            <a:r>
              <a:rPr sz="2550" b="1">
                <a:solidFill>
                  <a:srgbClr val="1F2329"/>
                </a:solidFill>
              </a:rPr>
              <a:t>博士级知识</a:t>
            </a:r>
          </a:p>
        </p:txBody>
      </p:sp>
      <p:sp>
        <p:nvSpPr>
          <p:cNvPr id="25" name="s1-quote-b">
            <a:extLst xmlns:a="http://schemas.openxmlformats.org/drawingml/2006/main">
              <a:ext uri="{FF2B5EF4-FFF2-40B4-BE49-F238E27FC236}">
                <a16:creationId xmlns:a16="http://schemas.microsoft.com/office/drawing/2014/main" id="{CC3D5FA6-3E93-4BAA-97CF-E7F33DFE4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962400"/>
            <a:ext cx="3257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B616B"/>
                </a:solidFill>
              </a:defRPr>
            </a:pPr>
            <a:r>
              <a:rPr sz="1425" b="0">
                <a:solidFill>
                  <a:srgbClr val="5B616B"/>
                </a:solidFill>
              </a:rPr>
              <a:t>并不等于</a:t>
            </a:r>
          </a:p>
        </p:txBody>
      </p:sp>
      <p:sp>
        <p:nvSpPr>
          <p:cNvPr id="26" name="s1-quote-c">
            <a:extLst xmlns:a="http://schemas.openxmlformats.org/drawingml/2006/main">
              <a:ext uri="{FF2B5EF4-FFF2-40B4-BE49-F238E27FC236}">
                <a16:creationId xmlns:a16="http://schemas.microsoft.com/office/drawing/2014/main" id="{3D39B003-A939-4C68-AFD6-0519261C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29125"/>
            <a:ext cx="3733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7000B"/>
                </a:solidFill>
              </a:defRPr>
            </a:pPr>
            <a:r>
              <a:rPr sz="2550" b="1">
                <a:solidFill>
                  <a:srgbClr val="C7000B"/>
                </a:solidFill>
              </a:rPr>
              <a:t>博士级研究能力</a:t>
            </a:r>
          </a:p>
        </p:txBody>
      </p:sp>
      <p:sp>
        <p:nvSpPr>
          <p:cNvPr id="27" name="s1-quote-d">
            <a:extLst xmlns:a="http://schemas.openxmlformats.org/drawingml/2006/main">
              <a:ext uri="{FF2B5EF4-FFF2-40B4-BE49-F238E27FC236}">
                <a16:creationId xmlns:a16="http://schemas.microsoft.com/office/drawing/2014/main" id="{60D20E13-D88E-4839-B2B0-3E9C8764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067300"/>
            <a:ext cx="3257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B616B"/>
                </a:solidFill>
              </a:defRPr>
            </a:pPr>
            <a:r>
              <a:rPr sz="1200" b="1">
                <a:solidFill>
                  <a:srgbClr val="5B616B"/>
                </a:solidFill>
              </a:rPr>
              <a:t>知识的堆积 ≠ 智慧的形成</a:t>
            </a:r>
          </a:p>
        </p:txBody>
      </p:sp>
    </p:spTree>
    <p:extLst>
      <p:ext uri="{BB962C8B-B14F-4D97-AF65-F5344CB8AC3E}">
        <p14:creationId xmlns:p14="http://schemas.microsoft.com/office/powerpoint/2010/main" val="18112995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op-red-2">
            <a:extLst xmlns:a="http://schemas.openxmlformats.org/drawingml/2006/main">
              <a:ext uri="{FF2B5EF4-FFF2-40B4-BE49-F238E27FC236}">
                <a16:creationId xmlns:a16="http://schemas.microsoft.com/office/drawing/2014/main" id="{BB0D4C4A-7AEA-41A0-8CE7-622AAE580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black-2">
            <a:extLst xmlns:a="http://schemas.openxmlformats.org/drawingml/2006/main">
              <a:ext uri="{FF2B5EF4-FFF2-40B4-BE49-F238E27FC236}">
                <a16:creationId xmlns:a16="http://schemas.microsoft.com/office/drawing/2014/main" id="{662D8E42-2635-4021-8E27-B93598D4F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3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kicker-2">
            <a:extLst xmlns:a="http://schemas.openxmlformats.org/drawingml/2006/main">
              <a:ext uri="{FF2B5EF4-FFF2-40B4-BE49-F238E27FC236}">
                <a16:creationId xmlns:a16="http://schemas.microsoft.com/office/drawing/2014/main" id="{3803736B-34C2-4933-96C4-13FC3E6B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B"/>
                </a:solidFill>
              </a:defRPr>
            </a:pPr>
            <a:r>
              <a:rPr sz="1200" b="1">
                <a:solidFill>
                  <a:srgbClr val="C7000B"/>
                </a:solidFill>
              </a:rPr>
              <a:t>SUTTON @ WAIC 2026</a:t>
            </a:r>
          </a:p>
        </p:txBody>
      </p:sp>
      <p:sp>
        <p:nvSpPr>
          <p:cNvPr id="4" name="section-2">
            <a:extLst xmlns:a="http://schemas.openxmlformats.org/drawingml/2006/main">
              <a:ext uri="{FF2B5EF4-FFF2-40B4-BE49-F238E27FC236}">
                <a16:creationId xmlns:a16="http://schemas.microsoft.com/office/drawing/2014/main" id="{665A20BE-6674-41F1-BED4-D676063B8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385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616B"/>
                </a:solidFill>
              </a:defRPr>
            </a:pPr>
            <a:r>
              <a:rPr sz="1200" b="1">
                <a:solidFill>
                  <a:srgbClr val="5B616B"/>
                </a:solidFill>
              </a:rPr>
              <a:t>范式瓶颈</a:t>
            </a:r>
          </a:p>
        </p:txBody>
      </p:sp>
      <p:sp>
        <p:nvSpPr>
          <p:cNvPr id="5" name="title-2">
            <a:extLst xmlns:a="http://schemas.openxmlformats.org/drawingml/2006/main">
              <a:ext uri="{FF2B5EF4-FFF2-40B4-BE49-F238E27FC236}">
                <a16:creationId xmlns:a16="http://schemas.microsoft.com/office/drawing/2014/main" id="{A83848FD-F602-4CCF-BB55-F6C26A4A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6200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2329"/>
                </a:solidFill>
              </a:defRPr>
            </a:pPr>
            <a:r>
              <a:rPr sz="3000" b="1">
                <a:solidFill>
                  <a:srgbClr val="1F2329"/>
                </a:solidFill>
              </a:rPr>
              <a:t>人类数据范式正在触及三重上限</a:t>
            </a:r>
          </a:p>
        </p:txBody>
      </p:sp>
      <p:sp>
        <p:nvSpPr>
          <p:cNvPr id="6" name="page-2">
            <a:extLst xmlns:a="http://schemas.openxmlformats.org/drawingml/2006/main">
              <a:ext uri="{FF2B5EF4-FFF2-40B4-BE49-F238E27FC236}">
                <a16:creationId xmlns:a16="http://schemas.microsoft.com/office/drawing/2014/main" id="{404E6021-D173-4E2F-9A86-2C63DEF6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76275"/>
            <a:ext cx="647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150" b="1">
                <a:solidFill>
                  <a:srgbClr val="C7000B"/>
                </a:solidFill>
              </a:defRPr>
            </a:pPr>
            <a:r>
              <a:rPr sz="3150" b="1">
                <a:solidFill>
                  <a:srgbClr val="C7000B"/>
                </a:solidFill>
              </a:rPr>
              <a:t>02</a:t>
            </a:r>
          </a:p>
        </p:txBody>
      </p:sp>
      <p:sp>
        <p:nvSpPr>
          <p:cNvPr id="7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7630133F-E508-4462-9A3C-E0B64864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ource-2">
            <a:extLst xmlns:a="http://schemas.openxmlformats.org/drawingml/2006/main">
              <a:ext uri="{FF2B5EF4-FFF2-40B4-BE49-F238E27FC236}">
                <a16:creationId xmlns:a16="http://schemas.microsoft.com/office/drawing/2014/main" id="{710C08F2-1966-4BA0-89F3-7031C656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16B"/>
                </a:solidFill>
              </a:defRPr>
            </a:pPr>
            <a:r>
              <a:rPr sz="900" b="0">
                <a:solidFill>
                  <a:srgbClr val="5B616B"/>
                </a:solidFill>
              </a:rPr>
              <a:t>来源：WAIC 2026 主论坛演讲实录；澎湃新闻 WAIC 专访（2026-07-20）</a:t>
            </a:r>
          </a:p>
        </p:txBody>
      </p:sp>
      <p:sp>
        <p:nvSpPr>
          <p:cNvPr id="9" name="count-2">
            <a:extLst xmlns:a="http://schemas.openxmlformats.org/drawingml/2006/main">
              <a:ext uri="{FF2B5EF4-FFF2-40B4-BE49-F238E27FC236}">
                <a16:creationId xmlns:a16="http://schemas.microsoft.com/office/drawing/2014/main" id="{C0DA0540-C821-4B0E-84EC-86AF638A8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86525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16B"/>
                </a:solidFill>
              </a:defRPr>
            </a:pPr>
            <a:r>
              <a:rPr sz="900" b="1">
                <a:solidFill>
                  <a:srgbClr val="5B616B"/>
                </a:solidFill>
              </a:rPr>
              <a:t>2 / 7</a:t>
            </a:r>
          </a:p>
        </p:txBody>
      </p:sp>
      <p:sp>
        <p:nvSpPr>
          <p:cNvPr id="10" name="s2-subtitle">
            <a:extLst xmlns:a="http://schemas.openxmlformats.org/drawingml/2006/main">
              <a:ext uri="{FF2B5EF4-FFF2-40B4-BE49-F238E27FC236}">
                <a16:creationId xmlns:a16="http://schemas.microsoft.com/office/drawing/2014/main" id="{E3915053-E520-4F67-91E4-90F0EC141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16B"/>
                </a:solidFill>
              </a:defRPr>
            </a:pPr>
            <a:r>
              <a:rPr sz="1500" b="0">
                <a:solidFill>
                  <a:srgbClr val="5B616B"/>
                </a:solidFill>
              </a:rPr>
              <a:t>继续堆参数与语料，仍能改善产品，但未必自然产生自主智能。</a:t>
            </a:r>
          </a:p>
        </p:txBody>
      </p:sp>
      <p:sp>
        <p:nvSpPr>
          <p:cNvPr id="11" name="s2-num-0">
            <a:extLst xmlns:a="http://schemas.openxmlformats.org/drawingml/2006/main">
              <a:ext uri="{FF2B5EF4-FFF2-40B4-BE49-F238E27FC236}">
                <a16:creationId xmlns:a16="http://schemas.microsoft.com/office/drawing/2014/main" id="{4363DC48-4A3C-427C-8E34-4B750870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87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C7000B"/>
                </a:solidFill>
              </a:defRPr>
            </a:pPr>
            <a:r>
              <a:rPr sz="3450" b="1">
                <a:solidFill>
                  <a:srgbClr val="C7000B"/>
                </a:solidFill>
              </a:rPr>
              <a:t>01</a:t>
            </a:r>
          </a:p>
        </p:txBody>
      </p:sp>
      <p:sp>
        <p:nvSpPr>
          <p:cNvPr id="12" name="s2-rule-0">
            <a:extLst xmlns:a="http://schemas.openxmlformats.org/drawingml/2006/main">
              <a:ext uri="{FF2B5EF4-FFF2-40B4-BE49-F238E27FC236}">
                <a16:creationId xmlns:a16="http://schemas.microsoft.com/office/drawing/2014/main" id="{97A18E32-ABDA-4768-91B6-D3E1AE7D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71775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3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2-head-0">
            <a:extLst xmlns:a="http://schemas.openxmlformats.org/drawingml/2006/main">
              <a:ext uri="{FF2B5EF4-FFF2-40B4-BE49-F238E27FC236}">
                <a16:creationId xmlns:a16="http://schemas.microsoft.com/office/drawing/2014/main" id="{20EFD23A-2E88-411A-9010-F50EA7756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57525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2329"/>
                </a:solidFill>
              </a:defRPr>
            </a:pPr>
            <a:r>
              <a:rPr sz="1875" b="1">
                <a:solidFill>
                  <a:srgbClr val="1F2329"/>
                </a:solidFill>
              </a:rPr>
              <a:t>高质量数据有限</a:t>
            </a:r>
          </a:p>
        </p:txBody>
      </p:sp>
      <p:sp>
        <p:nvSpPr>
          <p:cNvPr id="14" name="s2-body-0">
            <a:extLst xmlns:a="http://schemas.openxmlformats.org/drawingml/2006/main">
              <a:ext uri="{FF2B5EF4-FFF2-40B4-BE49-F238E27FC236}">
                <a16:creationId xmlns:a16="http://schemas.microsoft.com/office/drawing/2014/main" id="{383DB133-4D41-4D6D-82C2-875E32843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00475"/>
            <a:ext cx="2876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16B"/>
                </a:solidFill>
              </a:defRPr>
            </a:pPr>
            <a:r>
              <a:rPr sz="1350" b="0">
                <a:solidFill>
                  <a:srgbClr val="5B616B"/>
                </a:solidFill>
              </a:rPr>
              <a:t>互联网、书籍与人工标注不会无限增长；模型规模扩大，新增知识却越来越稀缺。</a:t>
            </a:r>
          </a:p>
        </p:txBody>
      </p:sp>
      <p:sp>
        <p:nvSpPr>
          <p:cNvPr id="15" name="s2-num-1">
            <a:extLst xmlns:a="http://schemas.openxmlformats.org/drawingml/2006/main">
              <a:ext uri="{FF2B5EF4-FFF2-40B4-BE49-F238E27FC236}">
                <a16:creationId xmlns:a16="http://schemas.microsoft.com/office/drawing/2014/main" id="{C9566AE9-EAAC-4952-8359-C6DDE89AC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143125"/>
            <a:ext cx="87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C7000B"/>
                </a:solidFill>
              </a:defRPr>
            </a:pPr>
            <a:r>
              <a:rPr sz="3450" b="1">
                <a:solidFill>
                  <a:srgbClr val="C7000B"/>
                </a:solidFill>
              </a:rPr>
              <a:t>02</a:t>
            </a:r>
          </a:p>
        </p:txBody>
      </p:sp>
      <p:sp>
        <p:nvSpPr>
          <p:cNvPr id="16" name="s2-rule-1">
            <a:extLst xmlns:a="http://schemas.openxmlformats.org/drawingml/2006/main">
              <a:ext uri="{FF2B5EF4-FFF2-40B4-BE49-F238E27FC236}">
                <a16:creationId xmlns:a16="http://schemas.microsoft.com/office/drawing/2014/main" id="{4680DF25-6B34-4E4E-8004-3AA4A3C1A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771775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2-head-1">
            <a:extLst xmlns:a="http://schemas.openxmlformats.org/drawingml/2006/main">
              <a:ext uri="{FF2B5EF4-FFF2-40B4-BE49-F238E27FC236}">
                <a16:creationId xmlns:a16="http://schemas.microsoft.com/office/drawing/2014/main" id="{0714040C-A5C8-4B52-B359-DA0C6427A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57525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2329"/>
                </a:solidFill>
              </a:defRPr>
            </a:pPr>
            <a:r>
              <a:rPr sz="1875" b="1">
                <a:solidFill>
                  <a:srgbClr val="1F2329"/>
                </a:solidFill>
              </a:rPr>
              <a:t>数据只记录过去</a:t>
            </a:r>
          </a:p>
        </p:txBody>
      </p:sp>
      <p:sp>
        <p:nvSpPr>
          <p:cNvPr id="18" name="s2-body-1">
            <a:extLst xmlns:a="http://schemas.openxmlformats.org/drawingml/2006/main">
              <a:ext uri="{FF2B5EF4-FFF2-40B4-BE49-F238E27FC236}">
                <a16:creationId xmlns:a16="http://schemas.microsoft.com/office/drawing/2014/main" id="{50697CC9-5C01-4400-9B88-B837BA79B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00475"/>
            <a:ext cx="2876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16B"/>
                </a:solidFill>
              </a:defRPr>
            </a:pPr>
            <a:r>
              <a:rPr sz="1350" b="0">
                <a:solidFill>
                  <a:srgbClr val="5B616B"/>
                </a:solidFill>
              </a:rPr>
              <a:t>静态文本可以描述世界，却不能替代亲自行动、验证假设和观察真实后果。</a:t>
            </a:r>
          </a:p>
        </p:txBody>
      </p:sp>
      <p:sp>
        <p:nvSpPr>
          <p:cNvPr id="19" name="s2-num-2">
            <a:extLst xmlns:a="http://schemas.openxmlformats.org/drawingml/2006/main">
              <a:ext uri="{FF2B5EF4-FFF2-40B4-BE49-F238E27FC236}">
                <a16:creationId xmlns:a16="http://schemas.microsoft.com/office/drawing/2014/main" id="{FDF3BDD6-CACE-46D8-8DE4-0165BBBC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143125"/>
            <a:ext cx="87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C7000B"/>
                </a:solidFill>
              </a:defRPr>
            </a:pPr>
            <a:r>
              <a:rPr sz="3450" b="1">
                <a:solidFill>
                  <a:srgbClr val="C7000B"/>
                </a:solidFill>
              </a:rPr>
              <a:t>03</a:t>
            </a:r>
          </a:p>
        </p:txBody>
      </p:sp>
      <p:sp>
        <p:nvSpPr>
          <p:cNvPr id="20" name="s2-rule-2">
            <a:extLst xmlns:a="http://schemas.openxmlformats.org/drawingml/2006/main">
              <a:ext uri="{FF2B5EF4-FFF2-40B4-BE49-F238E27FC236}">
                <a16:creationId xmlns:a16="http://schemas.microsoft.com/office/drawing/2014/main" id="{A675FF14-7B21-48A5-9289-BB02050F5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771775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3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2-head-2">
            <a:extLst xmlns:a="http://schemas.openxmlformats.org/drawingml/2006/main">
              <a:ext uri="{FF2B5EF4-FFF2-40B4-BE49-F238E27FC236}">
                <a16:creationId xmlns:a16="http://schemas.microsoft.com/office/drawing/2014/main" id="{9E21C6D7-BAD9-4A47-9302-FD0965495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057525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2329"/>
                </a:solidFill>
              </a:defRPr>
            </a:pPr>
            <a:r>
              <a:rPr sz="1875" b="1">
                <a:solidFill>
                  <a:srgbClr val="1F2329"/>
                </a:solidFill>
              </a:rPr>
              <a:t>训练结束后基本冻结</a:t>
            </a:r>
          </a:p>
        </p:txBody>
      </p:sp>
      <p:sp>
        <p:nvSpPr>
          <p:cNvPr id="22" name="s2-body-2">
            <a:extLst xmlns:a="http://schemas.openxmlformats.org/drawingml/2006/main">
              <a:ext uri="{FF2B5EF4-FFF2-40B4-BE49-F238E27FC236}">
                <a16:creationId xmlns:a16="http://schemas.microsoft.com/office/drawing/2014/main" id="{E1605B2A-1681-4E3A-B80A-0EF17EC92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00475"/>
            <a:ext cx="2876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16B"/>
                </a:solidFill>
              </a:defRPr>
            </a:pPr>
            <a:r>
              <a:rPr sz="1350" b="0">
                <a:solidFill>
                  <a:srgbClr val="5B616B"/>
                </a:solidFill>
              </a:rPr>
              <a:t>一次性预训练无法应对持续变化的环境；部署后的模型很少真正更新自己。</a:t>
            </a:r>
          </a:p>
        </p:txBody>
      </p:sp>
      <p:sp>
        <p:nvSpPr>
          <p:cNvPr id="23" name="s2-transition">
            <a:extLst xmlns:a="http://schemas.openxmlformats.org/drawingml/2006/main">
              <a:ext uri="{FF2B5EF4-FFF2-40B4-BE49-F238E27FC236}">
                <a16:creationId xmlns:a16="http://schemas.microsoft.com/office/drawing/2014/main" id="{AAE16938-86FB-405F-B168-D0CF292BB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43525"/>
            <a:ext cx="10858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F23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2-old">
            <a:extLst xmlns:a="http://schemas.openxmlformats.org/drawingml/2006/main">
              <a:ext uri="{FF2B5EF4-FFF2-40B4-BE49-F238E27FC236}">
                <a16:creationId xmlns:a16="http://schemas.microsoft.com/office/drawing/2014/main" id="{2351A9BC-4CC4-440E-AF6F-69F3A3D9B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5530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静态人类语料</a:t>
            </a:r>
          </a:p>
        </p:txBody>
      </p:sp>
      <p:sp>
        <p:nvSpPr>
          <p:cNvPr id="25" name="s2-arrow">
            <a:extLst xmlns:a="http://schemas.openxmlformats.org/drawingml/2006/main">
              <a:ext uri="{FF2B5EF4-FFF2-40B4-BE49-F238E27FC236}">
                <a16:creationId xmlns:a16="http://schemas.microsoft.com/office/drawing/2014/main" id="{66DB21DB-DAB3-4F0C-92EF-7CB051BFB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534025"/>
            <a:ext cx="2524125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2-new">
            <a:extLst xmlns:a="http://schemas.openxmlformats.org/drawingml/2006/main">
              <a:ext uri="{FF2B5EF4-FFF2-40B4-BE49-F238E27FC236}">
                <a16:creationId xmlns:a16="http://schemas.microsoft.com/office/drawing/2014/main" id="{47943D59-0B78-4900-A748-5A2C8D107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555307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智能体第一视角经验</a:t>
            </a:r>
          </a:p>
        </p:txBody>
      </p:sp>
    </p:spTree>
    <p:extLst>
      <p:ext uri="{BB962C8B-B14F-4D97-AF65-F5344CB8AC3E}">
        <p14:creationId xmlns:p14="http://schemas.microsoft.com/office/powerpoint/2010/main" val="19489155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op-red-3">
            <a:extLst xmlns:a="http://schemas.openxmlformats.org/drawingml/2006/main">
              <a:ext uri="{FF2B5EF4-FFF2-40B4-BE49-F238E27FC236}">
                <a16:creationId xmlns:a16="http://schemas.microsoft.com/office/drawing/2014/main" id="{230DB68F-CFB9-4577-B9E7-7B86AE70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black-3">
            <a:extLst xmlns:a="http://schemas.openxmlformats.org/drawingml/2006/main">
              <a:ext uri="{FF2B5EF4-FFF2-40B4-BE49-F238E27FC236}">
                <a16:creationId xmlns:a16="http://schemas.microsoft.com/office/drawing/2014/main" id="{E5E1D481-402C-4FDC-97DD-34A346FCA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3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kicker-3">
            <a:extLst xmlns:a="http://schemas.openxmlformats.org/drawingml/2006/main">
              <a:ext uri="{FF2B5EF4-FFF2-40B4-BE49-F238E27FC236}">
                <a16:creationId xmlns:a16="http://schemas.microsoft.com/office/drawing/2014/main" id="{84F697E1-5CDD-43EE-A9F7-BB41FD7C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B"/>
                </a:solidFill>
              </a:defRPr>
            </a:pPr>
            <a:r>
              <a:rPr sz="1200" b="1">
                <a:solidFill>
                  <a:srgbClr val="C7000B"/>
                </a:solidFill>
              </a:rPr>
              <a:t>SUTTON @ WAIC 2026</a:t>
            </a:r>
          </a:p>
        </p:txBody>
      </p:sp>
      <p:sp>
        <p:nvSpPr>
          <p:cNvPr id="4" name="section-3">
            <a:extLst xmlns:a="http://schemas.openxmlformats.org/drawingml/2006/main">
              <a:ext uri="{FF2B5EF4-FFF2-40B4-BE49-F238E27FC236}">
                <a16:creationId xmlns:a16="http://schemas.microsoft.com/office/drawing/2014/main" id="{3D269CD9-568E-4799-9189-B3C8B362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385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616B"/>
                </a:solidFill>
              </a:defRPr>
            </a:pPr>
            <a:r>
              <a:rPr sz="1200" b="1">
                <a:solidFill>
                  <a:srgbClr val="5B616B"/>
                </a:solidFill>
              </a:rPr>
              <a:t>学习闭环</a:t>
            </a:r>
          </a:p>
        </p:txBody>
      </p:sp>
      <p:sp>
        <p:nvSpPr>
          <p:cNvPr id="5" name="title-3">
            <a:extLst xmlns:a="http://schemas.openxmlformats.org/drawingml/2006/main">
              <a:ext uri="{FF2B5EF4-FFF2-40B4-BE49-F238E27FC236}">
                <a16:creationId xmlns:a16="http://schemas.microsoft.com/office/drawing/2014/main" id="{4FF9FF01-CFA7-4DCA-8B4D-DB2220FDA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6200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2329"/>
                </a:solidFill>
              </a:defRPr>
            </a:pPr>
            <a:r>
              <a:rPr sz="3000" b="1">
                <a:solidFill>
                  <a:srgbClr val="1F2329"/>
                </a:solidFill>
              </a:rPr>
              <a:t>经验不是“更多数据”，而是行动产生的数据</a:t>
            </a:r>
          </a:p>
        </p:txBody>
      </p:sp>
      <p:sp>
        <p:nvSpPr>
          <p:cNvPr id="6" name="page-3">
            <a:extLst xmlns:a="http://schemas.openxmlformats.org/drawingml/2006/main">
              <a:ext uri="{FF2B5EF4-FFF2-40B4-BE49-F238E27FC236}">
                <a16:creationId xmlns:a16="http://schemas.microsoft.com/office/drawing/2014/main" id="{03255A75-662A-405B-9FDE-D541A17CC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76275"/>
            <a:ext cx="647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150" b="1">
                <a:solidFill>
                  <a:srgbClr val="C7000B"/>
                </a:solidFill>
              </a:defRPr>
            </a:pPr>
            <a:r>
              <a:rPr sz="3150" b="1">
                <a:solidFill>
                  <a:srgbClr val="C7000B"/>
                </a:solidFill>
              </a:rPr>
              <a:t>03</a:t>
            </a:r>
          </a:p>
        </p:txBody>
      </p:sp>
      <p:sp>
        <p:nvSpPr>
          <p:cNvPr id="7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DC4FE384-F958-452B-AB2A-E8A21BEEA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ource-3">
            <a:extLst xmlns:a="http://schemas.openxmlformats.org/drawingml/2006/main">
              <a:ext uri="{FF2B5EF4-FFF2-40B4-BE49-F238E27FC236}">
                <a16:creationId xmlns:a16="http://schemas.microsoft.com/office/drawing/2014/main" id="{A1B0D5ED-3E43-4CD1-905B-696C458E9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16B"/>
                </a:solidFill>
              </a:defRPr>
            </a:pPr>
            <a:r>
              <a:rPr sz="900" b="0">
                <a:solidFill>
                  <a:srgbClr val="5B616B"/>
                </a:solidFill>
              </a:rPr>
              <a:t>来源：WAIC 2026 主论坛演讲实录；Sutton 以婴儿、AlphaGo 为例</a:t>
            </a:r>
          </a:p>
        </p:txBody>
      </p:sp>
      <p:sp>
        <p:nvSpPr>
          <p:cNvPr id="9" name="count-3">
            <a:extLst xmlns:a="http://schemas.openxmlformats.org/drawingml/2006/main">
              <a:ext uri="{FF2B5EF4-FFF2-40B4-BE49-F238E27FC236}">
                <a16:creationId xmlns:a16="http://schemas.microsoft.com/office/drawing/2014/main" id="{022E1090-3936-4CE1-BE92-4245ACC1C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86525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16B"/>
                </a:solidFill>
              </a:defRPr>
            </a:pPr>
            <a:r>
              <a:rPr sz="900" b="1">
                <a:solidFill>
                  <a:srgbClr val="5B616B"/>
                </a:solidFill>
              </a:rPr>
              <a:t>3 / 7</a:t>
            </a:r>
          </a:p>
        </p:txBody>
      </p:sp>
      <p:sp>
        <p:nvSpPr>
          <p:cNvPr id="10" name="s3-subtitle">
            <a:extLst xmlns:a="http://schemas.openxmlformats.org/drawingml/2006/main">
              <a:ext uri="{FF2B5EF4-FFF2-40B4-BE49-F238E27FC236}">
                <a16:creationId xmlns:a16="http://schemas.microsoft.com/office/drawing/2014/main" id="{9F1A3170-7572-4F65-8D00-A631C96E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16B"/>
                </a:solidFill>
              </a:defRPr>
            </a:pPr>
            <a:r>
              <a:rPr sz="1500" b="0">
                <a:solidFill>
                  <a:srgbClr val="5B616B"/>
                </a:solidFill>
              </a:rPr>
              <a:t>数据由智能体自己的行为触发，并随能力与目标动态变化。</a:t>
            </a:r>
          </a:p>
        </p:txBody>
      </p:sp>
      <p:sp>
        <p:nvSpPr>
          <p:cNvPr id="11" name="s3-arrow-1">
            <a:extLst xmlns:a="http://schemas.openxmlformats.org/drawingml/2006/main">
              <a:ext uri="{FF2B5EF4-FFF2-40B4-BE49-F238E27FC236}">
                <a16:creationId xmlns:a16="http://schemas.microsoft.com/office/drawing/2014/main" id="{AB98B9A7-61D2-4A05-9E71-756B32F2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33700"/>
            <a:ext cx="1381125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CED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3-arrow-2">
            <a:extLst xmlns:a="http://schemas.openxmlformats.org/drawingml/2006/main">
              <a:ext uri="{FF2B5EF4-FFF2-40B4-BE49-F238E27FC236}">
                <a16:creationId xmlns:a16="http://schemas.microsoft.com/office/drawing/2014/main" id="{559B6D7A-5334-4CBE-BD39-7433F087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33700"/>
            <a:ext cx="1381125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3-arrow-3">
            <a:extLst xmlns:a="http://schemas.openxmlformats.org/drawingml/2006/main">
              <a:ext uri="{FF2B5EF4-FFF2-40B4-BE49-F238E27FC236}">
                <a16:creationId xmlns:a16="http://schemas.microsoft.com/office/drawing/2014/main" id="{C5B74B56-C746-488F-BC22-6E692A354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933700"/>
            <a:ext cx="1381125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CED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3-arrow-down">
            <a:extLst xmlns:a="http://schemas.openxmlformats.org/drawingml/2006/main">
              <a:ext uri="{FF2B5EF4-FFF2-40B4-BE49-F238E27FC236}">
                <a16:creationId xmlns:a16="http://schemas.microsoft.com/office/drawing/2014/main" id="{FC933855-ADD3-40EC-8DDF-83D321792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886200"/>
            <a:ext cx="381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3-arrow-return">
            <a:extLst xmlns:a="http://schemas.openxmlformats.org/drawingml/2006/main">
              <a:ext uri="{FF2B5EF4-FFF2-40B4-BE49-F238E27FC236}">
                <a16:creationId xmlns:a16="http://schemas.microsoft.com/office/drawing/2014/main" id="{495611DD-CD7A-436C-9E3E-ED99837FB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000625"/>
            <a:ext cx="6115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A9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3-node-0">
            <a:extLst xmlns:a="http://schemas.openxmlformats.org/drawingml/2006/main">
              <a:ext uri="{FF2B5EF4-FFF2-40B4-BE49-F238E27FC236}">
                <a16:creationId xmlns:a16="http://schemas.microsoft.com/office/drawing/2014/main" id="{E71EB11E-57D2-4F2A-9104-ED6A4949B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21336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CEDEE"/>
            </a:solidFill>
            <a:prstDash val="solid"/>
          </a:ln>
        </p:spPr>
      </p:sp>
      <p:sp>
        <p:nvSpPr>
          <p:cNvPr id="17" name="s3-node-title-0">
            <a:extLst xmlns:a="http://schemas.openxmlformats.org/drawingml/2006/main">
              <a:ext uri="{FF2B5EF4-FFF2-40B4-BE49-F238E27FC236}">
                <a16:creationId xmlns:a16="http://schemas.microsoft.com/office/drawing/2014/main" id="{EB494BC2-9093-4F97-8A9F-77F9DA046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76525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F2329"/>
                </a:solidFill>
              </a:defRPr>
            </a:pPr>
            <a:r>
              <a:rPr sz="2025" b="1">
                <a:solidFill>
                  <a:srgbClr val="1F2329"/>
                </a:solidFill>
              </a:rPr>
              <a:t>观察</a:t>
            </a:r>
          </a:p>
        </p:txBody>
      </p:sp>
      <p:sp>
        <p:nvSpPr>
          <p:cNvPr id="18" name="s3-node-desc-0">
            <a:extLst xmlns:a="http://schemas.openxmlformats.org/drawingml/2006/main">
              <a:ext uri="{FF2B5EF4-FFF2-40B4-BE49-F238E27FC236}">
                <a16:creationId xmlns:a16="http://schemas.microsoft.com/office/drawing/2014/main" id="{E6076E8F-6127-4CCA-B789-7431C4A6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16B"/>
                </a:solidFill>
              </a:defRPr>
            </a:pPr>
            <a:r>
              <a:rPr sz="1200" b="0">
                <a:solidFill>
                  <a:srgbClr val="5B616B"/>
                </a:solidFill>
              </a:rPr>
              <a:t>读取当下状态</a:t>
            </a:r>
          </a:p>
        </p:txBody>
      </p:sp>
      <p:sp>
        <p:nvSpPr>
          <p:cNvPr id="19" name="s3-node-1">
            <a:extLst xmlns:a="http://schemas.openxmlformats.org/drawingml/2006/main">
              <a:ext uri="{FF2B5EF4-FFF2-40B4-BE49-F238E27FC236}">
                <a16:creationId xmlns:a16="http://schemas.microsoft.com/office/drawing/2014/main" id="{DD678108-D734-43F1-BF3D-DF9DE9A9E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24100"/>
            <a:ext cx="21336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CEDEE"/>
            </a:solidFill>
            <a:prstDash val="solid"/>
          </a:ln>
        </p:spPr>
      </p:sp>
      <p:sp>
        <p:nvSpPr>
          <p:cNvPr id="20" name="s3-node-title-1">
            <a:extLst xmlns:a="http://schemas.openxmlformats.org/drawingml/2006/main">
              <a:ext uri="{FF2B5EF4-FFF2-40B4-BE49-F238E27FC236}">
                <a16:creationId xmlns:a16="http://schemas.microsoft.com/office/drawing/2014/main" id="{A020E433-4F1F-432F-A1BD-BC98A4B0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76525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F2329"/>
                </a:solidFill>
              </a:defRPr>
            </a:pPr>
            <a:r>
              <a:rPr sz="2025" b="1">
                <a:solidFill>
                  <a:srgbClr val="1F2329"/>
                </a:solidFill>
              </a:rPr>
              <a:t>行动</a:t>
            </a:r>
          </a:p>
        </p:txBody>
      </p:sp>
      <p:sp>
        <p:nvSpPr>
          <p:cNvPr id="21" name="s3-node-desc-1">
            <a:extLst xmlns:a="http://schemas.openxmlformats.org/drawingml/2006/main">
              <a:ext uri="{FF2B5EF4-FFF2-40B4-BE49-F238E27FC236}">
                <a16:creationId xmlns:a16="http://schemas.microsoft.com/office/drawing/2014/main" id="{F1AF5825-0F6C-41AF-8350-DD160E88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1945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16B"/>
                </a:solidFill>
              </a:defRPr>
            </a:pPr>
            <a:r>
              <a:rPr sz="1200" b="0">
                <a:solidFill>
                  <a:srgbClr val="5B616B"/>
                </a:solidFill>
              </a:rPr>
              <a:t>主动改变环境</a:t>
            </a:r>
          </a:p>
        </p:txBody>
      </p:sp>
      <p:sp>
        <p:nvSpPr>
          <p:cNvPr id="22" name="s3-node-2">
            <a:extLst xmlns:a="http://schemas.openxmlformats.org/drawingml/2006/main">
              <a:ext uri="{FF2B5EF4-FFF2-40B4-BE49-F238E27FC236}">
                <a16:creationId xmlns:a16="http://schemas.microsoft.com/office/drawing/2014/main" id="{75C6D7F7-BFA2-44BB-90A2-9F590AB5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24100"/>
            <a:ext cx="21336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1F232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" name="s3-node-title-2">
            <a:extLst xmlns:a="http://schemas.openxmlformats.org/drawingml/2006/main">
              <a:ext uri="{FF2B5EF4-FFF2-40B4-BE49-F238E27FC236}">
                <a16:creationId xmlns:a16="http://schemas.microsoft.com/office/drawing/2014/main" id="{DAC9147A-4AA2-4421-854F-E4B4B25CA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76525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环境变化</a:t>
            </a:r>
          </a:p>
        </p:txBody>
      </p:sp>
      <p:sp>
        <p:nvSpPr>
          <p:cNvPr id="24" name="s3-node-desc-2">
            <a:extLst xmlns:a="http://schemas.openxmlformats.org/drawingml/2006/main">
              <a:ext uri="{FF2B5EF4-FFF2-40B4-BE49-F238E27FC236}">
                <a16:creationId xmlns:a16="http://schemas.microsoft.com/office/drawing/2014/main" id="{8B29A802-A01B-402F-9386-878FA94A6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1945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真实世界给出后果</a:t>
            </a:r>
          </a:p>
        </p:txBody>
      </p:sp>
      <p:sp>
        <p:nvSpPr>
          <p:cNvPr id="25" name="s3-node-3">
            <a:extLst xmlns:a="http://schemas.openxmlformats.org/drawingml/2006/main">
              <a:ext uri="{FF2B5EF4-FFF2-40B4-BE49-F238E27FC236}">
                <a16:creationId xmlns:a16="http://schemas.microsoft.com/office/drawing/2014/main" id="{A1A38F6A-9F30-4D2B-AA8B-02B1E28E2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24100"/>
            <a:ext cx="21336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6" name="s3-node-title-3">
            <a:extLst xmlns:a="http://schemas.openxmlformats.org/drawingml/2006/main">
              <a:ext uri="{FF2B5EF4-FFF2-40B4-BE49-F238E27FC236}">
                <a16:creationId xmlns:a16="http://schemas.microsoft.com/office/drawing/2014/main" id="{A3125116-4FE6-49D9-BF94-2CBC0331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76525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奖励 / 新观察</a:t>
            </a:r>
          </a:p>
        </p:txBody>
      </p:sp>
      <p:sp>
        <p:nvSpPr>
          <p:cNvPr id="27" name="s3-node-desc-3">
            <a:extLst xmlns:a="http://schemas.openxmlformats.org/drawingml/2006/main">
              <a:ext uri="{FF2B5EF4-FFF2-40B4-BE49-F238E27FC236}">
                <a16:creationId xmlns:a16="http://schemas.microsoft.com/office/drawing/2014/main" id="{25F56681-D268-43C4-BAB4-39EE1256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1945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判断好坏并更新</a:t>
            </a:r>
          </a:p>
        </p:txBody>
      </p:sp>
      <p:sp>
        <p:nvSpPr>
          <p:cNvPr id="28" name="s3-return-label">
            <a:extLst xmlns:a="http://schemas.openxmlformats.org/drawingml/2006/main">
              <a:ext uri="{FF2B5EF4-FFF2-40B4-BE49-F238E27FC236}">
                <a16:creationId xmlns:a16="http://schemas.microsoft.com/office/drawing/2014/main" id="{6E551623-3644-477A-9024-2753DC17B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4292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329"/>
                </a:solidFill>
              </a:defRPr>
            </a:pPr>
            <a:r>
              <a:rPr sz="1350" b="1">
                <a:solidFill>
                  <a:srgbClr val="1F2329"/>
                </a:solidFill>
              </a:rPr>
              <a:t>学习结果回到下一轮观察与行动</a:t>
            </a:r>
          </a:p>
        </p:txBody>
      </p:sp>
      <p:sp>
        <p:nvSpPr>
          <p:cNvPr id="29" name="s3-example-baby">
            <a:extLst xmlns:a="http://schemas.openxmlformats.org/drawingml/2006/main">
              <a:ext uri="{FF2B5EF4-FFF2-40B4-BE49-F238E27FC236}">
                <a16:creationId xmlns:a16="http://schemas.microsoft.com/office/drawing/2014/main" id="{310B73BE-C654-4E1B-86EB-905696B3E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16B"/>
                </a:solidFill>
              </a:defRPr>
            </a:pPr>
            <a:r>
              <a:rPr sz="1275" b="0">
                <a:solidFill>
                  <a:srgbClr val="5B616B"/>
                </a:solidFill>
              </a:rPr>
              <a:t>婴儿：玩具探索会自动匹配当前能力</a:t>
            </a:r>
          </a:p>
        </p:txBody>
      </p:sp>
      <p:sp>
        <p:nvSpPr>
          <p:cNvPr id="30" name="s3-example-go">
            <a:extLst xmlns:a="http://schemas.openxmlformats.org/drawingml/2006/main">
              <a:ext uri="{FF2B5EF4-FFF2-40B4-BE49-F238E27FC236}">
                <a16:creationId xmlns:a16="http://schemas.microsoft.com/office/drawing/2014/main" id="{0BA5F66B-3411-4298-B4CD-1120D9026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848350"/>
            <a:ext cx="525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B616B"/>
                </a:solidFill>
              </a:defRPr>
            </a:pPr>
            <a:r>
              <a:rPr sz="1275" b="0">
                <a:solidFill>
                  <a:srgbClr val="5B616B"/>
                </a:solidFill>
              </a:rPr>
              <a:t>AlphaGo：通过对弈经验发现人类未写下的策略</a:t>
            </a:r>
          </a:p>
        </p:txBody>
      </p:sp>
    </p:spTree>
    <p:extLst>
      <p:ext uri="{BB962C8B-B14F-4D97-AF65-F5344CB8AC3E}">
        <p14:creationId xmlns:p14="http://schemas.microsoft.com/office/powerpoint/2010/main" val="4359718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op-red-4">
            <a:extLst xmlns:a="http://schemas.openxmlformats.org/drawingml/2006/main">
              <a:ext uri="{FF2B5EF4-FFF2-40B4-BE49-F238E27FC236}">
                <a16:creationId xmlns:a16="http://schemas.microsoft.com/office/drawing/2014/main" id="{851DF368-F682-4E56-8947-FD92E7B2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black-4">
            <a:extLst xmlns:a="http://schemas.openxmlformats.org/drawingml/2006/main">
              <a:ext uri="{FF2B5EF4-FFF2-40B4-BE49-F238E27FC236}">
                <a16:creationId xmlns:a16="http://schemas.microsoft.com/office/drawing/2014/main" id="{AE80C3EB-2104-4547-BA09-474474D2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3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kicker-4">
            <a:extLst xmlns:a="http://schemas.openxmlformats.org/drawingml/2006/main">
              <a:ext uri="{FF2B5EF4-FFF2-40B4-BE49-F238E27FC236}">
                <a16:creationId xmlns:a16="http://schemas.microsoft.com/office/drawing/2014/main" id="{895E596C-C919-496E-B7BD-DFC74281F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B"/>
                </a:solidFill>
              </a:defRPr>
            </a:pPr>
            <a:r>
              <a:rPr sz="1200" b="1">
                <a:solidFill>
                  <a:srgbClr val="C7000B"/>
                </a:solidFill>
              </a:rPr>
              <a:t>SUTTON @ WAIC 2026</a:t>
            </a:r>
          </a:p>
        </p:txBody>
      </p:sp>
      <p:sp>
        <p:nvSpPr>
          <p:cNvPr id="4" name="section-4">
            <a:extLst xmlns:a="http://schemas.openxmlformats.org/drawingml/2006/main">
              <a:ext uri="{FF2B5EF4-FFF2-40B4-BE49-F238E27FC236}">
                <a16:creationId xmlns:a16="http://schemas.microsoft.com/office/drawing/2014/main" id="{561AF66B-A2A6-4C78-9169-B43E932B1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385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616B"/>
                </a:solidFill>
              </a:defRPr>
            </a:pPr>
            <a:r>
              <a:rPr sz="1200" b="1">
                <a:solidFill>
                  <a:srgbClr val="5B616B"/>
                </a:solidFill>
              </a:rPr>
              <a:t>反馈机制</a:t>
            </a:r>
          </a:p>
        </p:txBody>
      </p:sp>
      <p:sp>
        <p:nvSpPr>
          <p:cNvPr id="5" name="title-4">
            <a:extLst xmlns:a="http://schemas.openxmlformats.org/drawingml/2006/main">
              <a:ext uri="{FF2B5EF4-FFF2-40B4-BE49-F238E27FC236}">
                <a16:creationId xmlns:a16="http://schemas.microsoft.com/office/drawing/2014/main" id="{B5006996-D52E-4887-A038-EBE56D881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6200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2329"/>
                </a:solidFill>
              </a:defRPr>
            </a:pPr>
            <a:r>
              <a:rPr sz="3000" b="1">
                <a:solidFill>
                  <a:srgbClr val="1F2329"/>
                </a:solidFill>
              </a:rPr>
              <a:t>没有目标与奖励，模型就无法对结果负责</a:t>
            </a:r>
          </a:p>
        </p:txBody>
      </p:sp>
      <p:sp>
        <p:nvSpPr>
          <p:cNvPr id="6" name="page-4">
            <a:extLst xmlns:a="http://schemas.openxmlformats.org/drawingml/2006/main">
              <a:ext uri="{FF2B5EF4-FFF2-40B4-BE49-F238E27FC236}">
                <a16:creationId xmlns:a16="http://schemas.microsoft.com/office/drawing/2014/main" id="{E74EC6BE-199D-43A7-B858-F390A869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76275"/>
            <a:ext cx="647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150" b="1">
                <a:solidFill>
                  <a:srgbClr val="C7000B"/>
                </a:solidFill>
              </a:defRPr>
            </a:pPr>
            <a:r>
              <a:rPr sz="3150" b="1">
                <a:solidFill>
                  <a:srgbClr val="C7000B"/>
                </a:solidFill>
              </a:rPr>
              <a:t>04</a:t>
            </a:r>
          </a:p>
        </p:txBody>
      </p:sp>
      <p:sp>
        <p:nvSpPr>
          <p:cNvPr id="7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69B851DF-9210-4949-BBB7-6FF412CBB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ource-4">
            <a:extLst xmlns:a="http://schemas.openxmlformats.org/drawingml/2006/main">
              <a:ext uri="{FF2B5EF4-FFF2-40B4-BE49-F238E27FC236}">
                <a16:creationId xmlns:a16="http://schemas.microsoft.com/office/drawing/2014/main" id="{F57BCBCF-B211-4415-A1DC-3F68EBA5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16B"/>
                </a:solidFill>
              </a:defRPr>
            </a:pPr>
            <a:r>
              <a:rPr sz="900" b="0">
                <a:solidFill>
                  <a:srgbClr val="5B616B"/>
                </a:solidFill>
              </a:rPr>
              <a:t>来源：WAIC 2026 主论坛演讲实录；此处“无奖励”指缺少部署期环境反馈闭环</a:t>
            </a:r>
          </a:p>
        </p:txBody>
      </p:sp>
      <p:sp>
        <p:nvSpPr>
          <p:cNvPr id="9" name="count-4">
            <a:extLst xmlns:a="http://schemas.openxmlformats.org/drawingml/2006/main">
              <a:ext uri="{FF2B5EF4-FFF2-40B4-BE49-F238E27FC236}">
                <a16:creationId xmlns:a16="http://schemas.microsoft.com/office/drawing/2014/main" id="{A0301A07-66D2-40CE-9521-2BD8508E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86525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16B"/>
                </a:solidFill>
              </a:defRPr>
            </a:pPr>
            <a:r>
              <a:rPr sz="900" b="1">
                <a:solidFill>
                  <a:srgbClr val="5B616B"/>
                </a:solidFill>
              </a:rPr>
              <a:t>4 / 7</a:t>
            </a:r>
          </a:p>
        </p:txBody>
      </p:sp>
      <p:sp>
        <p:nvSpPr>
          <p:cNvPr id="10" name="s4-subtitle">
            <a:extLst xmlns:a="http://schemas.openxmlformats.org/drawingml/2006/main">
              <a:ext uri="{FF2B5EF4-FFF2-40B4-BE49-F238E27FC236}">
                <a16:creationId xmlns:a16="http://schemas.microsoft.com/office/drawing/2014/main" id="{654384F7-FBB4-4412-97F0-DE7A84448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16B"/>
                </a:solidFill>
              </a:defRPr>
            </a:pPr>
            <a:r>
              <a:rPr sz="1500" b="0">
                <a:solidFill>
                  <a:srgbClr val="5B616B"/>
                </a:solidFill>
              </a:rPr>
              <a:t>训练损失存在，但运行中的现实验证通常缺席。</a:t>
            </a:r>
          </a:p>
        </p:txBody>
      </p:sp>
      <p:sp>
        <p:nvSpPr>
          <p:cNvPr id="11" name="s4-left-title">
            <a:extLst xmlns:a="http://schemas.openxmlformats.org/drawingml/2006/main">
              <a:ext uri="{FF2B5EF4-FFF2-40B4-BE49-F238E27FC236}">
                <a16:creationId xmlns:a16="http://schemas.microsoft.com/office/drawing/2014/main" id="{94871593-5B35-4943-B103-43319B21E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66925"/>
            <a:ext cx="445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329"/>
                </a:solidFill>
              </a:defRPr>
            </a:pPr>
            <a:r>
              <a:rPr sz="1800" b="1">
                <a:solidFill>
                  <a:srgbClr val="1F2329"/>
                </a:solidFill>
              </a:rPr>
              <a:t>文本模型的常见路径</a:t>
            </a:r>
          </a:p>
        </p:txBody>
      </p:sp>
      <p:sp>
        <p:nvSpPr>
          <p:cNvPr id="12" name="s4-left-rule">
            <a:extLst xmlns:a="http://schemas.openxmlformats.org/drawingml/2006/main">
              <a:ext uri="{FF2B5EF4-FFF2-40B4-BE49-F238E27FC236}">
                <a16:creationId xmlns:a16="http://schemas.microsoft.com/office/drawing/2014/main" id="{5D9719F6-36AA-4DAB-A99B-99728FA53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4457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4-left-dot-0">
            <a:extLst xmlns:a="http://schemas.openxmlformats.org/drawingml/2006/main">
              <a:ext uri="{FF2B5EF4-FFF2-40B4-BE49-F238E27FC236}">
                <a16:creationId xmlns:a16="http://schemas.microsoft.com/office/drawing/2014/main" id="{4913E9D8-6ABD-44EF-8B68-3AB40585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23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4-left-label-0">
            <a:extLst xmlns:a="http://schemas.openxmlformats.org/drawingml/2006/main">
              <a:ext uri="{FF2B5EF4-FFF2-40B4-BE49-F238E27FC236}">
                <a16:creationId xmlns:a16="http://schemas.microsoft.com/office/drawing/2014/main" id="{C7DFE099-517E-496B-9B4A-3348EDFB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329"/>
                </a:solidFill>
              </a:defRPr>
            </a:pPr>
            <a:r>
              <a:rPr sz="1650" b="0">
                <a:solidFill>
                  <a:srgbClr val="1F2329"/>
                </a:solidFill>
              </a:rPr>
              <a:t>生成答案</a:t>
            </a:r>
          </a:p>
        </p:txBody>
      </p:sp>
      <p:sp>
        <p:nvSpPr>
          <p:cNvPr id="15" name="s4-left-connector-0">
            <a:extLst xmlns:a="http://schemas.openxmlformats.org/drawingml/2006/main">
              <a:ext uri="{FF2B5EF4-FFF2-40B4-BE49-F238E27FC236}">
                <a16:creationId xmlns:a16="http://schemas.microsoft.com/office/drawing/2014/main" id="{E8F59CD3-4303-40DC-B923-665BFCDD1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57550"/>
            <a:ext cx="285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4-left-dot-1">
            <a:extLst xmlns:a="http://schemas.openxmlformats.org/drawingml/2006/main">
              <a:ext uri="{FF2B5EF4-FFF2-40B4-BE49-F238E27FC236}">
                <a16:creationId xmlns:a16="http://schemas.microsoft.com/office/drawing/2014/main" id="{C17A13FA-6993-42A7-A9E5-B070E2FB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ED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4-left-label-1">
            <a:extLst xmlns:a="http://schemas.openxmlformats.org/drawingml/2006/main">
              <a:ext uri="{FF2B5EF4-FFF2-40B4-BE49-F238E27FC236}">
                <a16:creationId xmlns:a16="http://schemas.microsoft.com/office/drawing/2014/main" id="{B9BFC323-AC2E-4079-B26B-916DF590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195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329"/>
                </a:solidFill>
              </a:defRPr>
            </a:pPr>
            <a:r>
              <a:rPr sz="1650" b="0">
                <a:solidFill>
                  <a:srgbClr val="1F2329"/>
                </a:solidFill>
              </a:rPr>
              <a:t>缺少现实验证</a:t>
            </a:r>
          </a:p>
        </p:txBody>
      </p:sp>
      <p:sp>
        <p:nvSpPr>
          <p:cNvPr id="18" name="s4-left-connector-1">
            <a:extLst xmlns:a="http://schemas.openxmlformats.org/drawingml/2006/main">
              <a:ext uri="{FF2B5EF4-FFF2-40B4-BE49-F238E27FC236}">
                <a16:creationId xmlns:a16="http://schemas.microsoft.com/office/drawing/2014/main" id="{9EEB932F-64A8-4CC0-94EF-DC6FC750C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9550"/>
            <a:ext cx="285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4-left-dot-2">
            <a:extLst xmlns:a="http://schemas.openxmlformats.org/drawingml/2006/main">
              <a:ext uri="{FF2B5EF4-FFF2-40B4-BE49-F238E27FC236}">
                <a16:creationId xmlns:a16="http://schemas.microsoft.com/office/drawing/2014/main" id="{44270521-3ED0-423C-A38E-54631F088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ED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4-left-label-2">
            <a:extLst xmlns:a="http://schemas.openxmlformats.org/drawingml/2006/main">
              <a:ext uri="{FF2B5EF4-FFF2-40B4-BE49-F238E27FC236}">
                <a16:creationId xmlns:a16="http://schemas.microsoft.com/office/drawing/2014/main" id="{6AF3BD5E-9A30-4110-A3CE-DA9D31647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815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7000B"/>
                </a:solidFill>
              </a:defRPr>
            </a:pPr>
            <a:r>
              <a:rPr sz="1650" b="1">
                <a:solidFill>
                  <a:srgbClr val="C7000B"/>
                </a:solidFill>
              </a:rPr>
              <a:t>错误通常不回写模型</a:t>
            </a:r>
          </a:p>
        </p:txBody>
      </p:sp>
      <p:sp>
        <p:nvSpPr>
          <p:cNvPr id="21" name="s4-left-result">
            <a:extLst xmlns:a="http://schemas.openxmlformats.org/drawingml/2006/main">
              <a:ext uri="{FF2B5EF4-FFF2-40B4-BE49-F238E27FC236}">
                <a16:creationId xmlns:a16="http://schemas.microsoft.com/office/drawing/2014/main" id="{629BB98C-AB44-4A3C-A732-FE62F6F93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4457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16B"/>
                </a:solidFill>
              </a:defRPr>
            </a:pPr>
            <a:r>
              <a:rPr sz="1425" b="0">
                <a:solidFill>
                  <a:srgbClr val="5B616B"/>
                </a:solidFill>
              </a:rPr>
              <a:t>结果：语言可以很确定，事实却未被确认</a:t>
            </a:r>
          </a:p>
        </p:txBody>
      </p:sp>
      <p:sp>
        <p:nvSpPr>
          <p:cNvPr id="22" name="s4-divider">
            <a:extLst xmlns:a="http://schemas.openxmlformats.org/drawingml/2006/main">
              <a:ext uri="{FF2B5EF4-FFF2-40B4-BE49-F238E27FC236}">
                <a16:creationId xmlns:a16="http://schemas.microsoft.com/office/drawing/2014/main" id="{791F367A-4BEB-4C56-8E9B-FE2DC11A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924050"/>
            <a:ext cx="28575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4-right-title">
            <a:extLst xmlns:a="http://schemas.openxmlformats.org/drawingml/2006/main">
              <a:ext uri="{FF2B5EF4-FFF2-40B4-BE49-F238E27FC236}">
                <a16:creationId xmlns:a16="http://schemas.microsoft.com/office/drawing/2014/main" id="{812D84DE-61AC-4043-B76E-DC959DB14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66925"/>
            <a:ext cx="445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7000B"/>
                </a:solidFill>
              </a:defRPr>
            </a:pPr>
            <a:r>
              <a:rPr sz="1800" b="1">
                <a:solidFill>
                  <a:srgbClr val="C7000B"/>
                </a:solidFill>
              </a:rPr>
              <a:t>经验型智能体的路径</a:t>
            </a:r>
          </a:p>
        </p:txBody>
      </p:sp>
      <p:sp>
        <p:nvSpPr>
          <p:cNvPr id="24" name="s4-right-rule">
            <a:extLst xmlns:a="http://schemas.openxmlformats.org/drawingml/2006/main">
              <a:ext uri="{FF2B5EF4-FFF2-40B4-BE49-F238E27FC236}">
                <a16:creationId xmlns:a16="http://schemas.microsoft.com/office/drawing/2014/main" id="{045EA7D4-9576-452F-BAC8-903750A0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4457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4-right-dot-0">
            <a:extLst xmlns:a="http://schemas.openxmlformats.org/drawingml/2006/main">
              <a:ext uri="{FF2B5EF4-FFF2-40B4-BE49-F238E27FC236}">
                <a16:creationId xmlns:a16="http://schemas.microsoft.com/office/drawing/2014/main" id="{577263D0-8350-4AC8-B5A1-E1963002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76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23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4-right-label-0">
            <a:extLst xmlns:a="http://schemas.openxmlformats.org/drawingml/2006/main">
              <a:ext uri="{FF2B5EF4-FFF2-40B4-BE49-F238E27FC236}">
                <a16:creationId xmlns:a16="http://schemas.microsoft.com/office/drawing/2014/main" id="{388AECCE-5C74-4FE7-98A6-50E351ACF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57500"/>
            <a:ext cx="3733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329"/>
                </a:solidFill>
              </a:defRPr>
            </a:pPr>
            <a:r>
              <a:rPr sz="1650" b="0">
                <a:solidFill>
                  <a:srgbClr val="1F2329"/>
                </a:solidFill>
              </a:rPr>
              <a:t>采取行动</a:t>
            </a:r>
          </a:p>
        </p:txBody>
      </p:sp>
      <p:sp>
        <p:nvSpPr>
          <p:cNvPr id="27" name="s4-right-connector-0">
            <a:extLst xmlns:a="http://schemas.openxmlformats.org/drawingml/2006/main">
              <a:ext uri="{FF2B5EF4-FFF2-40B4-BE49-F238E27FC236}">
                <a16:creationId xmlns:a16="http://schemas.microsoft.com/office/drawing/2014/main" id="{E9618065-1AC9-4C2D-BCD6-162B83EA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57550"/>
            <a:ext cx="285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4-right-dot-1">
            <a:extLst xmlns:a="http://schemas.openxmlformats.org/drawingml/2006/main">
              <a:ext uri="{FF2B5EF4-FFF2-40B4-BE49-F238E27FC236}">
                <a16:creationId xmlns:a16="http://schemas.microsoft.com/office/drawing/2014/main" id="{8C846F6C-BA14-4285-A409-62A04579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38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23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4-right-label-1">
            <a:extLst xmlns:a="http://schemas.openxmlformats.org/drawingml/2006/main">
              <a:ext uri="{FF2B5EF4-FFF2-40B4-BE49-F238E27FC236}">
                <a16:creationId xmlns:a16="http://schemas.microsoft.com/office/drawing/2014/main" id="{053E81AA-379B-470B-816D-F529BE24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619500"/>
            <a:ext cx="3733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329"/>
                </a:solidFill>
              </a:defRPr>
            </a:pPr>
            <a:r>
              <a:rPr sz="1650" b="0">
                <a:solidFill>
                  <a:srgbClr val="1F2329"/>
                </a:solidFill>
              </a:rPr>
              <a:t>环境返回结果 / 奖励</a:t>
            </a:r>
          </a:p>
        </p:txBody>
      </p:sp>
      <p:sp>
        <p:nvSpPr>
          <p:cNvPr id="30" name="s4-right-connector-1">
            <a:extLst xmlns:a="http://schemas.openxmlformats.org/drawingml/2006/main">
              <a:ext uri="{FF2B5EF4-FFF2-40B4-BE49-F238E27FC236}">
                <a16:creationId xmlns:a16="http://schemas.microsoft.com/office/drawing/2014/main" id="{625E0966-2A51-4BD6-B66B-663917D8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19550"/>
            <a:ext cx="285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s4-right-dot-2">
            <a:extLst xmlns:a="http://schemas.openxmlformats.org/drawingml/2006/main">
              <a:ext uri="{FF2B5EF4-FFF2-40B4-BE49-F238E27FC236}">
                <a16:creationId xmlns:a16="http://schemas.microsoft.com/office/drawing/2014/main" id="{E3D8A92F-1A39-4FBD-AAE7-3BBFC2832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00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4-right-label-2">
            <a:extLst xmlns:a="http://schemas.openxmlformats.org/drawingml/2006/main">
              <a:ext uri="{FF2B5EF4-FFF2-40B4-BE49-F238E27FC236}">
                <a16:creationId xmlns:a16="http://schemas.microsoft.com/office/drawing/2014/main" id="{E018D326-A95A-447B-A074-962E653D6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381500"/>
            <a:ext cx="3733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7000B"/>
                </a:solidFill>
              </a:defRPr>
            </a:pPr>
            <a:r>
              <a:rPr sz="1650" b="1">
                <a:solidFill>
                  <a:srgbClr val="C7000B"/>
                </a:solidFill>
              </a:rPr>
              <a:t>更新预测与策略</a:t>
            </a:r>
          </a:p>
        </p:txBody>
      </p:sp>
      <p:sp>
        <p:nvSpPr>
          <p:cNvPr id="33" name="s4-right-result">
            <a:extLst xmlns:a="http://schemas.openxmlformats.org/drawingml/2006/main">
              <a:ext uri="{FF2B5EF4-FFF2-40B4-BE49-F238E27FC236}">
                <a16:creationId xmlns:a16="http://schemas.microsoft.com/office/drawing/2014/main" id="{0D64341D-AD18-438A-929B-B536F64C7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19700"/>
            <a:ext cx="4457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16B"/>
                </a:solidFill>
              </a:defRPr>
            </a:pPr>
            <a:r>
              <a:rPr sz="1425" b="0">
                <a:solidFill>
                  <a:srgbClr val="5B616B"/>
                </a:solidFill>
              </a:rPr>
              <a:t>结果：系统知道“预测是否兑现”，并持续修正</a:t>
            </a:r>
          </a:p>
        </p:txBody>
      </p:sp>
      <p:sp>
        <p:nvSpPr>
          <p:cNvPr id="34" name="s4-bottom">
            <a:extLst xmlns:a="http://schemas.openxmlformats.org/drawingml/2006/main">
              <a:ext uri="{FF2B5EF4-FFF2-40B4-BE49-F238E27FC236}">
                <a16:creationId xmlns:a16="http://schemas.microsoft.com/office/drawing/2014/main" id="{D137128F-EE84-4D82-95AD-20EF6C87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3441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s4-bottom-text">
            <a:extLst xmlns:a="http://schemas.openxmlformats.org/drawingml/2006/main">
              <a:ext uri="{FF2B5EF4-FFF2-40B4-BE49-F238E27FC236}">
                <a16:creationId xmlns:a16="http://schemas.microsoft.com/office/drawing/2014/main" id="{637E3BD3-70CE-482E-8A2C-0FD248F9E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15025"/>
            <a:ext cx="9963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Sutton 的判断：幻觉不只是数据问题，更是缺少“预测—现实—修正”的结构性闭环。</a:t>
            </a:r>
          </a:p>
        </p:txBody>
      </p:sp>
    </p:spTree>
    <p:extLst>
      <p:ext uri="{BB962C8B-B14F-4D97-AF65-F5344CB8AC3E}">
        <p14:creationId xmlns:p14="http://schemas.microsoft.com/office/powerpoint/2010/main" val="5546167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op-red-5">
            <a:extLst xmlns:a="http://schemas.openxmlformats.org/drawingml/2006/main">
              <a:ext uri="{FF2B5EF4-FFF2-40B4-BE49-F238E27FC236}">
                <a16:creationId xmlns:a16="http://schemas.microsoft.com/office/drawing/2014/main" id="{90441CA7-ED62-4AF2-8CE0-64BEDEA7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black-5">
            <a:extLst xmlns:a="http://schemas.openxmlformats.org/drawingml/2006/main">
              <a:ext uri="{FF2B5EF4-FFF2-40B4-BE49-F238E27FC236}">
                <a16:creationId xmlns:a16="http://schemas.microsoft.com/office/drawing/2014/main" id="{921C403B-F4AA-4AE0-895D-6CDFD2E7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3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kicker-5">
            <a:extLst xmlns:a="http://schemas.openxmlformats.org/drawingml/2006/main">
              <a:ext uri="{FF2B5EF4-FFF2-40B4-BE49-F238E27FC236}">
                <a16:creationId xmlns:a16="http://schemas.microsoft.com/office/drawing/2014/main" id="{06F4607F-F052-4B96-9C8F-03B6B7FE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B"/>
                </a:solidFill>
              </a:defRPr>
            </a:pPr>
            <a:r>
              <a:rPr sz="1200" b="1">
                <a:solidFill>
                  <a:srgbClr val="C7000B"/>
                </a:solidFill>
              </a:rPr>
              <a:t>SUTTON @ WAIC 2026</a:t>
            </a:r>
          </a:p>
        </p:txBody>
      </p:sp>
      <p:sp>
        <p:nvSpPr>
          <p:cNvPr id="4" name="section-5">
            <a:extLst xmlns:a="http://schemas.openxmlformats.org/drawingml/2006/main">
              <a:ext uri="{FF2B5EF4-FFF2-40B4-BE49-F238E27FC236}">
                <a16:creationId xmlns:a16="http://schemas.microsoft.com/office/drawing/2014/main" id="{20CB291A-DA78-4C79-BAE0-381200FC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385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616B"/>
                </a:solidFill>
              </a:defRPr>
            </a:pPr>
            <a:r>
              <a:rPr sz="1200" b="1">
                <a:solidFill>
                  <a:srgbClr val="5B616B"/>
                </a:solidFill>
              </a:rPr>
              <a:t>研究方法</a:t>
            </a:r>
          </a:p>
        </p:txBody>
      </p:sp>
      <p:sp>
        <p:nvSpPr>
          <p:cNvPr id="5" name="title-5">
            <a:extLst xmlns:a="http://schemas.openxmlformats.org/drawingml/2006/main">
              <a:ext uri="{FF2B5EF4-FFF2-40B4-BE49-F238E27FC236}">
                <a16:creationId xmlns:a16="http://schemas.microsoft.com/office/drawing/2014/main" id="{C9A0E3A6-EB5C-46BA-AFB3-E587B8D1C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6200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2329"/>
                </a:solidFill>
              </a:defRPr>
            </a:pPr>
            <a:r>
              <a:rPr sz="3000" b="1">
                <a:solidFill>
                  <a:srgbClr val="1F2329"/>
                </a:solidFill>
              </a:rPr>
              <a:t>“苦涩的教训”：捷径提升起点，也制造天花板</a:t>
            </a:r>
          </a:p>
        </p:txBody>
      </p:sp>
      <p:sp>
        <p:nvSpPr>
          <p:cNvPr id="6" name="page-5">
            <a:extLst xmlns:a="http://schemas.openxmlformats.org/drawingml/2006/main">
              <a:ext uri="{FF2B5EF4-FFF2-40B4-BE49-F238E27FC236}">
                <a16:creationId xmlns:a16="http://schemas.microsoft.com/office/drawing/2014/main" id="{A7067A4C-ED50-461F-A8F3-7568CC9CA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76275"/>
            <a:ext cx="647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150" b="1">
                <a:solidFill>
                  <a:srgbClr val="C7000B"/>
                </a:solidFill>
              </a:defRPr>
            </a:pPr>
            <a:r>
              <a:rPr sz="3150" b="1">
                <a:solidFill>
                  <a:srgbClr val="C7000B"/>
                </a:solidFill>
              </a:rPr>
              <a:t>05</a:t>
            </a:r>
          </a:p>
        </p:txBody>
      </p:sp>
      <p:sp>
        <p:nvSpPr>
          <p:cNvPr id="7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71B8CEA7-58DB-4BCE-BAEF-04C614FBC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ource-5">
            <a:extLst xmlns:a="http://schemas.openxmlformats.org/drawingml/2006/main">
              <a:ext uri="{FF2B5EF4-FFF2-40B4-BE49-F238E27FC236}">
                <a16:creationId xmlns:a16="http://schemas.microsoft.com/office/drawing/2014/main" id="{09D0F764-7F69-4439-A933-5DBE16DAC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16B"/>
                </a:solidFill>
              </a:defRPr>
            </a:pPr>
            <a:r>
              <a:rPr sz="900" b="0">
                <a:solidFill>
                  <a:srgbClr val="5B616B"/>
                </a:solidFill>
              </a:rPr>
              <a:t>来源：WAIC 2026 思想者论坛；Richard Sutton《The Bitter Lesson》</a:t>
            </a:r>
          </a:p>
        </p:txBody>
      </p:sp>
      <p:sp>
        <p:nvSpPr>
          <p:cNvPr id="9" name="count-5">
            <a:extLst xmlns:a="http://schemas.openxmlformats.org/drawingml/2006/main">
              <a:ext uri="{FF2B5EF4-FFF2-40B4-BE49-F238E27FC236}">
                <a16:creationId xmlns:a16="http://schemas.microsoft.com/office/drawing/2014/main" id="{A35E9882-763C-4E35-BFD5-35A00789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86525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16B"/>
                </a:solidFill>
              </a:defRPr>
            </a:pPr>
            <a:r>
              <a:rPr sz="900" b="1">
                <a:solidFill>
                  <a:srgbClr val="5B616B"/>
                </a:solidFill>
              </a:rPr>
              <a:t>5 / 7</a:t>
            </a:r>
          </a:p>
        </p:txBody>
      </p:sp>
      <p:sp>
        <p:nvSpPr>
          <p:cNvPr id="10" name="s5-subtitle">
            <a:extLst xmlns:a="http://schemas.openxmlformats.org/drawingml/2006/main">
              <a:ext uri="{FF2B5EF4-FFF2-40B4-BE49-F238E27FC236}">
                <a16:creationId xmlns:a16="http://schemas.microsoft.com/office/drawing/2014/main" id="{AEAA41B6-06FA-4DB8-B73F-CB48ADD5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16B"/>
                </a:solidFill>
              </a:defRPr>
            </a:pPr>
            <a:r>
              <a:rPr sz="1500" b="0">
                <a:solidFill>
                  <a:srgbClr val="5B616B"/>
                </a:solidFill>
              </a:rPr>
              <a:t>长期领先的，往往不是更多人类规则，而是可扩展的搜索与学习。</a:t>
            </a:r>
          </a:p>
        </p:txBody>
      </p:sp>
      <p:sp>
        <p:nvSpPr>
          <p:cNvPr id="11" name="s5-x-axis">
            <a:extLst xmlns:a="http://schemas.openxmlformats.org/drawingml/2006/main">
              <a:ext uri="{FF2B5EF4-FFF2-40B4-BE49-F238E27FC236}">
                <a16:creationId xmlns:a16="http://schemas.microsoft.com/office/drawing/2014/main" id="{FCF80306-AF3D-4FAA-AAFE-2407224AA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81625"/>
            <a:ext cx="838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3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5-y-axis">
            <a:extLst xmlns:a="http://schemas.openxmlformats.org/drawingml/2006/main">
              <a:ext uri="{FF2B5EF4-FFF2-40B4-BE49-F238E27FC236}">
                <a16:creationId xmlns:a16="http://schemas.microsoft.com/office/drawing/2014/main" id="{CE025EA5-CEBE-4889-AF1C-C9B74FBC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47900"/>
            <a:ext cx="28575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3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5-x-arrow">
            <a:extLst xmlns:a="http://schemas.openxmlformats.org/drawingml/2006/main">
              <a:ext uri="{FF2B5EF4-FFF2-40B4-BE49-F238E27FC236}">
                <a16:creationId xmlns:a16="http://schemas.microsoft.com/office/drawing/2014/main" id="{AA6BC0DB-1ABF-4DAF-B04D-C4DF07AF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248275"/>
            <a:ext cx="9525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23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5-y-arrow">
            <a:extLst xmlns:a="http://schemas.openxmlformats.org/drawingml/2006/main">
              <a:ext uri="{FF2B5EF4-FFF2-40B4-BE49-F238E27FC236}">
                <a16:creationId xmlns:a16="http://schemas.microsoft.com/office/drawing/2014/main" id="{85150E91-EAF9-4C58-B1C0-C807F6F7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81175"/>
            <a:ext cx="304800" cy="6096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1F23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5-y-label">
            <a:extLst xmlns:a="http://schemas.openxmlformats.org/drawingml/2006/main">
              <a:ext uri="{FF2B5EF4-FFF2-40B4-BE49-F238E27FC236}">
                <a16:creationId xmlns:a16="http://schemas.microsoft.com/office/drawing/2014/main" id="{66F54633-04DD-4AF5-90B3-C5C01354B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1927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16B"/>
                </a:solidFill>
              </a:defRPr>
            </a:pPr>
            <a:r>
              <a:rPr sz="1200" b="1">
                <a:solidFill>
                  <a:srgbClr val="5B616B"/>
                </a:solidFill>
              </a:rPr>
              <a:t>能力上限</a:t>
            </a:r>
          </a:p>
        </p:txBody>
      </p:sp>
      <p:sp>
        <p:nvSpPr>
          <p:cNvPr id="16" name="s5-x-label">
            <a:extLst xmlns:a="http://schemas.openxmlformats.org/drawingml/2006/main">
              <a:ext uri="{FF2B5EF4-FFF2-40B4-BE49-F238E27FC236}">
                <a16:creationId xmlns:a16="http://schemas.microsoft.com/office/drawing/2014/main" id="{9FA2A83A-D7DA-481A-B723-6DF16392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6102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16B"/>
                </a:solidFill>
              </a:defRPr>
            </a:pPr>
            <a:r>
              <a:rPr sz="1200" b="1">
                <a:solidFill>
                  <a:srgbClr val="5B616B"/>
                </a:solidFill>
              </a:rPr>
              <a:t>时间 / 规模</a:t>
            </a:r>
          </a:p>
        </p:txBody>
      </p:sp>
      <p:sp>
        <p:nvSpPr>
          <p:cNvPr id="17" name="s5-grey-1">
            <a:extLst xmlns:a="http://schemas.openxmlformats.org/drawingml/2006/main">
              <a:ext uri="{FF2B5EF4-FFF2-40B4-BE49-F238E27FC236}">
                <a16:creationId xmlns:a16="http://schemas.microsoft.com/office/drawing/2014/main" id="{8AF66A32-5B03-4238-8B7C-F9A097EFB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933825"/>
            <a:ext cx="198120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5A9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5-grey-2">
            <a:extLst xmlns:a="http://schemas.openxmlformats.org/drawingml/2006/main">
              <a:ext uri="{FF2B5EF4-FFF2-40B4-BE49-F238E27FC236}">
                <a16:creationId xmlns:a16="http://schemas.microsoft.com/office/drawing/2014/main" id="{323E51DB-FE2D-48EC-AF3E-7B7D4B76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495675"/>
            <a:ext cx="323850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5A9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5-grey-3">
            <a:extLst xmlns:a="http://schemas.openxmlformats.org/drawingml/2006/main">
              <a:ext uri="{FF2B5EF4-FFF2-40B4-BE49-F238E27FC236}">
                <a16:creationId xmlns:a16="http://schemas.microsoft.com/office/drawing/2014/main" id="{5F0941E1-3F23-45A1-B888-5ACD2A327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495675"/>
            <a:ext cx="285750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5A9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5-grey-label">
            <a:extLst xmlns:a="http://schemas.openxmlformats.org/drawingml/2006/main">
              <a:ext uri="{FF2B5EF4-FFF2-40B4-BE49-F238E27FC236}">
                <a16:creationId xmlns:a16="http://schemas.microsoft.com/office/drawing/2014/main" id="{B11CA56E-1A25-48A8-836C-296154726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386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B616B"/>
                </a:solidFill>
              </a:defRPr>
            </a:pPr>
            <a:r>
              <a:rPr sz="1500" b="1">
                <a:solidFill>
                  <a:srgbClr val="5B616B"/>
                </a:solidFill>
              </a:rPr>
              <a:t>硬编码人类知识</a:t>
            </a:r>
          </a:p>
        </p:txBody>
      </p:sp>
      <p:sp>
        <p:nvSpPr>
          <p:cNvPr id="21" name="s5-grey-desc">
            <a:extLst xmlns:a="http://schemas.openxmlformats.org/drawingml/2006/main">
              <a:ext uri="{FF2B5EF4-FFF2-40B4-BE49-F238E27FC236}">
                <a16:creationId xmlns:a16="http://schemas.microsoft.com/office/drawing/2014/main" id="{7544D4CC-673D-4A79-BBEF-593089D9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720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16B"/>
                </a:solidFill>
              </a:defRPr>
            </a:pPr>
            <a:r>
              <a:rPr sz="1200" b="0">
                <a:solidFill>
                  <a:srgbClr val="5B616B"/>
                </a:solidFill>
              </a:rPr>
              <a:t>起步快，但很快平台化</a:t>
            </a:r>
          </a:p>
        </p:txBody>
      </p:sp>
      <p:sp>
        <p:nvSpPr>
          <p:cNvPr id="22" name="s5-red-1">
            <a:extLst xmlns:a="http://schemas.openxmlformats.org/drawingml/2006/main">
              <a:ext uri="{FF2B5EF4-FFF2-40B4-BE49-F238E27FC236}">
                <a16:creationId xmlns:a16="http://schemas.microsoft.com/office/drawing/2014/main" id="{B7BC6C72-D72B-43F8-BAF4-C2167E42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33925"/>
            <a:ext cx="19812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5-red-2">
            <a:extLst xmlns:a="http://schemas.openxmlformats.org/drawingml/2006/main">
              <a:ext uri="{FF2B5EF4-FFF2-40B4-BE49-F238E27FC236}">
                <a16:creationId xmlns:a16="http://schemas.microsoft.com/office/drawing/2014/main" id="{890F42B2-53DF-4516-8720-6616ABC6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05225"/>
            <a:ext cx="209550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5-red-3">
            <a:extLst xmlns:a="http://schemas.openxmlformats.org/drawingml/2006/main">
              <a:ext uri="{FF2B5EF4-FFF2-40B4-BE49-F238E27FC236}">
                <a16:creationId xmlns:a16="http://schemas.microsoft.com/office/drawing/2014/main" id="{EF847085-E844-4A51-B932-2EE51AA4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686050"/>
            <a:ext cx="361950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5-red-label">
            <a:extLst xmlns:a="http://schemas.openxmlformats.org/drawingml/2006/main">
              <a:ext uri="{FF2B5EF4-FFF2-40B4-BE49-F238E27FC236}">
                <a16:creationId xmlns:a16="http://schemas.microsoft.com/office/drawing/2014/main" id="{D0FC8426-9697-4622-81CE-5FA93C274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8597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C7000B"/>
                </a:solidFill>
              </a:defRPr>
            </a:pPr>
            <a:r>
              <a:rPr sz="1575" b="1">
                <a:solidFill>
                  <a:srgbClr val="C7000B"/>
                </a:solidFill>
              </a:rPr>
              <a:t>通用搜索与学习</a:t>
            </a:r>
          </a:p>
        </p:txBody>
      </p:sp>
      <p:sp>
        <p:nvSpPr>
          <p:cNvPr id="26" name="s5-red-desc">
            <a:extLst xmlns:a="http://schemas.openxmlformats.org/drawingml/2006/main">
              <a:ext uri="{FF2B5EF4-FFF2-40B4-BE49-F238E27FC236}">
                <a16:creationId xmlns:a16="http://schemas.microsoft.com/office/drawing/2014/main" id="{A52411D1-B446-4CF4-8C12-855BCAC12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447925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16B"/>
                </a:solidFill>
              </a:defRPr>
            </a:pPr>
            <a:r>
              <a:rPr sz="1200" b="0">
                <a:solidFill>
                  <a:srgbClr val="5B616B"/>
                </a:solidFill>
              </a:rPr>
              <a:t>初期慢，却能随计算与经验持续扩展</a:t>
            </a:r>
          </a:p>
        </p:txBody>
      </p:sp>
      <p:sp>
        <p:nvSpPr>
          <p:cNvPr id="27" name="s5-side-note">
            <a:extLst xmlns:a="http://schemas.openxmlformats.org/drawingml/2006/main">
              <a:ext uri="{FF2B5EF4-FFF2-40B4-BE49-F238E27FC236}">
                <a16:creationId xmlns:a16="http://schemas.microsoft.com/office/drawing/2014/main" id="{B906DC0C-55A1-4170-97A3-4E5F97EE6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152650"/>
            <a:ext cx="1638300" cy="2781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CEDEE"/>
            </a:solidFill>
            <a:prstDash val="solid"/>
          </a:ln>
        </p:spPr>
      </p:sp>
      <p:sp>
        <p:nvSpPr>
          <p:cNvPr id="28" name="s5-note-title">
            <a:extLst xmlns:a="http://schemas.openxmlformats.org/drawingml/2006/main">
              <a:ext uri="{FF2B5EF4-FFF2-40B4-BE49-F238E27FC236}">
                <a16:creationId xmlns:a16="http://schemas.microsoft.com/office/drawing/2014/main" id="{CF1BF1A6-7D5A-4021-A042-1518337D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381250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C7000B"/>
                </a:solidFill>
              </a:defRPr>
            </a:pPr>
            <a:r>
              <a:rPr sz="1425" b="1">
                <a:solidFill>
                  <a:srgbClr val="C7000B"/>
                </a:solidFill>
              </a:rPr>
              <a:t>历史启示</a:t>
            </a:r>
          </a:p>
        </p:txBody>
      </p:sp>
      <p:sp>
        <p:nvSpPr>
          <p:cNvPr id="29" name="s5-note-body">
            <a:extLst xmlns:a="http://schemas.openxmlformats.org/drawingml/2006/main">
              <a:ext uri="{FF2B5EF4-FFF2-40B4-BE49-F238E27FC236}">
                <a16:creationId xmlns:a16="http://schemas.microsoft.com/office/drawing/2014/main" id="{F6495EC0-BB28-4B6D-B13C-EE3B4A34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857500"/>
            <a:ext cx="1257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2329"/>
                </a:solidFill>
              </a:defRPr>
            </a:pPr>
            <a:r>
              <a:rPr sz="1575" b="1">
                <a:solidFill>
                  <a:srgbClr val="1F2329"/>
                </a:solidFill>
              </a:rPr>
              <a:t>棋类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75" b="1">
                <a:solidFill>
                  <a:srgbClr val="1F2329"/>
                </a:solidFill>
              </a:defRPr>
            </a:pPr>
            <a:r>
              <a:rPr sz="1575" b="1">
                <a:solidFill>
                  <a:srgbClr val="1F2329"/>
                </a:solidFill>
              </a:rPr>
              <a:t>视觉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75" b="1">
                <a:solidFill>
                  <a:srgbClr val="1F2329"/>
                </a:solidFill>
              </a:defRPr>
            </a:pPr>
            <a:r>
              <a:rPr sz="1575" b="1">
                <a:solidFill>
                  <a:srgbClr val="1F2329"/>
                </a:solidFill>
              </a:rPr>
              <a:t>语音</a:t>
            </a:r>
          </a:p>
        </p:txBody>
      </p:sp>
      <p:sp>
        <p:nvSpPr>
          <p:cNvPr id="30" name="s5-note-conclusion">
            <a:extLst xmlns:a="http://schemas.openxmlformats.org/drawingml/2006/main">
              <a:ext uri="{FF2B5EF4-FFF2-40B4-BE49-F238E27FC236}">
                <a16:creationId xmlns:a16="http://schemas.microsoft.com/office/drawing/2014/main" id="{66C21D71-DDE5-4A59-87B0-00B9E39F2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371975"/>
            <a:ext cx="1562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329"/>
                </a:solidFill>
              </a:defRPr>
            </a:pPr>
            <a:r>
              <a:rPr sz="1350" b="1">
                <a:solidFill>
                  <a:srgbClr val="1F2329"/>
                </a:solidFill>
              </a:rPr>
              <a:t>规则退场</a:t>
            </a:r>
          </a:p>
          <a:p xmlns:a="http://schemas.openxmlformats.org/drawingml/2006/main">
            <a:pPr algn="ctr">
              <a:defRPr sz="1350" b="1">
                <a:solidFill>
                  <a:srgbClr val="1F2329"/>
                </a:solidFill>
              </a:defRPr>
            </a:pPr>
            <a:r>
              <a:rPr sz="1350" b="1">
                <a:solidFill>
                  <a:srgbClr val="1F2329"/>
                </a:solidFill>
              </a:rPr>
              <a:t>学习接管</a:t>
            </a:r>
          </a:p>
        </p:txBody>
      </p:sp>
    </p:spTree>
    <p:extLst>
      <p:ext uri="{BB962C8B-B14F-4D97-AF65-F5344CB8AC3E}">
        <p14:creationId xmlns:p14="http://schemas.microsoft.com/office/powerpoint/2010/main" val="4771346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top-red-6">
            <a:extLst xmlns:a="http://schemas.openxmlformats.org/drawingml/2006/main">
              <a:ext uri="{FF2B5EF4-FFF2-40B4-BE49-F238E27FC236}">
                <a16:creationId xmlns:a16="http://schemas.microsoft.com/office/drawing/2014/main" id="{9E53E462-4275-4904-808D-AFA334D2A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black-6">
            <a:extLst xmlns:a="http://schemas.openxmlformats.org/drawingml/2006/main">
              <a:ext uri="{FF2B5EF4-FFF2-40B4-BE49-F238E27FC236}">
                <a16:creationId xmlns:a16="http://schemas.microsoft.com/office/drawing/2014/main" id="{1CCA0C8A-50B2-4831-8D11-D6DF0D61B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3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kicker-6">
            <a:extLst xmlns:a="http://schemas.openxmlformats.org/drawingml/2006/main">
              <a:ext uri="{FF2B5EF4-FFF2-40B4-BE49-F238E27FC236}">
                <a16:creationId xmlns:a16="http://schemas.microsoft.com/office/drawing/2014/main" id="{D4F714A5-D951-40BC-9B52-CC34F93C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B"/>
                </a:solidFill>
              </a:defRPr>
            </a:pPr>
            <a:r>
              <a:rPr sz="1200" b="1">
                <a:solidFill>
                  <a:srgbClr val="C7000B"/>
                </a:solidFill>
              </a:rPr>
              <a:t>SUTTON @ WAIC 2026</a:t>
            </a:r>
          </a:p>
        </p:txBody>
      </p:sp>
      <p:sp>
        <p:nvSpPr>
          <p:cNvPr id="4" name="section-6">
            <a:extLst xmlns:a="http://schemas.openxmlformats.org/drawingml/2006/main">
              <a:ext uri="{FF2B5EF4-FFF2-40B4-BE49-F238E27FC236}">
                <a16:creationId xmlns:a16="http://schemas.microsoft.com/office/drawing/2014/main" id="{92F6375A-5B3B-42BF-8229-16DB391B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385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616B"/>
                </a:solidFill>
              </a:defRPr>
            </a:pPr>
            <a:r>
              <a:rPr sz="1200" b="1">
                <a:solidFill>
                  <a:srgbClr val="5B616B"/>
                </a:solidFill>
              </a:rPr>
              <a:t>技术架构</a:t>
            </a:r>
          </a:p>
        </p:txBody>
      </p:sp>
      <p:sp>
        <p:nvSpPr>
          <p:cNvPr id="5" name="title-6">
            <a:extLst xmlns:a="http://schemas.openxmlformats.org/drawingml/2006/main">
              <a:ext uri="{FF2B5EF4-FFF2-40B4-BE49-F238E27FC236}">
                <a16:creationId xmlns:a16="http://schemas.microsoft.com/office/drawing/2014/main" id="{97238344-2F17-4B6B-95B2-1041B298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6200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2329"/>
                </a:solidFill>
              </a:defRPr>
            </a:pPr>
            <a:r>
              <a:rPr sz="3000" b="1">
                <a:solidFill>
                  <a:srgbClr val="1F2329"/>
                </a:solidFill>
              </a:rPr>
              <a:t>OaK 让智能体自己长出概念、技能与规划</a:t>
            </a:r>
          </a:p>
        </p:txBody>
      </p:sp>
      <p:sp>
        <p:nvSpPr>
          <p:cNvPr id="6" name="page-6">
            <a:extLst xmlns:a="http://schemas.openxmlformats.org/drawingml/2006/main">
              <a:ext uri="{FF2B5EF4-FFF2-40B4-BE49-F238E27FC236}">
                <a16:creationId xmlns:a16="http://schemas.microsoft.com/office/drawing/2014/main" id="{92D55DE3-1686-4803-9413-F2126F48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76275"/>
            <a:ext cx="647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150" b="1">
                <a:solidFill>
                  <a:srgbClr val="C7000B"/>
                </a:solidFill>
              </a:defRPr>
            </a:pPr>
            <a:r>
              <a:rPr sz="3150" b="1">
                <a:solidFill>
                  <a:srgbClr val="C7000B"/>
                </a:solidFill>
              </a:rPr>
              <a:t>06</a:t>
            </a:r>
          </a:p>
        </p:txBody>
      </p:sp>
      <p:sp>
        <p:nvSpPr>
          <p:cNvPr id="7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C57A2C71-6C95-434B-965B-43A66F09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ource-6">
            <a:extLst xmlns:a="http://schemas.openxmlformats.org/drawingml/2006/main">
              <a:ext uri="{FF2B5EF4-FFF2-40B4-BE49-F238E27FC236}">
                <a16:creationId xmlns:a16="http://schemas.microsoft.com/office/drawing/2014/main" id="{87DF346F-4CCD-447B-9961-0D7ED5C14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16B"/>
                </a:solidFill>
              </a:defRPr>
            </a:pPr>
            <a:r>
              <a:rPr sz="900" b="0">
                <a:solidFill>
                  <a:srgbClr val="5B616B"/>
                </a:solidFill>
              </a:rPr>
              <a:t>来源：WAIC 2026 思想者论坛；MIT CSAIL《The OaK Architecture》（2026-05-13）</a:t>
            </a:r>
          </a:p>
        </p:txBody>
      </p:sp>
      <p:sp>
        <p:nvSpPr>
          <p:cNvPr id="9" name="count-6">
            <a:extLst xmlns:a="http://schemas.openxmlformats.org/drawingml/2006/main">
              <a:ext uri="{FF2B5EF4-FFF2-40B4-BE49-F238E27FC236}">
                <a16:creationId xmlns:a16="http://schemas.microsoft.com/office/drawing/2014/main" id="{7D4AE015-DD6D-4804-860F-6A904BDD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86525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16B"/>
                </a:solidFill>
              </a:defRPr>
            </a:pPr>
            <a:r>
              <a:rPr sz="900" b="1">
                <a:solidFill>
                  <a:srgbClr val="5B616B"/>
                </a:solidFill>
              </a:rPr>
              <a:t>6 / 7</a:t>
            </a:r>
          </a:p>
        </p:txBody>
      </p:sp>
      <p:sp>
        <p:nvSpPr>
          <p:cNvPr id="10" name="s6-option-pill-shape">
            <a:extLst xmlns:a="http://schemas.openxmlformats.org/drawingml/2006/main">
              <a:ext uri="{FF2B5EF4-FFF2-40B4-BE49-F238E27FC236}">
                <a16:creationId xmlns:a16="http://schemas.microsoft.com/office/drawing/2014/main" id="{471E2719-6A61-48C4-865B-8DA5B48FC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6573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F23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6-option-pill-text">
            <a:extLst xmlns:a="http://schemas.openxmlformats.org/drawingml/2006/main">
              <a:ext uri="{FF2B5EF4-FFF2-40B4-BE49-F238E27FC236}">
                <a16:creationId xmlns:a16="http://schemas.microsoft.com/office/drawing/2014/main" id="{C1B87B59-531B-41E7-87FE-4642ECB0C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4305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OPTION · 选项</a:t>
            </a:r>
          </a:p>
        </p:txBody>
      </p:sp>
      <p:sp>
        <p:nvSpPr>
          <p:cNvPr id="12" name="s6-option-def">
            <a:extLst xmlns:a="http://schemas.openxmlformats.org/drawingml/2006/main">
              <a:ext uri="{FF2B5EF4-FFF2-40B4-BE49-F238E27FC236}">
                <a16:creationId xmlns:a16="http://schemas.microsoft.com/office/drawing/2014/main" id="{AAC6A14E-80FF-4A7D-BFB2-19022C462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1504950"/>
            <a:ext cx="3867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16B"/>
                </a:solidFill>
              </a:defRPr>
            </a:pPr>
            <a:r>
              <a:rPr sz="1350" b="0">
                <a:solidFill>
                  <a:srgbClr val="5B616B"/>
                </a:solidFill>
              </a:rPr>
              <a:t>持续一段时间的技能，而不是单步动作</a:t>
            </a:r>
          </a:p>
        </p:txBody>
      </p:sp>
      <p:sp>
        <p:nvSpPr>
          <p:cNvPr id="13" name="s6-knowledge-pill-shape">
            <a:extLst xmlns:a="http://schemas.openxmlformats.org/drawingml/2006/main">
              <a:ext uri="{FF2B5EF4-FFF2-40B4-BE49-F238E27FC236}">
                <a16:creationId xmlns:a16="http://schemas.microsoft.com/office/drawing/2014/main" id="{7363EF90-A574-4AB2-8C5F-6087B7E5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495425"/>
            <a:ext cx="20383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6-knowledge-pill-text">
            <a:extLst xmlns:a="http://schemas.openxmlformats.org/drawingml/2006/main">
              <a:ext uri="{FF2B5EF4-FFF2-40B4-BE49-F238E27FC236}">
                <a16:creationId xmlns:a16="http://schemas.microsoft.com/office/drawing/2014/main" id="{2DC412F0-AD24-4F3C-9C4D-66245388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54305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KNOWLEDGE · 知识</a:t>
            </a:r>
          </a:p>
        </p:txBody>
      </p:sp>
      <p:sp>
        <p:nvSpPr>
          <p:cNvPr id="15" name="s6-knowledge-def">
            <a:extLst xmlns:a="http://schemas.openxmlformats.org/drawingml/2006/main">
              <a:ext uri="{FF2B5EF4-FFF2-40B4-BE49-F238E27FC236}">
                <a16:creationId xmlns:a16="http://schemas.microsoft.com/office/drawing/2014/main" id="{9BC253DD-BF58-4D6A-940A-1ED7DEC36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5049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16B"/>
                </a:solidFill>
              </a:defRPr>
            </a:pPr>
            <a:r>
              <a:rPr sz="1350" b="0">
                <a:solidFill>
                  <a:srgbClr val="5B616B"/>
                </a:solidFill>
              </a:rPr>
              <a:t>对技能结果的高层预测与世界模型</a:t>
            </a:r>
          </a:p>
        </p:txBody>
      </p:sp>
      <p:sp>
        <p:nvSpPr>
          <p:cNvPr id="16" name="s6-connector-0">
            <a:extLst xmlns:a="http://schemas.openxmlformats.org/drawingml/2006/main">
              <a:ext uri="{FF2B5EF4-FFF2-40B4-BE49-F238E27FC236}">
                <a16:creationId xmlns:a16="http://schemas.microsoft.com/office/drawing/2014/main" id="{374AF9F9-46EA-47AD-95AD-2D26AA14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648075"/>
            <a:ext cx="6858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CED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6-connector-1">
            <a:extLst xmlns:a="http://schemas.openxmlformats.org/drawingml/2006/main">
              <a:ext uri="{FF2B5EF4-FFF2-40B4-BE49-F238E27FC236}">
                <a16:creationId xmlns:a16="http://schemas.microsoft.com/office/drawing/2014/main" id="{4DA5A720-DE1A-4488-87A8-7905283C6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48075"/>
            <a:ext cx="6858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CED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6-connector-2">
            <a:extLst xmlns:a="http://schemas.openxmlformats.org/drawingml/2006/main">
              <a:ext uri="{FF2B5EF4-FFF2-40B4-BE49-F238E27FC236}">
                <a16:creationId xmlns:a16="http://schemas.microsoft.com/office/drawing/2014/main" id="{F3C173B1-B38B-4E40-A1FE-458603CFE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48075"/>
            <a:ext cx="6858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6-connector-3">
            <a:extLst xmlns:a="http://schemas.openxmlformats.org/drawingml/2006/main">
              <a:ext uri="{FF2B5EF4-FFF2-40B4-BE49-F238E27FC236}">
                <a16:creationId xmlns:a16="http://schemas.microsoft.com/office/drawing/2014/main" id="{954631D7-E3F8-46D6-AA17-345477E1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48075"/>
            <a:ext cx="6858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CED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6-step-0">
            <a:extLst xmlns:a="http://schemas.openxmlformats.org/drawingml/2006/main">
              <a:ext uri="{FF2B5EF4-FFF2-40B4-BE49-F238E27FC236}">
                <a16:creationId xmlns:a16="http://schemas.microsoft.com/office/drawing/2014/main" id="{39866DEE-601A-4355-8F46-E092A68CB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676400" cy="196215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CEDEE"/>
            </a:solidFill>
            <a:prstDash val="solid"/>
          </a:ln>
        </p:spPr>
      </p:sp>
      <p:sp>
        <p:nvSpPr>
          <p:cNvPr id="21" name="s6-step-num-0">
            <a:extLst xmlns:a="http://schemas.openxmlformats.org/drawingml/2006/main">
              <a:ext uri="{FF2B5EF4-FFF2-40B4-BE49-F238E27FC236}">
                <a16:creationId xmlns:a16="http://schemas.microsoft.com/office/drawing/2014/main" id="{F6238698-30F4-4B3F-B42A-0946B380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3847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7000B"/>
                </a:solidFill>
              </a:defRPr>
            </a:pPr>
            <a:r>
              <a:rPr sz="1725" b="1">
                <a:solidFill>
                  <a:srgbClr val="C7000B"/>
                </a:solidFill>
              </a:rPr>
              <a:t>01</a:t>
            </a:r>
          </a:p>
        </p:txBody>
      </p:sp>
      <p:sp>
        <p:nvSpPr>
          <p:cNvPr id="22" name="s6-step-title-0">
            <a:extLst xmlns:a="http://schemas.openxmlformats.org/drawingml/2006/main">
              <a:ext uri="{FF2B5EF4-FFF2-40B4-BE49-F238E27FC236}">
                <a16:creationId xmlns:a16="http://schemas.microsoft.com/office/drawing/2014/main" id="{3695DE4E-44F2-4744-B5FF-8B15E955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3377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329"/>
                </a:solidFill>
              </a:defRPr>
            </a:pPr>
            <a:r>
              <a:rPr sz="1650" b="1">
                <a:solidFill>
                  <a:srgbClr val="1F2329"/>
                </a:solidFill>
              </a:rPr>
              <a:t>创造特征</a:t>
            </a:r>
          </a:p>
        </p:txBody>
      </p:sp>
      <p:sp>
        <p:nvSpPr>
          <p:cNvPr id="23" name="s6-step-desc-0">
            <a:extLst xmlns:a="http://schemas.openxmlformats.org/drawingml/2006/main">
              <a:ext uri="{FF2B5EF4-FFF2-40B4-BE49-F238E27FC236}">
                <a16:creationId xmlns:a16="http://schemas.microsoft.com/office/drawing/2014/main" id="{05181831-139C-48F3-960F-6D402029A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38600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16B"/>
                </a:solidFill>
              </a:defRPr>
            </a:pPr>
            <a:r>
              <a:rPr sz="1200" b="0">
                <a:solidFill>
                  <a:srgbClr val="5B616B"/>
                </a:solidFill>
              </a:rPr>
              <a:t>形成一个新的状态概念</a:t>
            </a:r>
          </a:p>
        </p:txBody>
      </p:sp>
      <p:sp>
        <p:nvSpPr>
          <p:cNvPr id="24" name="s6-step-1">
            <a:extLst xmlns:a="http://schemas.openxmlformats.org/drawingml/2006/main">
              <a:ext uri="{FF2B5EF4-FFF2-40B4-BE49-F238E27FC236}">
                <a16:creationId xmlns:a16="http://schemas.microsoft.com/office/drawing/2014/main" id="{07F3673A-BEDE-43FE-9055-C26CEF93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19400"/>
            <a:ext cx="1676400" cy="196215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CEDEE"/>
            </a:solidFill>
            <a:prstDash val="solid"/>
          </a:ln>
        </p:spPr>
      </p:sp>
      <p:sp>
        <p:nvSpPr>
          <p:cNvPr id="25" name="s6-step-num-1">
            <a:extLst xmlns:a="http://schemas.openxmlformats.org/drawingml/2006/main">
              <a:ext uri="{FF2B5EF4-FFF2-40B4-BE49-F238E27FC236}">
                <a16:creationId xmlns:a16="http://schemas.microsoft.com/office/drawing/2014/main" id="{C689F7C2-D5C0-4C5C-BE42-2D71871A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3847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7000B"/>
                </a:solidFill>
              </a:defRPr>
            </a:pPr>
            <a:r>
              <a:rPr sz="1725" b="1">
                <a:solidFill>
                  <a:srgbClr val="C7000B"/>
                </a:solidFill>
              </a:rPr>
              <a:t>02</a:t>
            </a:r>
          </a:p>
        </p:txBody>
      </p:sp>
      <p:sp>
        <p:nvSpPr>
          <p:cNvPr id="26" name="s6-step-title-1">
            <a:extLst xmlns:a="http://schemas.openxmlformats.org/drawingml/2006/main">
              <a:ext uri="{FF2B5EF4-FFF2-40B4-BE49-F238E27FC236}">
                <a16:creationId xmlns:a16="http://schemas.microsoft.com/office/drawing/2014/main" id="{FE6944E5-6D67-44E4-A3AF-E39A21BB1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3377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329"/>
                </a:solidFill>
              </a:defRPr>
            </a:pPr>
            <a:r>
              <a:rPr sz="1650" b="1">
                <a:solidFill>
                  <a:srgbClr val="1F2329"/>
                </a:solidFill>
              </a:rPr>
              <a:t>提出子问题</a:t>
            </a:r>
          </a:p>
        </p:txBody>
      </p:sp>
      <p:sp>
        <p:nvSpPr>
          <p:cNvPr id="27" name="s6-step-desc-1">
            <a:extLst xmlns:a="http://schemas.openxmlformats.org/drawingml/2006/main">
              <a:ext uri="{FF2B5EF4-FFF2-40B4-BE49-F238E27FC236}">
                <a16:creationId xmlns:a16="http://schemas.microsoft.com/office/drawing/2014/main" id="{BF940C77-E981-48F3-B099-CA7C5B82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38600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16B"/>
                </a:solidFill>
              </a:defRPr>
            </a:pPr>
            <a:r>
              <a:rPr sz="1200" b="0">
                <a:solidFill>
                  <a:srgbClr val="5B616B"/>
                </a:solidFill>
              </a:rPr>
              <a:t>把概念转成可追求目标</a:t>
            </a:r>
          </a:p>
        </p:txBody>
      </p:sp>
      <p:sp>
        <p:nvSpPr>
          <p:cNvPr id="28" name="s6-step-2">
            <a:extLst xmlns:a="http://schemas.openxmlformats.org/drawingml/2006/main">
              <a:ext uri="{FF2B5EF4-FFF2-40B4-BE49-F238E27FC236}">
                <a16:creationId xmlns:a16="http://schemas.microsoft.com/office/drawing/2014/main" id="{73069DAE-7D15-46EA-A3CA-AD39B0617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19400"/>
            <a:ext cx="1676400" cy="196215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1F232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9" name="s6-step-num-2">
            <a:extLst xmlns:a="http://schemas.openxmlformats.org/drawingml/2006/main">
              <a:ext uri="{FF2B5EF4-FFF2-40B4-BE49-F238E27FC236}">
                <a16:creationId xmlns:a16="http://schemas.microsoft.com/office/drawing/2014/main" id="{97A371A6-BB5A-4C8F-960D-10B6C7F1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3847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30" name="s6-step-title-2">
            <a:extLst xmlns:a="http://schemas.openxmlformats.org/drawingml/2006/main">
              <a:ext uri="{FF2B5EF4-FFF2-40B4-BE49-F238E27FC236}">
                <a16:creationId xmlns:a16="http://schemas.microsoft.com/office/drawing/2014/main" id="{B16FB658-8D44-4F61-AAEE-9FABD6174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53377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学习选项</a:t>
            </a:r>
          </a:p>
        </p:txBody>
      </p:sp>
      <p:sp>
        <p:nvSpPr>
          <p:cNvPr id="31" name="s6-step-desc-2">
            <a:extLst xmlns:a="http://schemas.openxmlformats.org/drawingml/2006/main">
              <a:ext uri="{FF2B5EF4-FFF2-40B4-BE49-F238E27FC236}">
                <a16:creationId xmlns:a16="http://schemas.microsoft.com/office/drawing/2014/main" id="{82F2B55E-95E7-43FE-96CC-0C9BD68E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038600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获得实现目标的持续技能</a:t>
            </a:r>
          </a:p>
        </p:txBody>
      </p:sp>
      <p:sp>
        <p:nvSpPr>
          <p:cNvPr id="32" name="s6-step-3">
            <a:extLst xmlns:a="http://schemas.openxmlformats.org/drawingml/2006/main">
              <a:ext uri="{FF2B5EF4-FFF2-40B4-BE49-F238E27FC236}">
                <a16:creationId xmlns:a16="http://schemas.microsoft.com/office/drawing/2014/main" id="{96CA3649-5DB0-425D-B314-880450681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19400"/>
            <a:ext cx="1676400" cy="196215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CEDEE"/>
            </a:solidFill>
            <a:prstDash val="solid"/>
          </a:ln>
        </p:spPr>
      </p:sp>
      <p:sp>
        <p:nvSpPr>
          <p:cNvPr id="33" name="s6-step-num-3">
            <a:extLst xmlns:a="http://schemas.openxmlformats.org/drawingml/2006/main">
              <a:ext uri="{FF2B5EF4-FFF2-40B4-BE49-F238E27FC236}">
                <a16:creationId xmlns:a16="http://schemas.microsoft.com/office/drawing/2014/main" id="{DE3B21ED-A04D-40AE-B5E6-B1A614A4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3847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7000B"/>
                </a:solidFill>
              </a:defRPr>
            </a:pPr>
            <a:r>
              <a:rPr sz="1725" b="1">
                <a:solidFill>
                  <a:srgbClr val="C7000B"/>
                </a:solidFill>
              </a:rPr>
              <a:t>04</a:t>
            </a:r>
          </a:p>
        </p:txBody>
      </p:sp>
      <p:sp>
        <p:nvSpPr>
          <p:cNvPr id="34" name="s6-step-title-3">
            <a:extLst xmlns:a="http://schemas.openxmlformats.org/drawingml/2006/main">
              <a:ext uri="{FF2B5EF4-FFF2-40B4-BE49-F238E27FC236}">
                <a16:creationId xmlns:a16="http://schemas.microsoft.com/office/drawing/2014/main" id="{979058E2-BA49-4B8B-B308-EFC7A6B85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3377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329"/>
                </a:solidFill>
              </a:defRPr>
            </a:pPr>
            <a:r>
              <a:rPr sz="1650" b="1">
                <a:solidFill>
                  <a:srgbClr val="1F2329"/>
                </a:solidFill>
              </a:rPr>
              <a:t>学习模型</a:t>
            </a:r>
          </a:p>
        </p:txBody>
      </p:sp>
      <p:sp>
        <p:nvSpPr>
          <p:cNvPr id="35" name="s6-step-desc-3">
            <a:extLst xmlns:a="http://schemas.openxmlformats.org/drawingml/2006/main">
              <a:ext uri="{FF2B5EF4-FFF2-40B4-BE49-F238E27FC236}">
                <a16:creationId xmlns:a16="http://schemas.microsoft.com/office/drawing/2014/main" id="{F80AA08C-A9FE-4744-B4CA-E69974170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38600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16B"/>
                </a:solidFill>
              </a:defRPr>
            </a:pPr>
            <a:r>
              <a:rPr sz="1200" b="0">
                <a:solidFill>
                  <a:srgbClr val="5B616B"/>
                </a:solidFill>
              </a:rPr>
              <a:t>预测该技能如何改变世界</a:t>
            </a:r>
          </a:p>
        </p:txBody>
      </p:sp>
      <p:sp>
        <p:nvSpPr>
          <p:cNvPr id="36" name="s6-step-4">
            <a:extLst xmlns:a="http://schemas.openxmlformats.org/drawingml/2006/main">
              <a:ext uri="{FF2B5EF4-FFF2-40B4-BE49-F238E27FC236}">
                <a16:creationId xmlns:a16="http://schemas.microsoft.com/office/drawing/2014/main" id="{9650E356-108B-42B7-8562-4DC5F0FF5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819400"/>
            <a:ext cx="1676400" cy="196215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7" name="s6-step-num-4">
            <a:extLst xmlns:a="http://schemas.openxmlformats.org/drawingml/2006/main">
              <a:ext uri="{FF2B5EF4-FFF2-40B4-BE49-F238E27FC236}">
                <a16:creationId xmlns:a16="http://schemas.microsoft.com/office/drawing/2014/main" id="{A7E45ADB-DC70-4EF1-B538-7F69EB89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3847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8" name="s6-step-title-4">
            <a:extLst xmlns:a="http://schemas.openxmlformats.org/drawingml/2006/main">
              <a:ext uri="{FF2B5EF4-FFF2-40B4-BE49-F238E27FC236}">
                <a16:creationId xmlns:a16="http://schemas.microsoft.com/office/drawing/2014/main" id="{305BF858-F8DA-48E7-A2A8-AF158EEB6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3377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高层规划</a:t>
            </a:r>
          </a:p>
        </p:txBody>
      </p:sp>
      <p:sp>
        <p:nvSpPr>
          <p:cNvPr id="39" name="s6-step-desc-4">
            <a:extLst xmlns:a="http://schemas.openxmlformats.org/drawingml/2006/main">
              <a:ext uri="{FF2B5EF4-FFF2-40B4-BE49-F238E27FC236}">
                <a16:creationId xmlns:a16="http://schemas.microsoft.com/office/drawing/2014/main" id="{BDC1E25B-461B-4044-8137-7FE9D278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38600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用模型组合更长远行动</a:t>
            </a:r>
          </a:p>
        </p:txBody>
      </p:sp>
      <p:sp>
        <p:nvSpPr>
          <p:cNvPr id="40" name="s6-worldmodel">
            <a:extLst xmlns:a="http://schemas.openxmlformats.org/drawingml/2006/main">
              <a:ext uri="{FF2B5EF4-FFF2-40B4-BE49-F238E27FC236}">
                <a16:creationId xmlns:a16="http://schemas.microsoft.com/office/drawing/2014/main" id="{43F4D57C-F812-48BC-9B99-A9DE8273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0175"/>
            <a:ext cx="104394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CEDEE"/>
            </a:solidFill>
            <a:prstDash val="solid"/>
          </a:ln>
        </p:spPr>
      </p:sp>
      <p:sp>
        <p:nvSpPr>
          <p:cNvPr id="41" name="s6-low-model">
            <a:extLst xmlns:a="http://schemas.openxmlformats.org/drawingml/2006/main">
              <a:ext uri="{FF2B5EF4-FFF2-40B4-BE49-F238E27FC236}">
                <a16:creationId xmlns:a16="http://schemas.microsoft.com/office/drawing/2014/main" id="{9D83D970-7EC4-4A67-9E60-7B55FE34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81625"/>
            <a:ext cx="481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16B"/>
                </a:solidFill>
              </a:defRPr>
            </a:pPr>
            <a:r>
              <a:rPr sz="1350" b="0">
                <a:solidFill>
                  <a:srgbClr val="5B616B"/>
                </a:solidFill>
              </a:rPr>
              <a:t>世界模型不只回答：物体下一秒在哪里？</a:t>
            </a:r>
          </a:p>
        </p:txBody>
      </p:sp>
      <p:sp>
        <p:nvSpPr>
          <p:cNvPr id="42" name="s6-world-arrow">
            <a:extLst xmlns:a="http://schemas.openxmlformats.org/drawingml/2006/main">
              <a:ext uri="{FF2B5EF4-FFF2-40B4-BE49-F238E27FC236}">
                <a16:creationId xmlns:a16="http://schemas.microsoft.com/office/drawing/2014/main" id="{6C2F991E-FE03-438E-951F-5C54F1BE6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448300"/>
            <a:ext cx="9525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s6-high-model">
            <a:extLst xmlns:a="http://schemas.openxmlformats.org/drawingml/2006/main">
              <a:ext uri="{FF2B5EF4-FFF2-40B4-BE49-F238E27FC236}">
                <a16:creationId xmlns:a16="http://schemas.microsoft.com/office/drawing/2014/main" id="{19EDFD9C-BE22-4C03-B6CB-263DCF837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343525"/>
            <a:ext cx="4143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F2329"/>
                </a:solidFill>
              </a:defRPr>
            </a:pPr>
            <a:r>
              <a:rPr sz="1500" b="1">
                <a:solidFill>
                  <a:srgbClr val="1F2329"/>
                </a:solidFill>
              </a:rPr>
              <a:t>还要逐步回答：接受这份工作后，我会更幸福吗？</a:t>
            </a:r>
          </a:p>
        </p:txBody>
      </p:sp>
    </p:spTree>
    <p:extLst>
      <p:ext uri="{BB962C8B-B14F-4D97-AF65-F5344CB8AC3E}">
        <p14:creationId xmlns:p14="http://schemas.microsoft.com/office/powerpoint/2010/main" val="6113487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op-red-7">
            <a:extLst xmlns:a="http://schemas.openxmlformats.org/drawingml/2006/main">
              <a:ext uri="{FF2B5EF4-FFF2-40B4-BE49-F238E27FC236}">
                <a16:creationId xmlns:a16="http://schemas.microsoft.com/office/drawing/2014/main" id="{14A67291-C4CF-48B7-921E-CBBCA2E7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black-7">
            <a:extLst xmlns:a="http://schemas.openxmlformats.org/drawingml/2006/main">
              <a:ext uri="{FF2B5EF4-FFF2-40B4-BE49-F238E27FC236}">
                <a16:creationId xmlns:a16="http://schemas.microsoft.com/office/drawing/2014/main" id="{974C4553-54CB-4A57-B159-1195B9BF0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3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kicker-7">
            <a:extLst xmlns:a="http://schemas.openxmlformats.org/drawingml/2006/main">
              <a:ext uri="{FF2B5EF4-FFF2-40B4-BE49-F238E27FC236}">
                <a16:creationId xmlns:a16="http://schemas.microsoft.com/office/drawing/2014/main" id="{FDFE6250-5CF1-4C96-948A-69DC9DDA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B"/>
                </a:solidFill>
              </a:defRPr>
            </a:pPr>
            <a:r>
              <a:rPr sz="1200" b="1">
                <a:solidFill>
                  <a:srgbClr val="C7000B"/>
                </a:solidFill>
              </a:rPr>
              <a:t>SUTTON @ WAIC 2026</a:t>
            </a:r>
          </a:p>
        </p:txBody>
      </p:sp>
      <p:sp>
        <p:nvSpPr>
          <p:cNvPr id="4" name="section-7">
            <a:extLst xmlns:a="http://schemas.openxmlformats.org/drawingml/2006/main">
              <a:ext uri="{FF2B5EF4-FFF2-40B4-BE49-F238E27FC236}">
                <a16:creationId xmlns:a16="http://schemas.microsoft.com/office/drawing/2014/main" id="{705B1A0C-ED72-4E29-8A42-5CA85823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385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616B"/>
                </a:solidFill>
              </a:defRPr>
            </a:pPr>
            <a:r>
              <a:rPr sz="1200" b="1">
                <a:solidFill>
                  <a:srgbClr val="5B616B"/>
                </a:solidFill>
              </a:rPr>
              <a:t>现实约束</a:t>
            </a:r>
          </a:p>
        </p:txBody>
      </p:sp>
      <p:sp>
        <p:nvSpPr>
          <p:cNvPr id="5" name="title-7">
            <a:extLst xmlns:a="http://schemas.openxmlformats.org/drawingml/2006/main">
              <a:ext uri="{FF2B5EF4-FFF2-40B4-BE49-F238E27FC236}">
                <a16:creationId xmlns:a16="http://schemas.microsoft.com/office/drawing/2014/main" id="{30C22805-4765-45CF-B378-1F3CFBEA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6200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2329"/>
                </a:solidFill>
              </a:defRPr>
            </a:pPr>
            <a:r>
              <a:rPr sz="3000" b="1">
                <a:solidFill>
                  <a:srgbClr val="1F2329"/>
                </a:solidFill>
              </a:rPr>
              <a:t>路径已经清晰，但距离大规模落地仍有硬骨头</a:t>
            </a:r>
          </a:p>
        </p:txBody>
      </p:sp>
      <p:sp>
        <p:nvSpPr>
          <p:cNvPr id="6" name="page-7">
            <a:extLst xmlns:a="http://schemas.openxmlformats.org/drawingml/2006/main">
              <a:ext uri="{FF2B5EF4-FFF2-40B4-BE49-F238E27FC236}">
                <a16:creationId xmlns:a16="http://schemas.microsoft.com/office/drawing/2014/main" id="{BB01C149-15F3-48A7-B049-C657CE2A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76275"/>
            <a:ext cx="647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150" b="1">
                <a:solidFill>
                  <a:srgbClr val="C7000B"/>
                </a:solidFill>
              </a:defRPr>
            </a:pPr>
            <a:r>
              <a:rPr sz="3150" b="1">
                <a:solidFill>
                  <a:srgbClr val="C7000B"/>
                </a:solidFill>
              </a:rPr>
              <a:t>07</a:t>
            </a:r>
          </a:p>
        </p:txBody>
      </p:sp>
      <p:sp>
        <p:nvSpPr>
          <p:cNvPr id="7" name="footer-rule-7">
            <a:extLst xmlns:a="http://schemas.openxmlformats.org/drawingml/2006/main">
              <a:ext uri="{FF2B5EF4-FFF2-40B4-BE49-F238E27FC236}">
                <a16:creationId xmlns:a16="http://schemas.microsoft.com/office/drawing/2014/main" id="{360D5D03-2495-4D28-A5A8-108A867F3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ource-7">
            <a:extLst xmlns:a="http://schemas.openxmlformats.org/drawingml/2006/main">
              <a:ext uri="{FF2B5EF4-FFF2-40B4-BE49-F238E27FC236}">
                <a16:creationId xmlns:a16="http://schemas.microsoft.com/office/drawing/2014/main" id="{FCE860F1-5FAB-455E-8C5F-CEF16D702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16B"/>
                </a:solidFill>
              </a:defRPr>
            </a:pPr>
            <a:r>
              <a:rPr sz="900" b="0">
                <a:solidFill>
                  <a:srgbClr val="5B616B"/>
                </a:solidFill>
              </a:rPr>
              <a:t>来源：WAIC 2026 思想者论坛与会后采访；MIT CSAIL OaK 技术说明</a:t>
            </a:r>
          </a:p>
        </p:txBody>
      </p:sp>
      <p:sp>
        <p:nvSpPr>
          <p:cNvPr id="9" name="count-7">
            <a:extLst xmlns:a="http://schemas.openxmlformats.org/drawingml/2006/main">
              <a:ext uri="{FF2B5EF4-FFF2-40B4-BE49-F238E27FC236}">
                <a16:creationId xmlns:a16="http://schemas.microsoft.com/office/drawing/2014/main" id="{D7DC647E-F8B2-4B3C-BD92-560EE2D72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86525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16B"/>
                </a:solidFill>
              </a:defRPr>
            </a:pPr>
            <a:r>
              <a:rPr sz="900" b="1">
                <a:solidFill>
                  <a:srgbClr val="5B616B"/>
                </a:solidFill>
              </a:rPr>
              <a:t>7 / 7</a:t>
            </a:r>
          </a:p>
        </p:txBody>
      </p:sp>
      <p:sp>
        <p:nvSpPr>
          <p:cNvPr id="10" name="s7-subtitle">
            <a:extLst xmlns:a="http://schemas.openxmlformats.org/drawingml/2006/main">
              <a:ext uri="{FF2B5EF4-FFF2-40B4-BE49-F238E27FC236}">
                <a16:creationId xmlns:a16="http://schemas.microsoft.com/office/drawing/2014/main" id="{DED051F5-4457-4302-91FE-D89FC58FD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16B"/>
                </a:solidFill>
              </a:defRPr>
            </a:pPr>
            <a:r>
              <a:rPr sz="1500" b="0">
                <a:solidFill>
                  <a:srgbClr val="5B616B"/>
                </a:solidFill>
              </a:rPr>
              <a:t>OaK 目前仍是架构愿景，核心挑战是让系统长期、开放且安全地学习。</a:t>
            </a:r>
          </a:p>
        </p:txBody>
      </p:sp>
      <p:sp>
        <p:nvSpPr>
          <p:cNvPr id="11" name="s7-spoke-top">
            <a:extLst xmlns:a="http://schemas.openxmlformats.org/drawingml/2006/main">
              <a:ext uri="{FF2B5EF4-FFF2-40B4-BE49-F238E27FC236}">
                <a16:creationId xmlns:a16="http://schemas.microsoft.com/office/drawing/2014/main" id="{6F919F49-9666-41F0-86E3-FE1AA0BE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447925"/>
            <a:ext cx="285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7-spoke-bottom">
            <a:extLst xmlns:a="http://schemas.openxmlformats.org/drawingml/2006/main">
              <a:ext uri="{FF2B5EF4-FFF2-40B4-BE49-F238E27FC236}">
                <a16:creationId xmlns:a16="http://schemas.microsoft.com/office/drawing/2014/main" id="{270752B7-D7C5-4E23-90E7-328273AA3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562475"/>
            <a:ext cx="285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7-spoke-left">
            <a:extLst xmlns:a="http://schemas.openxmlformats.org/drawingml/2006/main">
              <a:ext uri="{FF2B5EF4-FFF2-40B4-BE49-F238E27FC236}">
                <a16:creationId xmlns:a16="http://schemas.microsoft.com/office/drawing/2014/main" id="{4345F047-124C-41A5-9AEE-81D1B8FF3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800475"/>
            <a:ext cx="904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7-spoke-right">
            <a:extLst xmlns:a="http://schemas.openxmlformats.org/drawingml/2006/main">
              <a:ext uri="{FF2B5EF4-FFF2-40B4-BE49-F238E27FC236}">
                <a16:creationId xmlns:a16="http://schemas.microsoft.com/office/drawing/2014/main" id="{205D6DA9-ECA6-42E6-9897-87DD4F1AA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800475"/>
            <a:ext cx="904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7-center">
            <a:extLst xmlns:a="http://schemas.openxmlformats.org/drawingml/2006/main">
              <a:ext uri="{FF2B5EF4-FFF2-40B4-BE49-F238E27FC236}">
                <a16:creationId xmlns:a16="http://schemas.microsoft.com/office/drawing/2014/main" id="{395D2259-03D2-457F-81BB-7ECBEFD5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14675"/>
            <a:ext cx="2190750" cy="1409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7-center-a">
            <a:extLst xmlns:a="http://schemas.openxmlformats.org/drawingml/2006/main">
              <a:ext uri="{FF2B5EF4-FFF2-40B4-BE49-F238E27FC236}">
                <a16:creationId xmlns:a16="http://schemas.microsoft.com/office/drawing/2014/main" id="{B6622990-91F8-4B6B-A427-B20CFF03D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00425"/>
            <a:ext cx="1390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持续学习</a:t>
            </a:r>
          </a:p>
        </p:txBody>
      </p:sp>
      <p:sp>
        <p:nvSpPr>
          <p:cNvPr id="17" name="s7-center-b">
            <a:extLst xmlns:a="http://schemas.openxmlformats.org/drawingml/2006/main">
              <a:ext uri="{FF2B5EF4-FFF2-40B4-BE49-F238E27FC236}">
                <a16:creationId xmlns:a16="http://schemas.microsoft.com/office/drawing/2014/main" id="{704151D0-444D-4710-B6A7-FD737D9E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481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OPEN-ENDED</a:t>
            </a:r>
          </a:p>
        </p:txBody>
      </p:sp>
      <p:sp>
        <p:nvSpPr>
          <p:cNvPr id="18" name="s7-box-0">
            <a:extLst xmlns:a="http://schemas.openxmlformats.org/drawingml/2006/main">
              <a:ext uri="{FF2B5EF4-FFF2-40B4-BE49-F238E27FC236}">
                <a16:creationId xmlns:a16="http://schemas.microsoft.com/office/drawing/2014/main" id="{7F641BC0-3239-4AC3-BD69-2BF24FC3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952625"/>
            <a:ext cx="32194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CEDEE"/>
            </a:solidFill>
            <a:prstDash val="solid"/>
          </a:ln>
        </p:spPr>
      </p:sp>
      <p:sp>
        <p:nvSpPr>
          <p:cNvPr id="19" name="s7-box-title-0">
            <a:extLst xmlns:a="http://schemas.openxmlformats.org/drawingml/2006/main">
              <a:ext uri="{FF2B5EF4-FFF2-40B4-BE49-F238E27FC236}">
                <a16:creationId xmlns:a16="http://schemas.microsoft.com/office/drawing/2014/main" id="{F416300E-DCF7-4224-9ED8-5798560D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95500"/>
            <a:ext cx="2838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329"/>
                </a:solidFill>
              </a:defRPr>
            </a:pPr>
            <a:r>
              <a:rPr sz="1575" b="1">
                <a:solidFill>
                  <a:srgbClr val="1F2329"/>
                </a:solidFill>
              </a:rPr>
              <a:t>灾难性遗忘</a:t>
            </a:r>
          </a:p>
        </p:txBody>
      </p:sp>
      <p:sp>
        <p:nvSpPr>
          <p:cNvPr id="20" name="s7-box-body-0">
            <a:extLst xmlns:a="http://schemas.openxmlformats.org/drawingml/2006/main">
              <a:ext uri="{FF2B5EF4-FFF2-40B4-BE49-F238E27FC236}">
                <a16:creationId xmlns:a16="http://schemas.microsoft.com/office/drawing/2014/main" id="{ED10FCA1-33AA-4001-9166-A3B0620D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447925"/>
            <a:ext cx="2838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16B"/>
                </a:solidFill>
              </a:defRPr>
            </a:pPr>
            <a:r>
              <a:rPr sz="1200" b="0">
                <a:solidFill>
                  <a:srgbClr val="5B616B"/>
                </a:solidFill>
              </a:rPr>
              <a:t>学习新能力时破坏旧能力</a:t>
            </a:r>
          </a:p>
        </p:txBody>
      </p:sp>
      <p:sp>
        <p:nvSpPr>
          <p:cNvPr id="21" name="s7-box-1">
            <a:extLst xmlns:a="http://schemas.openxmlformats.org/drawingml/2006/main">
              <a:ext uri="{FF2B5EF4-FFF2-40B4-BE49-F238E27FC236}">
                <a16:creationId xmlns:a16="http://schemas.microsoft.com/office/drawing/2014/main" id="{D8F86DBF-DC1B-4494-BE38-F82AC065C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31051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CEDEE"/>
            </a:solidFill>
            <a:prstDash val="solid"/>
          </a:ln>
        </p:spPr>
      </p:sp>
      <p:sp>
        <p:nvSpPr>
          <p:cNvPr id="22" name="s7-box-title-1">
            <a:extLst xmlns:a="http://schemas.openxmlformats.org/drawingml/2006/main">
              <a:ext uri="{FF2B5EF4-FFF2-40B4-BE49-F238E27FC236}">
                <a16:creationId xmlns:a16="http://schemas.microsoft.com/office/drawing/2014/main" id="{4A49A8B4-608B-40FF-9DC6-DAB6B41E2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95675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329"/>
                </a:solidFill>
              </a:defRPr>
            </a:pPr>
            <a:r>
              <a:rPr sz="1575" b="1">
                <a:solidFill>
                  <a:srgbClr val="1F2329"/>
                </a:solidFill>
              </a:rPr>
              <a:t>可塑性丧失</a:t>
            </a:r>
          </a:p>
        </p:txBody>
      </p:sp>
      <p:sp>
        <p:nvSpPr>
          <p:cNvPr id="23" name="s7-box-body-1">
            <a:extLst xmlns:a="http://schemas.openxmlformats.org/drawingml/2006/main">
              <a:ext uri="{FF2B5EF4-FFF2-40B4-BE49-F238E27FC236}">
                <a16:creationId xmlns:a16="http://schemas.microsoft.com/office/drawing/2014/main" id="{A16AA410-6F9F-4345-89F0-3D5C0319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2724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16B"/>
                </a:solidFill>
              </a:defRPr>
            </a:pPr>
            <a:r>
              <a:rPr sz="1200" b="0">
                <a:solidFill>
                  <a:srgbClr val="5B616B"/>
                </a:solidFill>
              </a:rPr>
              <a:t>训练越久，越难吸收新东西</a:t>
            </a:r>
          </a:p>
        </p:txBody>
      </p:sp>
      <p:sp>
        <p:nvSpPr>
          <p:cNvPr id="24" name="s7-box-2">
            <a:extLst xmlns:a="http://schemas.openxmlformats.org/drawingml/2006/main">
              <a:ext uri="{FF2B5EF4-FFF2-40B4-BE49-F238E27FC236}">
                <a16:creationId xmlns:a16="http://schemas.microsoft.com/office/drawing/2014/main" id="{B00A8D93-4B4B-4280-8B3C-4A31869DB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352800"/>
            <a:ext cx="4048125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CEDEE"/>
            </a:solidFill>
            <a:prstDash val="solid"/>
          </a:ln>
        </p:spPr>
      </p:sp>
      <p:sp>
        <p:nvSpPr>
          <p:cNvPr id="25" name="s7-box-title-2">
            <a:extLst xmlns:a="http://schemas.openxmlformats.org/drawingml/2006/main">
              <a:ext uri="{FF2B5EF4-FFF2-40B4-BE49-F238E27FC236}">
                <a16:creationId xmlns:a16="http://schemas.microsoft.com/office/drawing/2014/main" id="{A9741123-62FD-4B28-8BE8-882DC1829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495675"/>
            <a:ext cx="366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7000B"/>
                </a:solidFill>
              </a:defRPr>
            </a:pPr>
            <a:r>
              <a:rPr sz="1575" b="1">
                <a:solidFill>
                  <a:srgbClr val="C7000B"/>
                </a:solidFill>
              </a:rPr>
              <a:t>子目标与概念发现</a:t>
            </a:r>
          </a:p>
        </p:txBody>
      </p:sp>
      <p:sp>
        <p:nvSpPr>
          <p:cNvPr id="26" name="s7-box-body-2">
            <a:extLst xmlns:a="http://schemas.openxmlformats.org/drawingml/2006/main">
              <a:ext uri="{FF2B5EF4-FFF2-40B4-BE49-F238E27FC236}">
                <a16:creationId xmlns:a16="http://schemas.microsoft.com/office/drawing/2014/main" id="{D8D912E4-83CE-47B9-B88C-11733E2F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848100"/>
            <a:ext cx="3667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16B"/>
                </a:solidFill>
              </a:defRPr>
            </a:pPr>
            <a:r>
              <a:rPr sz="1200" b="0">
                <a:solidFill>
                  <a:srgbClr val="5B616B"/>
                </a:solidFill>
              </a:rPr>
              <a:t>判断什么值得学习，避免无用或危险探索</a:t>
            </a:r>
          </a:p>
        </p:txBody>
      </p:sp>
      <p:sp>
        <p:nvSpPr>
          <p:cNvPr id="27" name="s7-box-3">
            <a:extLst xmlns:a="http://schemas.openxmlformats.org/drawingml/2006/main">
              <a:ext uri="{FF2B5EF4-FFF2-40B4-BE49-F238E27FC236}">
                <a16:creationId xmlns:a16="http://schemas.microsoft.com/office/drawing/2014/main" id="{03588714-1959-457B-86D3-E56D3AB9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238750"/>
            <a:ext cx="32194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CEDEE"/>
            </a:solidFill>
            <a:prstDash val="solid"/>
          </a:ln>
        </p:spPr>
      </p:sp>
      <p:sp>
        <p:nvSpPr>
          <p:cNvPr id="28" name="s7-box-title-3">
            <a:extLst xmlns:a="http://schemas.openxmlformats.org/drawingml/2006/main">
              <a:ext uri="{FF2B5EF4-FFF2-40B4-BE49-F238E27FC236}">
                <a16:creationId xmlns:a16="http://schemas.microsoft.com/office/drawing/2014/main" id="{D9DA38F3-F9B6-4A83-9E3D-CA89C6FB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381625"/>
            <a:ext cx="2838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329"/>
                </a:solidFill>
              </a:defRPr>
            </a:pPr>
            <a:r>
              <a:rPr sz="1575" b="1">
                <a:solidFill>
                  <a:srgbClr val="1F2329"/>
                </a:solidFill>
              </a:rPr>
              <a:t>现实试错成本</a:t>
            </a:r>
          </a:p>
        </p:txBody>
      </p:sp>
      <p:sp>
        <p:nvSpPr>
          <p:cNvPr id="29" name="s7-box-body-3">
            <a:extLst xmlns:a="http://schemas.openxmlformats.org/drawingml/2006/main">
              <a:ext uri="{FF2B5EF4-FFF2-40B4-BE49-F238E27FC236}">
                <a16:creationId xmlns:a16="http://schemas.microsoft.com/office/drawing/2014/main" id="{CF61236E-4B14-447A-8CFA-DC8D31285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734050"/>
            <a:ext cx="2838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16B"/>
                </a:solidFill>
              </a:defRPr>
            </a:pPr>
            <a:r>
              <a:rPr sz="1200" b="0">
                <a:solidFill>
                  <a:srgbClr val="5B616B"/>
                </a:solidFill>
              </a:rPr>
              <a:t>机器人犯错会带来损坏与安全风险</a:t>
            </a:r>
          </a:p>
        </p:txBody>
      </p:sp>
      <p:sp>
        <p:nvSpPr>
          <p:cNvPr id="30" name="s7-time-label">
            <a:extLst xmlns:a="http://schemas.openxmlformats.org/drawingml/2006/main">
              <a:ext uri="{FF2B5EF4-FFF2-40B4-BE49-F238E27FC236}">
                <a16:creationId xmlns:a16="http://schemas.microsoft.com/office/drawing/2014/main" id="{67B400FA-3CF9-42A2-9F9B-94B956C9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53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16B"/>
                </a:solidFill>
              </a:defRPr>
            </a:pPr>
            <a:r>
              <a:rPr sz="1200" b="1">
                <a:solidFill>
                  <a:srgbClr val="5B616B"/>
                </a:solidFill>
              </a:rPr>
              <a:t>Sutton 的时间判断</a:t>
            </a:r>
          </a:p>
        </p:txBody>
      </p:sp>
      <p:sp>
        <p:nvSpPr>
          <p:cNvPr id="31" name="s7-time-value">
            <a:extLst xmlns:a="http://schemas.openxmlformats.org/drawingml/2006/main">
              <a:ext uri="{FF2B5EF4-FFF2-40B4-BE49-F238E27FC236}">
                <a16:creationId xmlns:a16="http://schemas.microsoft.com/office/drawing/2014/main" id="{9DD5693F-366D-4A94-B64F-547261580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267325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7000B"/>
                </a:solidFill>
              </a:defRPr>
            </a:pPr>
            <a:r>
              <a:rPr sz="2250" b="1">
                <a:solidFill>
                  <a:srgbClr val="C7000B"/>
                </a:solidFill>
              </a:rPr>
              <a:t>5 / 10 / 20 年</a:t>
            </a:r>
          </a:p>
        </p:txBody>
      </p:sp>
      <p:sp>
        <p:nvSpPr>
          <p:cNvPr id="32" name="s7-time-note">
            <a:extLst xmlns:a="http://schemas.openxmlformats.org/drawingml/2006/main">
              <a:ext uri="{FF2B5EF4-FFF2-40B4-BE49-F238E27FC236}">
                <a16:creationId xmlns:a16="http://schemas.microsoft.com/office/drawing/2014/main" id="{10E02A24-5E9F-4C4A-858B-6709FC36B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7531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16B"/>
                </a:solidFill>
              </a:defRPr>
            </a:pPr>
            <a:r>
              <a:rPr sz="1200" b="0">
                <a:solidFill>
                  <a:srgbClr val="5B616B"/>
                </a:solidFill>
              </a:rPr>
              <a:t>不是倒计时，而是对不确定性的承认</a:t>
            </a:r>
          </a:p>
        </p:txBody>
      </p:sp>
    </p:spTree>
    <p:extLst>
      <p:ext uri="{BB962C8B-B14F-4D97-AF65-F5344CB8AC3E}">
        <p14:creationId xmlns:p14="http://schemas.microsoft.com/office/powerpoint/2010/main" val="6711675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2026-07-21T09:37:47.8540000Z</dcterms:created>
  <dcterms:modified xsi:type="dcterms:W3CDTF">2026-07-21T09:37:47.8550000Z</dcterms:modified>
</coreProperties>
</file>