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422da0cd6e4123" /><Relationship Type="http://schemas.openxmlformats.org/officeDocument/2006/relationships/extended-properties" Target="/docProps/app.xml" Id="R8a2b5b7a7a984f3b" /><Relationship Type="http://schemas.openxmlformats.org/officeDocument/2006/relationships/officeDocument" Target="/ppt/presentation.xml" Id="R7cf4f3261dff4e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10e413a5a94c03"/>
  </p:sldMasterIdLst>
  <p:notesMasterIdLst>
    <p:notesMasterId xmlns:r="http://schemas.openxmlformats.org/officeDocument/2006/relationships" r:id="Rdb618c64f9874655"/>
  </p:notesMasterIdLst>
  <p:sldIdLst>
    <p:sldId xmlns:r="http://schemas.openxmlformats.org/officeDocument/2006/relationships" id="256" r:id="R77455426352f4262"/>
    <p:sldId xmlns:r="http://schemas.openxmlformats.org/officeDocument/2006/relationships" id="257" r:id="R0e5ca63fd365476d"/>
    <p:sldId xmlns:r="http://schemas.openxmlformats.org/officeDocument/2006/relationships" id="258" r:id="R8b9325c09351493e"/>
    <p:sldId xmlns:r="http://schemas.openxmlformats.org/officeDocument/2006/relationships" id="259" r:id="R36754ea756794d26"/>
    <p:sldId xmlns:r="http://schemas.openxmlformats.org/officeDocument/2006/relationships" id="260" r:id="R5256c541a87b4223"/>
    <p:sldId xmlns:r="http://schemas.openxmlformats.org/officeDocument/2006/relationships" id="261" r:id="R2d711059873b42b4"/>
    <p:sldId xmlns:r="http://schemas.openxmlformats.org/officeDocument/2006/relationships" id="262" r:id="R64996a2de8544f17"/>
    <p:sldId xmlns:r="http://schemas.openxmlformats.org/officeDocument/2006/relationships" id="263" r:id="R193520e170164296"/>
    <p:sldId xmlns:r="http://schemas.openxmlformats.org/officeDocument/2006/relationships" id="264" r:id="Rd67629d8f62644dc"/>
    <p:sldId xmlns:r="http://schemas.openxmlformats.org/officeDocument/2006/relationships" id="265" r:id="R1f64880ab42a413a"/>
    <p:sldId xmlns:r="http://schemas.openxmlformats.org/officeDocument/2006/relationships" id="266" r:id="R691224c33052494d"/>
    <p:sldId xmlns:r="http://schemas.openxmlformats.org/officeDocument/2006/relationships" id="267" r:id="Rcdf428df1d6c4479"/>
    <p:sldId xmlns:r="http://schemas.openxmlformats.org/officeDocument/2006/relationships" id="268" r:id="R891a2ac328df4172"/>
    <p:sldId xmlns:r="http://schemas.openxmlformats.org/officeDocument/2006/relationships" id="269" r:id="R525d1e3bdaa24c55"/>
    <p:sldId xmlns:r="http://schemas.openxmlformats.org/officeDocument/2006/relationships" id="270" r:id="Rbff82e1a48a24522"/>
    <p:sldId xmlns:r="http://schemas.openxmlformats.org/officeDocument/2006/relationships" id="271" r:id="Rbd93f1de307e4db3"/>
    <p:sldId xmlns:r="http://schemas.openxmlformats.org/officeDocument/2006/relationships" id="272" r:id="R8f8e34bb73bf43b7"/>
    <p:sldId xmlns:r="http://schemas.openxmlformats.org/officeDocument/2006/relationships" id="273" r:id="Rf0388e4e4d39418e"/>
    <p:sldId xmlns:r="http://schemas.openxmlformats.org/officeDocument/2006/relationships" id="274" r:id="Rb3a830cb3fb8421d"/>
    <p:sldId xmlns:r="http://schemas.openxmlformats.org/officeDocument/2006/relationships" id="275" r:id="R128ecfe2a7414bb1"/>
    <p:sldId xmlns:r="http://schemas.openxmlformats.org/officeDocument/2006/relationships" id="276" r:id="R084f6d7463e04ec6"/>
    <p:sldId xmlns:r="http://schemas.openxmlformats.org/officeDocument/2006/relationships" id="277" r:id="Re015346f09a549ac"/>
    <p:sldId xmlns:r="http://schemas.openxmlformats.org/officeDocument/2006/relationships" id="278" r:id="Ra73b3b16fde44209"/>
    <p:sldId xmlns:r="http://schemas.openxmlformats.org/officeDocument/2006/relationships" id="279" r:id="R08ac035638ef46e6"/>
    <p:sldId xmlns:r="http://schemas.openxmlformats.org/officeDocument/2006/relationships" id="280" r:id="R2d61e5193ed44639"/>
    <p:sldId xmlns:r="http://schemas.openxmlformats.org/officeDocument/2006/relationships" id="281" r:id="R14f917e908504316"/>
    <p:sldId xmlns:r="http://schemas.openxmlformats.org/officeDocument/2006/relationships" id="282" r:id="R8f41162f8ca04839"/>
    <p:sldId xmlns:r="http://schemas.openxmlformats.org/officeDocument/2006/relationships" id="283" r:id="R8ebf74e81b494ffb"/>
    <p:sldId xmlns:r="http://schemas.openxmlformats.org/officeDocument/2006/relationships" id="284" r:id="R0eaa468b55554d61"/>
    <p:sldId xmlns:r="http://schemas.openxmlformats.org/officeDocument/2006/relationships" id="285" r:id="Re7087db8f7614f39"/>
    <p:sldId xmlns:r="http://schemas.openxmlformats.org/officeDocument/2006/relationships" id="286" r:id="R5bdb9409105c4769"/>
    <p:sldId xmlns:r="http://schemas.openxmlformats.org/officeDocument/2006/relationships" id="287" r:id="Rf32530d31fc34b84"/>
    <p:sldId xmlns:r="http://schemas.openxmlformats.org/officeDocument/2006/relationships" id="288" r:id="R7c399becebc44c71"/>
    <p:sldId xmlns:r="http://schemas.openxmlformats.org/officeDocument/2006/relationships" id="289" r:id="R320a8f3e8f1744df"/>
    <p:sldId xmlns:r="http://schemas.openxmlformats.org/officeDocument/2006/relationships" id="290" r:id="R51d0530be0174113"/>
    <p:sldId xmlns:r="http://schemas.openxmlformats.org/officeDocument/2006/relationships" id="291" r:id="R318342c336e04191"/>
    <p:sldId xmlns:r="http://schemas.openxmlformats.org/officeDocument/2006/relationships" id="292" r:id="R62ae1a3dfeae4e66"/>
    <p:sldId xmlns:r="http://schemas.openxmlformats.org/officeDocument/2006/relationships" id="293" r:id="Rb6b86af3305e4ae5"/>
    <p:sldId xmlns:r="http://schemas.openxmlformats.org/officeDocument/2006/relationships" id="294" r:id="R36382c02919f4d2d"/>
    <p:sldId xmlns:r="http://schemas.openxmlformats.org/officeDocument/2006/relationships" id="295" r:id="R70e2244871314273"/>
    <p:sldId xmlns:r="http://schemas.openxmlformats.org/officeDocument/2006/relationships" id="296" r:id="R93eba3ccc28447e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dd90b50d964923" /><Relationship Type="http://schemas.openxmlformats.org/officeDocument/2006/relationships/slideMaster" Target="/ppt/slideMasters/slideMaster1.xml" Id="Rad10e413a5a94c03" /><Relationship Type="http://schemas.openxmlformats.org/officeDocument/2006/relationships/notesMaster" Target="/ppt/notesMasters/notesMaster1.xml" Id="Rdb618c64f9874655" /><Relationship Type="http://schemas.openxmlformats.org/officeDocument/2006/relationships/presProps" Target="/ppt/presProps.xml" Id="R98a8bac02ae44c2e" /><Relationship Type="http://schemas.openxmlformats.org/officeDocument/2006/relationships/tableStyles" Target="/ppt/tableStyles.xml" Id="Ref7c5b838b30467d" /><Relationship Type="http://schemas.openxmlformats.org/officeDocument/2006/relationships/slide" Target="/ppt/slides/slide1.xml" Id="R77455426352f4262" /><Relationship Type="http://schemas.openxmlformats.org/officeDocument/2006/relationships/slide" Target="/ppt/slides/slide2.xml" Id="R0e5ca63fd365476d" /><Relationship Type="http://schemas.openxmlformats.org/officeDocument/2006/relationships/slide" Target="/ppt/slides/slide3.xml" Id="R8b9325c09351493e" /><Relationship Type="http://schemas.openxmlformats.org/officeDocument/2006/relationships/slide" Target="/ppt/slides/slide4.xml" Id="R36754ea756794d26" /><Relationship Type="http://schemas.openxmlformats.org/officeDocument/2006/relationships/slide" Target="/ppt/slides/slide5.xml" Id="R5256c541a87b4223" /><Relationship Type="http://schemas.openxmlformats.org/officeDocument/2006/relationships/slide" Target="/ppt/slides/slide6.xml" Id="R2d711059873b42b4" /><Relationship Type="http://schemas.openxmlformats.org/officeDocument/2006/relationships/slide" Target="/ppt/slides/slide7.xml" Id="R64996a2de8544f17" /><Relationship Type="http://schemas.openxmlformats.org/officeDocument/2006/relationships/slide" Target="/ppt/slides/slide8.xml" Id="R193520e170164296" /><Relationship Type="http://schemas.openxmlformats.org/officeDocument/2006/relationships/slide" Target="/ppt/slides/slide9.xml" Id="Rd67629d8f62644dc" /><Relationship Type="http://schemas.openxmlformats.org/officeDocument/2006/relationships/slide" Target="/ppt/slides/slide10.xml" Id="R1f64880ab42a413a" /><Relationship Type="http://schemas.openxmlformats.org/officeDocument/2006/relationships/slide" Target="/ppt/slides/slide11.xml" Id="R691224c33052494d" /><Relationship Type="http://schemas.openxmlformats.org/officeDocument/2006/relationships/slide" Target="/ppt/slides/slide12.xml" Id="Rcdf428df1d6c4479" /><Relationship Type="http://schemas.openxmlformats.org/officeDocument/2006/relationships/slide" Target="/ppt/slides/slide13.xml" Id="R891a2ac328df4172" /><Relationship Type="http://schemas.openxmlformats.org/officeDocument/2006/relationships/slide" Target="/ppt/slides/slide14.xml" Id="R525d1e3bdaa24c55" /><Relationship Type="http://schemas.openxmlformats.org/officeDocument/2006/relationships/slide" Target="/ppt/slides/slide15.xml" Id="Rbff82e1a48a24522" /><Relationship Type="http://schemas.openxmlformats.org/officeDocument/2006/relationships/slide" Target="/ppt/slides/slide16.xml" Id="Rbd93f1de307e4db3" /><Relationship Type="http://schemas.openxmlformats.org/officeDocument/2006/relationships/slide" Target="/ppt/slides/slide17.xml" Id="R8f8e34bb73bf43b7" /><Relationship Type="http://schemas.openxmlformats.org/officeDocument/2006/relationships/slide" Target="/ppt/slides/slide18.xml" Id="Rf0388e4e4d39418e" /><Relationship Type="http://schemas.openxmlformats.org/officeDocument/2006/relationships/slide" Target="/ppt/slides/slide19.xml" Id="Rb3a830cb3fb8421d" /><Relationship Type="http://schemas.openxmlformats.org/officeDocument/2006/relationships/slide" Target="/ppt/slides/slide20.xml" Id="R128ecfe2a7414bb1" /><Relationship Type="http://schemas.openxmlformats.org/officeDocument/2006/relationships/slide" Target="/ppt/slides/slide21.xml" Id="R084f6d7463e04ec6" /><Relationship Type="http://schemas.openxmlformats.org/officeDocument/2006/relationships/slide" Target="/ppt/slides/slide22.xml" Id="Re015346f09a549ac" /><Relationship Type="http://schemas.openxmlformats.org/officeDocument/2006/relationships/slide" Target="/ppt/slides/slide23.xml" Id="Ra73b3b16fde44209" /><Relationship Type="http://schemas.openxmlformats.org/officeDocument/2006/relationships/slide" Target="/ppt/slides/slide24.xml" Id="R08ac035638ef46e6" /><Relationship Type="http://schemas.openxmlformats.org/officeDocument/2006/relationships/slide" Target="/ppt/slides/slide25.xml" Id="R2d61e5193ed44639" /><Relationship Type="http://schemas.openxmlformats.org/officeDocument/2006/relationships/slide" Target="/ppt/slides/slide26.xml" Id="R14f917e908504316" /><Relationship Type="http://schemas.openxmlformats.org/officeDocument/2006/relationships/slide" Target="/ppt/slides/slide27.xml" Id="R8f41162f8ca04839" /><Relationship Type="http://schemas.openxmlformats.org/officeDocument/2006/relationships/slide" Target="/ppt/slides/slide28.xml" Id="R8ebf74e81b494ffb" /><Relationship Type="http://schemas.openxmlformats.org/officeDocument/2006/relationships/slide" Target="/ppt/slides/slide29.xml" Id="R0eaa468b55554d61" /><Relationship Type="http://schemas.openxmlformats.org/officeDocument/2006/relationships/slide" Target="/ppt/slides/slide30.xml" Id="Re7087db8f7614f39" /><Relationship Type="http://schemas.openxmlformats.org/officeDocument/2006/relationships/slide" Target="/ppt/slides/slide31.xml" Id="R5bdb9409105c4769" /><Relationship Type="http://schemas.openxmlformats.org/officeDocument/2006/relationships/slide" Target="/ppt/slides/slide32.xml" Id="Rf32530d31fc34b84" /><Relationship Type="http://schemas.openxmlformats.org/officeDocument/2006/relationships/slide" Target="/ppt/slides/slide33.xml" Id="R7c399becebc44c71" /><Relationship Type="http://schemas.openxmlformats.org/officeDocument/2006/relationships/slide" Target="/ppt/slides/slide34.xml" Id="R320a8f3e8f1744df" /><Relationship Type="http://schemas.openxmlformats.org/officeDocument/2006/relationships/slide" Target="/ppt/slides/slide35.xml" Id="R51d0530be0174113" /><Relationship Type="http://schemas.openxmlformats.org/officeDocument/2006/relationships/slide" Target="/ppt/slides/slide36.xml" Id="R318342c336e04191" /><Relationship Type="http://schemas.openxmlformats.org/officeDocument/2006/relationships/slide" Target="/ppt/slides/slide37.xml" Id="R62ae1a3dfeae4e66" /><Relationship Type="http://schemas.openxmlformats.org/officeDocument/2006/relationships/slide" Target="/ppt/slides/slide38.xml" Id="Rb6b86af3305e4ae5" /><Relationship Type="http://schemas.openxmlformats.org/officeDocument/2006/relationships/slide" Target="/ppt/slides/slide39.xml" Id="R36382c02919f4d2d" /><Relationship Type="http://schemas.openxmlformats.org/officeDocument/2006/relationships/slide" Target="/ppt/slides/slide40.xml" Id="R70e2244871314273" /><Relationship Type="http://schemas.openxmlformats.org/officeDocument/2006/relationships/slide" Target="/ppt/slides/slide41.xml" Id="R93eba3ccc28447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d2cecddab148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ae2450922b4a4a" /><Relationship Type="http://schemas.openxmlformats.org/officeDocument/2006/relationships/notesMaster" Target="/ppt/notesMasters/notesMaster1.xml" Id="R92283b35f4784c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4f57117ba44322" /><Relationship Type="http://schemas.openxmlformats.org/officeDocument/2006/relationships/notesMaster" Target="/ppt/notesMasters/notesMaster1.xml" Id="R9eb0cbdfed9c42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1718bbe13244c2" /><Relationship Type="http://schemas.openxmlformats.org/officeDocument/2006/relationships/notesMaster" Target="/ppt/notesMasters/notesMaster1.xml" Id="Rf6d6e20a1a304b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658d81aeea447e" /><Relationship Type="http://schemas.openxmlformats.org/officeDocument/2006/relationships/notesMaster" Target="/ppt/notesMasters/notesMaster1.xml" Id="R1b4f1812cd4145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37587ed0cb4e3d" /><Relationship Type="http://schemas.openxmlformats.org/officeDocument/2006/relationships/notesMaster" Target="/ppt/notesMasters/notesMaster1.xml" Id="Rc97e1a0ee62d4d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63d20f4ef94b09" /><Relationship Type="http://schemas.openxmlformats.org/officeDocument/2006/relationships/notesMaster" Target="/ppt/notesMasters/notesMaster1.xml" Id="R99d057cb1f6c46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742a69ceff4e1f" /><Relationship Type="http://schemas.openxmlformats.org/officeDocument/2006/relationships/notesMaster" Target="/ppt/notesMasters/notesMaster1.xml" Id="Rf4b51190e6944d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46b4d4e2b748b0" /><Relationship Type="http://schemas.openxmlformats.org/officeDocument/2006/relationships/notesMaster" Target="/ppt/notesMasters/notesMaster1.xml" Id="R34ccc1bd703443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edfae658d64b70" /><Relationship Type="http://schemas.openxmlformats.org/officeDocument/2006/relationships/notesMaster" Target="/ppt/notesMasters/notesMaster1.xml" Id="R9817a385f49944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fd3e4892af4594" /><Relationship Type="http://schemas.openxmlformats.org/officeDocument/2006/relationships/notesMaster" Target="/ppt/notesMasters/notesMaster1.xml" Id="R85b40c9a9d2c48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9ec52f50a84c84" /><Relationship Type="http://schemas.openxmlformats.org/officeDocument/2006/relationships/notesMaster" Target="/ppt/notesMasters/notesMaster1.xml" Id="Re84e227b157e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06dcf1f716431d" /><Relationship Type="http://schemas.openxmlformats.org/officeDocument/2006/relationships/notesMaster" Target="/ppt/notesMasters/notesMaster1.xml" Id="Rd581e5a467b54a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f8dd9fdf784d87" /><Relationship Type="http://schemas.openxmlformats.org/officeDocument/2006/relationships/notesMaster" Target="/ppt/notesMasters/notesMaster1.xml" Id="Rdc069389517547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bad92052f047e3" /><Relationship Type="http://schemas.openxmlformats.org/officeDocument/2006/relationships/notesMaster" Target="/ppt/notesMasters/notesMaster1.xml" Id="R68a8f56f7b2345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f1a6028257405d" /><Relationship Type="http://schemas.openxmlformats.org/officeDocument/2006/relationships/notesMaster" Target="/ppt/notesMasters/notesMaster1.xml" Id="R619251991d854f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13c037d48647b5" /><Relationship Type="http://schemas.openxmlformats.org/officeDocument/2006/relationships/notesMaster" Target="/ppt/notesMasters/notesMaster1.xml" Id="R6539cefc3d5442c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73104bff99447d" /><Relationship Type="http://schemas.openxmlformats.org/officeDocument/2006/relationships/notesMaster" Target="/ppt/notesMasters/notesMaster1.xml" Id="R2b37ae49fea1444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e5a9878b53441bf" /><Relationship Type="http://schemas.openxmlformats.org/officeDocument/2006/relationships/notesMaster" Target="/ppt/notesMasters/notesMaster1.xml" Id="R84b5601d0d3d405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7118939f0c4ce6" /><Relationship Type="http://schemas.openxmlformats.org/officeDocument/2006/relationships/notesMaster" Target="/ppt/notesMasters/notesMaster1.xml" Id="R49cf5671dd5f4bc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dbc9ecf8b649a0" /><Relationship Type="http://schemas.openxmlformats.org/officeDocument/2006/relationships/notesMaster" Target="/ppt/notesMasters/notesMaster1.xml" Id="R8596eb94fc3b48e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c89b4bd3b91452a" /><Relationship Type="http://schemas.openxmlformats.org/officeDocument/2006/relationships/notesMaster" Target="/ppt/notesMasters/notesMaster1.xml" Id="R7326f88a971b4b1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c5a81a25665413c" /><Relationship Type="http://schemas.openxmlformats.org/officeDocument/2006/relationships/notesMaster" Target="/ppt/notesMasters/notesMaster1.xml" Id="Rf405314d891a4cd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104987a73f14351" /><Relationship Type="http://schemas.openxmlformats.org/officeDocument/2006/relationships/notesMaster" Target="/ppt/notesMasters/notesMaster1.xml" Id="R8d6ace60d680493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e280848b21d4bc8" /><Relationship Type="http://schemas.openxmlformats.org/officeDocument/2006/relationships/notesMaster" Target="/ppt/notesMasters/notesMaster1.xml" Id="Rbe90c9b0d7b1466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2dfce7c62ed42b0" /><Relationship Type="http://schemas.openxmlformats.org/officeDocument/2006/relationships/notesMaster" Target="/ppt/notesMasters/notesMaster1.xml" Id="R56fd6d67a9b3433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ed3fc95cc7b40c7" /><Relationship Type="http://schemas.openxmlformats.org/officeDocument/2006/relationships/notesMaster" Target="/ppt/notesMasters/notesMaster1.xml" Id="R56fc140e993146c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75b3dd166844bbf" /><Relationship Type="http://schemas.openxmlformats.org/officeDocument/2006/relationships/notesMaster" Target="/ppt/notesMasters/notesMaster1.xml" Id="Rf97595f6f2ad427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2514aab3f2f48dc" /><Relationship Type="http://schemas.openxmlformats.org/officeDocument/2006/relationships/notesMaster" Target="/ppt/notesMasters/notesMaster1.xml" Id="R8c0423172d0547e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0eb1739792b4355" /><Relationship Type="http://schemas.openxmlformats.org/officeDocument/2006/relationships/notesMaster" Target="/ppt/notesMasters/notesMaster1.xml" Id="R8c1afb6dacb14f3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ef7f54edc7e450f" /><Relationship Type="http://schemas.openxmlformats.org/officeDocument/2006/relationships/notesMaster" Target="/ppt/notesMasters/notesMaster1.xml" Id="R8ee717697ee14a1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030e5bfb0454ff4" /><Relationship Type="http://schemas.openxmlformats.org/officeDocument/2006/relationships/notesMaster" Target="/ppt/notesMasters/notesMaster1.xml" Id="Rdc73d110b91e45d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873a5497aea4f5c" /><Relationship Type="http://schemas.openxmlformats.org/officeDocument/2006/relationships/notesMaster" Target="/ppt/notesMasters/notesMaster1.xml" Id="R1fd49a82e161493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35eae6beef04a47" /><Relationship Type="http://schemas.openxmlformats.org/officeDocument/2006/relationships/notesMaster" Target="/ppt/notesMasters/notesMaster1.xml" Id="Rf45e7ec71f7a4e5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619b5e62e924f95" /><Relationship Type="http://schemas.openxmlformats.org/officeDocument/2006/relationships/notesMaster" Target="/ppt/notesMasters/notesMaster1.xml" Id="Rd4ff4b0d963b4a2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cb91c10f26e470c" /><Relationship Type="http://schemas.openxmlformats.org/officeDocument/2006/relationships/notesMaster" Target="/ppt/notesMasters/notesMaster1.xml" Id="R4382f54f69d64c8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5df918b92f94f86" /><Relationship Type="http://schemas.openxmlformats.org/officeDocument/2006/relationships/notesMaster" Target="/ppt/notesMasters/notesMaster1.xml" Id="R815c2d10966f4ae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8b020a365544bb1" /><Relationship Type="http://schemas.openxmlformats.org/officeDocument/2006/relationships/notesMaster" Target="/ppt/notesMasters/notesMaster1.xml" Id="R32e1f7fc6ce84d3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d82037186c248b8" /><Relationship Type="http://schemas.openxmlformats.org/officeDocument/2006/relationships/notesMaster" Target="/ppt/notesMasters/notesMaster1.xml" Id="R10eae4ef53a3485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777309c3e1a47ac" /><Relationship Type="http://schemas.openxmlformats.org/officeDocument/2006/relationships/notesMaster" Target="/ppt/notesMasters/notesMaster1.xml" Id="R520a28972d284ff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79b28b6c362442d" /><Relationship Type="http://schemas.openxmlformats.org/officeDocument/2006/relationships/notesMaster" Target="/ppt/notesMasters/notesMaster1.xml" Id="Rb7760364878b4e9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9041ceea91b48ff" /><Relationship Type="http://schemas.openxmlformats.org/officeDocument/2006/relationships/notesMaster" Target="/ppt/notesMasters/notesMaster1.xml" Id="Re0353121fd494c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本报告基于 Kimi K3、DeepSeek-V4、GLM-5/5.2、Qwen3.6、Seed2.0、Gemini 3.1 Pro、GPT-5.6 Sol、Claude Fable 5 与 Claude Opus 4.8 的官方公开资料。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K3 总参数巨大，但每 token 的激活路径更接近百亿级 dense 计算量。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六个章节依次回答：K3 如何设计、如何训练、如何服务、如何与同行比较，以及对研发组织意味着什么。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69 个 KDA 与 24 个 Gated MLA 共同组成 93 层主干。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公式按单头书写。KDA 以固定大小状态压缩历史，并通过逐通道衰减、Delta 修正和写入完成记忆更新。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MLA 公式沿用 DeepSeek 的低秩 KV 联合压缩；K3 去除位置编码并增加输入依赖的全秩输出门。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官方术语是 AttnRes（Attention Residuals）。注意力发生在网络深度轴，而不是序列 Token 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K3 的 MoE 不仅追求更多专家，也将负载平衡与数值稳定放在核心位置。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区别于后挂视觉塔，K3 的视觉 token 与文本 token 共享训练目标和上下文课程。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这页强调公开披露粒度，避免将参数量误当训练数据规模。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scaling efficiency 是在给定算力下的损失改进，不等同于训练速度或推理吞吐。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K3 的 1M 不是单次 RoPE 扩窗，而是贯穿数据、架构与后训练的课程。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长上下文训练的终点是 Agent 工作记忆，而不是单纯 needle-in-a-haystack。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先分工学习，再通过 on-policy distillation 合并，是 K3 后训练的主轴。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SFT 的目标不是覆盖所有能力，而是建立结构正确、可启动 RL 的行为分布。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XTML 统一工具、角色、observation 与控制符的序列表示。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XTML 让工具选择、参数和结构边界都进入 Token 空间。observation 通常由环境产生并作为上下文，模型学习根据它预测下一步动作。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轨迹价值由任务真实性、动作可执行性、状态可验证性和错误恢复共同决定。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通过随机化 harness 配置，避免模型只适配某一个产品壳。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官方流程：从粗粒度种子开始，由 Agent 递归探索并构建层级 DAG；采样节点或相关组合，拼接祖先上下文检索公开材料，再按任务类型合成训练任务。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AET 让模型自己发现策略，避免模仿固定 reference trajectory。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三个训练领域分别优化答案能力、通用工作流执行和软件工程执行；每个领域训练 low/high/max 三个推理预算专家。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轨迹长度差异巨大，传统同步 batch 会被最长尾拖住。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对难以用硬规则验证的工作产品，K3 用结构化评审链替代一次性打分。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MOPD 以学生当前分布采样，再用多个 teacher 的 token 概率提供密集奖励。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K3 的训练栈围绕 hybrid attention + giant MoE 两个主瓶颈展开。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量化不是导出步骤；后训练策略直接运行在接近服务精度的数值条件下。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1M Agent 服务的主成本来自上下文状态复用与请求调度，而不仅是每 token FLOPs。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各模型版本：K3、DeepSeek-V4 Pro、GLM-5.2、Qwen3.6。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这里比较的是公开披露，不等同于真实投入规模。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对标版本：Gemini 3.1 Pro、GPT-5.6 Sol、Claude Fable 5、Claude Opus 4.8。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分数来自 K3 官方汇总，effort、工具与 harness 不完全一致。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成绩与具体 Agent scaffold 强相关，不应视为裸模型排名。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优势来自系统共设计，而不只是 benchmark 分数。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对企业或研究团队，先建设可验证任务与环境基础设施，回报通常高于盲目扩大参数。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e8a0e00774e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d90541124046fd" /><Relationship Type="http://schemas.openxmlformats.org/officeDocument/2006/relationships/slideLayout" Target="/ppt/slideLayouts/slideLayout1.xml" Id="Rc51900d5e7524d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1900d5e7524d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f1ddace6548a5" /><Relationship Type="http://schemas.openxmlformats.org/officeDocument/2006/relationships/notesSlide" Target="/ppt/notesSlides/notesSlide1.xml" Id="R4ff55c0074f146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0916cd3bc427f" /><Relationship Type="http://schemas.openxmlformats.org/officeDocument/2006/relationships/notesSlide" Target="/ppt/notesSlides/notesSlide2.xml" Id="R3d3a3f65692348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bff678f094ada" /><Relationship Type="http://schemas.openxmlformats.org/officeDocument/2006/relationships/notesSlide" Target="/ppt/notesSlides/notesSlide3.xml" Id="Rdd6db2e5c71c4b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87a315ff94dc8" /><Relationship Type="http://schemas.openxmlformats.org/officeDocument/2006/relationships/notesSlide" Target="/ppt/notesSlides/notesSlide4.xml" Id="Rb0ac84c997514d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0a812d50a4255" /><Relationship Type="http://schemas.openxmlformats.org/officeDocument/2006/relationships/notesSlide" Target="/ppt/notesSlides/notesSlide5.xml" Id="Rcb4611ccfa6441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cfb574ba0474e" /><Relationship Type="http://schemas.openxmlformats.org/officeDocument/2006/relationships/notesSlide" Target="/ppt/notesSlides/notesSlide6.xml" Id="R714d3abbc1bc48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f11f8ec1b4d7e" /><Relationship Type="http://schemas.openxmlformats.org/officeDocument/2006/relationships/notesSlide" Target="/ppt/notesSlides/notesSlide7.xml" Id="R5fecfc76337544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682fa73164f38" /><Relationship Type="http://schemas.openxmlformats.org/officeDocument/2006/relationships/notesSlide" Target="/ppt/notesSlides/notesSlide8.xml" Id="R355cf07ea49a4f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d68f208984c1d" /><Relationship Type="http://schemas.openxmlformats.org/officeDocument/2006/relationships/notesSlide" Target="/ppt/notesSlides/notesSlide9.xml" Id="R7413bb009b1349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786320b28427d" /><Relationship Type="http://schemas.openxmlformats.org/officeDocument/2006/relationships/notesSlide" Target="/ppt/notesSlides/notesSlide10.xml" Id="R324d1283bee24d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28ed1dfba4f57" /><Relationship Type="http://schemas.openxmlformats.org/officeDocument/2006/relationships/notesSlide" Target="/ppt/notesSlides/notesSlide11.xml" Id="R1803f2456da543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9e21b9708459d" /><Relationship Type="http://schemas.openxmlformats.org/officeDocument/2006/relationships/notesSlide" Target="/ppt/notesSlides/notesSlide12.xml" Id="R198c55ce04a146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52ca2e432437d" /><Relationship Type="http://schemas.openxmlformats.org/officeDocument/2006/relationships/notesSlide" Target="/ppt/notesSlides/notesSlide13.xml" Id="R47a2dfa37ff646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9af4c90064c03" /><Relationship Type="http://schemas.openxmlformats.org/officeDocument/2006/relationships/notesSlide" Target="/ppt/notesSlides/notesSlide14.xml" Id="R628ccdeb78ba40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24e4408d3440c" /><Relationship Type="http://schemas.openxmlformats.org/officeDocument/2006/relationships/notesSlide" Target="/ppt/notesSlides/notesSlide15.xml" Id="R07eebfc7591b4f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f3d628f184b0f" /><Relationship Type="http://schemas.openxmlformats.org/officeDocument/2006/relationships/notesSlide" Target="/ppt/notesSlides/notesSlide16.xml" Id="R5f5092c11627456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2354c943f426a" /><Relationship Type="http://schemas.openxmlformats.org/officeDocument/2006/relationships/notesSlide" Target="/ppt/notesSlides/notesSlide17.xml" Id="R5f19436b1cbf4a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f6596e71a4ee5" /><Relationship Type="http://schemas.openxmlformats.org/officeDocument/2006/relationships/notesSlide" Target="/ppt/notesSlides/notesSlide18.xml" Id="R1acdac44273348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63d185bf84d0d" /><Relationship Type="http://schemas.openxmlformats.org/officeDocument/2006/relationships/notesSlide" Target="/ppt/notesSlides/notesSlide19.xml" Id="Rcfc049d058aa473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2616cf36c4d35" /><Relationship Type="http://schemas.openxmlformats.org/officeDocument/2006/relationships/notesSlide" Target="/ppt/notesSlides/notesSlide20.xml" Id="R38e1673a8235469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c39519b364a1d" /><Relationship Type="http://schemas.openxmlformats.org/officeDocument/2006/relationships/notesSlide" Target="/ppt/notesSlides/notesSlide21.xml" Id="Re87ea3173a204d2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b1b566a5f44a0" /><Relationship Type="http://schemas.openxmlformats.org/officeDocument/2006/relationships/notesSlide" Target="/ppt/notesSlides/notesSlide22.xml" Id="Ree88c4f854224ee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b3d01e4744af4" /><Relationship Type="http://schemas.openxmlformats.org/officeDocument/2006/relationships/notesSlide" Target="/ppt/notesSlides/notesSlide23.xml" Id="R18ba1924dc46456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d74ff87ca49c8" /><Relationship Type="http://schemas.openxmlformats.org/officeDocument/2006/relationships/notesSlide" Target="/ppt/notesSlides/notesSlide24.xml" Id="Rffb8e24d287b4a5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63743920b48f1" /><Relationship Type="http://schemas.openxmlformats.org/officeDocument/2006/relationships/notesSlide" Target="/ppt/notesSlides/notesSlide25.xml" Id="R84af81b8aa1c4bf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2aa3ee08e4fa2" /><Relationship Type="http://schemas.openxmlformats.org/officeDocument/2006/relationships/notesSlide" Target="/ppt/notesSlides/notesSlide26.xml" Id="R16febae569a940c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cbfdbb6ac46b6" /><Relationship Type="http://schemas.openxmlformats.org/officeDocument/2006/relationships/notesSlide" Target="/ppt/notesSlides/notesSlide27.xml" Id="Rbac78bd234444d0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b554d48944ba8" /><Relationship Type="http://schemas.openxmlformats.org/officeDocument/2006/relationships/notesSlide" Target="/ppt/notesSlides/notesSlide28.xml" Id="R2c678155a7f2442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64822a0dc48cc" /><Relationship Type="http://schemas.openxmlformats.org/officeDocument/2006/relationships/notesSlide" Target="/ppt/notesSlides/notesSlide29.xml" Id="R9d15de6c24dd4cb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2ded3798a4ce1" /><Relationship Type="http://schemas.openxmlformats.org/officeDocument/2006/relationships/notesSlide" Target="/ppt/notesSlides/notesSlide30.xml" Id="R44553c805773400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509a7bc2a430e" /><Relationship Type="http://schemas.openxmlformats.org/officeDocument/2006/relationships/notesSlide" Target="/ppt/notesSlides/notesSlide31.xml" Id="R579d845f6a60437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8bf52cffe4683" /><Relationship Type="http://schemas.openxmlformats.org/officeDocument/2006/relationships/notesSlide" Target="/ppt/notesSlides/notesSlide32.xml" Id="Rdf0ab994c956463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c37a9a3bb4331" /><Relationship Type="http://schemas.openxmlformats.org/officeDocument/2006/relationships/notesSlide" Target="/ppt/notesSlides/notesSlide33.xml" Id="R25158dbec681425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f33eddcd741e0" /><Relationship Type="http://schemas.openxmlformats.org/officeDocument/2006/relationships/notesSlide" Target="/ppt/notesSlides/notesSlide34.xml" Id="R0dddef09adbb46c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40d1fd05d44c5" /><Relationship Type="http://schemas.openxmlformats.org/officeDocument/2006/relationships/notesSlide" Target="/ppt/notesSlides/notesSlide35.xml" Id="Rc120c01513c941e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e68e5c70e4fb0" /><Relationship Type="http://schemas.openxmlformats.org/officeDocument/2006/relationships/notesSlide" Target="/ppt/notesSlides/notesSlide36.xml" Id="Rdb4e00cae5f641c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67722fa884073" /><Relationship Type="http://schemas.openxmlformats.org/officeDocument/2006/relationships/notesSlide" Target="/ppt/notesSlides/notesSlide37.xml" Id="R4352dc94a3b542f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3943539e04cfb" /><Relationship Type="http://schemas.openxmlformats.org/officeDocument/2006/relationships/notesSlide" Target="/ppt/notesSlides/notesSlide38.xml" Id="R214dcababb7b443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e894efd3e4923" /><Relationship Type="http://schemas.openxmlformats.org/officeDocument/2006/relationships/notesSlide" Target="/ppt/notesSlides/notesSlide39.xml" Id="R38ac3d2f6f97444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12b985df5447a" /><Relationship Type="http://schemas.openxmlformats.org/officeDocument/2006/relationships/notesSlide" Target="/ppt/notesSlides/notesSlide40.xml" Id="Re130932bb94149a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784183328495f" /><Relationship Type="http://schemas.openxmlformats.org/officeDocument/2006/relationships/notesSlide" Target="/ppt/notesSlides/notesSlide41.xml" Id="Re34e2f89aa1742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5DE8D-DF35-4EBB-B254-13B0CD41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8798E-B707-48AC-879F-1137B32D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38250"/>
            <a:ext cx="2190750" cy="5619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C906E-0744-40E6-B164-6CA203B1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101C8-9916-446A-B515-F32E48CF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KIMI K3 TECHNICAL 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40CA2-E4B5-4833-AAB8-A26F5A8F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Kimi K3 技术报告解读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1EB9D-C159-4B49-A392-AE9CD71B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9B133-AE46-4F54-B5FB-EBCEEBE8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马逸凡  00918672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AD718-CC2D-45B4-9197-2006DA73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AI数据部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310B7-29A4-4541-ACD2-96BE9438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资料基线：2026-07-28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4BADD-7838-4CEE-8FAF-CDE9AFA8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927302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81C125-D3CB-49B4-B882-C69D3E22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C288D-0BD3-4D19-919F-346C670F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KIMI K3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F1CBE-1570-4EAF-872E-06F3F73C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K3 一页全景：用极大稀疏容量换取可部署的激活成本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4CCC5-64E4-4FB0-9E83-B777A8EE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D6254-3851-457B-8B30-2C70096D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3F469-1459-422F-BF1E-6C5B3D12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Table 1；§2.1–2.4；§3.3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CFB42-A7DF-4400-AFD8-75A067EF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E667B-8085-47CF-A206-F89EA68F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8A418-19F4-4428-BE37-DC52FDC0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C426A-280C-4FE9-95F7-DE952131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2.8T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8AA54-5EE3-40E5-B676-9B2CF5DA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总参数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DE40B-69C8-4C79-B1F6-C2AAC135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13CF8-022A-4BA1-A184-57C1AB01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61D41-2125-4E4C-B09E-14C79AB5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002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104.2B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86474-5B34-403F-B9DB-C28AC3D8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每 token 激活参数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1ACC4-CFBB-49C3-A418-57A94523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2571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927F9-080B-4FC2-99E7-FF6F25FF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D1F1E-D8AA-4BA8-9A29-F9D70CB2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0020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F176D-3774-4498-8BD0-B9913CEB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71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最大上下文窗口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1D5D96-6E0C-4319-A6C9-1E63E10A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667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FAFCAC-5816-4E30-92CC-766153E3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42F45-156E-4324-A9A6-C409924A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00200"/>
            <a:ext cx="226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401M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BA731-9436-4001-91F2-F7C04235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717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4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视觉编码器参数量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（MoonViT-V2）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BA8682-CD31-4398-B086-F1BE479B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476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F35400-1965-4348-AA39-AB87B08A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20F8EC-1ED0-462A-AB5D-DA0EA48C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93 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4A5ACE-4C8F-4806-922F-5A430D88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2133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69 个 KDA + 24 个 Gated MLA；约每 4 层一次全局注意力。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4C0467-6298-4A0C-BD5F-9C2078CF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48000"/>
            <a:ext cx="2476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594E65-11F1-449D-8882-311AB002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194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58F458-2256-4517-BF4D-BC5782FE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3718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896 专家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345389-EA0C-43AE-A18D-8BBB9B5F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800475"/>
            <a:ext cx="2133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16 路由专家 + 2 共享专家激活；latent bottleneck 为主干宽度的一半。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8C579C-A567-48DD-B45B-5DA360B9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2476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1DF0D8-44FC-4CBD-A4BC-76DAC020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903A49-9DF1-47DB-B810-A34D5221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160K 词表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E8DAD1-2F78-4675-83B4-47FD658F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00475"/>
            <a:ext cx="2133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隐藏维 7,168；96 heads；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LatentMoE bottleneck 3,584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（主干隐藏维的 1/2）。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350A39-1A54-45E9-9E8E-DD481854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8000"/>
            <a:ext cx="2476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AD16F5-A19E-4071-A8C9-92B09202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2194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9EF63B-31F2-4870-AFC2-625563DA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718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原生量化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4FC0D9-B49C-4B0F-95F0-F5AAEF23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00475"/>
            <a:ext cx="2133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SFT 起采用 MXFP4 权重 / MXFP8 激活 QAT，服务形态前置。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1233AB-9D4C-4ACC-B5D0-633D2DAD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8114D9-406F-4D61-98C0-E96BDD8F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5BA72F-DE69-4F42-BCE8-82BE79F0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1049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一句话：K3 的核心不是某个单点模块，而是“长上下文架构 × 稀疏 MoE × Agent 数据飞轮 × 原生量化”的共同设计。</a:t>
            </a:r>
          </a:p>
        </p:txBody>
      </p:sp>
    </p:spTree>
    <p:extLst>
      <p:ext uri="{BB962C8B-B14F-4D97-AF65-F5344CB8AC3E}">
        <p14:creationId xmlns:p14="http://schemas.microsoft.com/office/powerpoint/2010/main" val="9800394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2CFABD-FABB-4E7A-8EEC-81BDEE0E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37650-CD3D-4413-B6E4-9AA72B3D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AC937-5B61-4B53-8170-5857B559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目录｜从模型架构到 Agent 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70322-7349-4DF0-A39D-CC7D66DA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CBAC8-5AB5-4707-83C4-D96F5905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DB679-17E3-46FB-A700-AD8D7A42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来源：本报告结构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88A7B-07BA-4E8A-B371-9BBA4AA8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1EA8A-C87F-4D83-B8A7-490903EF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1CD23-A3A5-4C67-AE40-6F2EE5F4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架构与原生视觉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D1A4E-9F11-4537-97DA-8D48AEC0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KDA/MLA、AttnRes、Stable LatentMoE、MoonViT-V2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72D7B-C4FC-4476-AA11-6E6BC555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381125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04–10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2738B-0C0C-4DD4-A460-60865759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63474-0E1F-4BDC-A70C-350DAACF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1A6B7-674B-4164-80EB-7DC048FA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76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预训练与长上下文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B4381-5328-4AD7-9814-053F44C6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764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数据构造、规模律、1M 课程与多模态长上下文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6ECA7-30A9-41C1-86C8-1EEC294E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7645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11–15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8826E-14FD-43AC-81A3-DC0791F9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21F38-0295-4D69-8969-9F296D01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1775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9F02D-426E-484F-BD2C-B583C3CB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后训练与 Agent 轨迹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A754A-6C87-4D8C-883D-102BAB78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71775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SFT/XTML、白盒环境与 AET、3×3 RL、GRM、MOPD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A5249-D290-4327-9DF0-F952C027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71775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16–28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E690E-408C-4F22-9AA9-69A589FC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32F40-546C-4930-BA6F-1621BC39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5B051E-CC4F-48DB-B2D7-60D72927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训练与推理系统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CFF234-917D-446A-A329-86CE1702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671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FlashKDA、MoonEP、QAT、EAGLE-3、统一缓存与复用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A853D0-8A63-4FF6-94D0-46EED60F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6710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29–32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01E8B7-EEAD-458C-AF93-2D4D011A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811CE7-5E6E-4FBF-B40B-F806D3A5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B82C37-C85A-4D56-9BE8-9FD5F069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624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国内外同行对比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26D84F-EA96-42CB-8FF2-6D418E09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62425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DeepSeek、GLM、Qwen、Gemini、GPT、Claude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ADD1FE-98D0-4E82-92EC-74E443D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62425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33–38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F974AA-75FA-4957-A124-92F84DF6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DFB414-022D-4BEE-9301-54DE208E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AE79E1-738C-4042-8145-59817A6C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判断与建议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CCFBEC-5E50-472D-9FBB-F67A7EDF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577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优势与风险、轨迹工厂路线与最终判断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48AC03-7957-4272-88C5-B7641C5D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39–41</a:t>
            </a:r>
          </a:p>
        </p:txBody>
      </p:sp>
    </p:spTree>
    <p:extLst>
      <p:ext uri="{BB962C8B-B14F-4D97-AF65-F5344CB8AC3E}">
        <p14:creationId xmlns:p14="http://schemas.microsoft.com/office/powerpoint/2010/main" val="326526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E8562-306D-4A31-8E0F-ACEBC9D6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33F25-DA29-4439-8AE8-A2858375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0"/>
            <a:ext cx="4048125" cy="6858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DAFE1-1D52-455F-8CD7-5D525D96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F2CEA-2DB8-4153-9E6E-DAC5EF5E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架构与原生视觉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B9FE9-A7D1-45AF-BF10-C459140B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CC497-11EC-4781-9EA4-56AEAB22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733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rPr>
              <a:t>拆解 KDA/MLA 混合主干、AttnRes、Stable LatentMoE 与原生视觉，理解 1M 上下文的架构基础。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79106-AE5C-40B4-9266-C171E5EB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923847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70DC1D-CEFD-4926-B5B9-0E69C739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B5BF5-99F8-41B2-B291-CC411D2E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23B3E-B2EE-4304-B199-FF2F940E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9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93 层混合主干：3 个 KDA + 1 个 Gated MLA 循环堆叠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500A3-D3FE-46D9-9C90-CD046284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8F78F-0B31-49CC-8AEB-014BBB7A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3FB12-1352-4531-AFB8-20EAC032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§2.1–2.4, Table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95D62-F090-48B1-8C52-5AB0B6CA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93860-F1E8-4ED5-A3BA-0B143AA3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输入与视觉 token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E8F78-9BF2-438C-905B-03B73886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28800"/>
            <a:ext cx="381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13573-87CF-4492-B213-0DCD58DB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81125"/>
            <a:ext cx="4000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C49F7-F0C5-4426-B437-7D89C92F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04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KDA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05E94-2770-4E4D-BBDC-60FDE638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1447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线性递推 · 固定状态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369BB-DF15-4821-9F10-A688BE0E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14575"/>
            <a:ext cx="4000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525E4-796B-4ECA-B749-A701A8EA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384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KDA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F8D43-24C7-45A6-929B-A86F3F83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channel-wise forget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CCDFC-3582-4D53-B7D8-75EA8479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48025"/>
            <a:ext cx="4000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7978C-8367-455B-8CAD-F49319E0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71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KDA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86CC06-FFC0-43E2-8485-512396A8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NoPE · 直接外推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0F131-F632-404C-96C8-C46DF0D4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81475"/>
            <a:ext cx="4000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14ED9-5EBA-49A7-A398-1E0311B6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Gated MLA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6D033-C354-489C-B970-DE4DE418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1482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低频全局选择性注意力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752D4-854B-49D4-8433-2D64789F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38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× 24 组（末组少 3 个 KDA）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2B08DB-9695-4AE1-B518-A3D4CCE2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476375"/>
            <a:ext cx="4429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20D40F-F771-430E-816A-00D0E2B9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6287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B59CD0-A233-4AF8-9ED0-718FE0AD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6287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EE8841-ADB7-4040-8652-74286276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647825"/>
            <a:ext cx="360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AttnRes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EF96BC-49F0-413D-9659-B885D206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095500"/>
            <a:ext cx="40862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每层不只读取上一层；用学习到的 pseudo-query 对所有历史层输出做内容寻址。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CF08D6-E0D1-42A8-BD43-8C13CDF1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95625"/>
            <a:ext cx="4429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A3AA94-A791-4E8F-8074-20CDD5C0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2480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C9B599-C68E-435A-97D5-ED33F300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2480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F8C1D4-9C22-415B-86BE-ECD0997F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267075"/>
            <a:ext cx="360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Stable LatentMoE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0BB2BF-F208-4745-BB0B-DA4F8FD9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714750"/>
            <a:ext cx="40862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将专家计算压缩到半宽 latent；896 路由专家只激活 16 个，再叠加 2 个共享专家。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5CBBB6-F002-4D9E-9FEF-16252251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14875"/>
            <a:ext cx="4429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E9ABC7-8B32-404B-B5D6-DFFA00B1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8672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0A5676-F10D-4C60-87BB-501E9570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8672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BC6116-445D-43FC-A392-83534458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86325"/>
            <a:ext cx="360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设计目标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91BB1A-180D-4200-B8E7-A7E07707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334000"/>
            <a:ext cx="408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线性状态负责绝大多数 token；全局 MLA 定期校准；深度路由和 MoE 增加容量。</a:t>
            </a:r>
          </a:p>
        </p:txBody>
      </p:sp>
    </p:spTree>
    <p:extLst>
      <p:ext uri="{BB962C8B-B14F-4D97-AF65-F5344CB8AC3E}">
        <p14:creationId xmlns:p14="http://schemas.microsoft.com/office/powerpoint/2010/main" val="1095455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33A441-C6FC-4513-8D3E-F3248614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140F9-0166-488A-9290-B5DA2695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KIMI DELTA ATTENTION · RECURRENT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E2581-3D6B-4958-915A-09C3B079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KDA：用可更新状态替代逐 Token KV Cache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90DE2-2040-4859-A0B1-5072ACCC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03B63-E2B9-44A6-B3D6-326449AF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46D73-3B38-4DCF-BEA8-3A8F8C4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§2.1.1, Eq.1/5/6；[Kimi Linear] §3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69F9A-D8FB-45C3-B823-D83E1F38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E281F-456E-4FDE-9C17-52B97F5C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FFA8B-C542-4C91-BB1E-5B01F5D5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原始递推式｜单头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7CCBC-158A-41C2-BAF6-BBC5ADE8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685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6EC8D-BBDB-4F6F-B2D7-9B402E1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68027-9B13-4074-8B67-FB5BD7AF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661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Sₜ = (I−βₜkₜkₜᵀ)·Diag(αₜ)·Sₜ₋₁ + βₜkₜvₜᵀ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98744-3259-4BB5-A47D-F1E79505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õₜ = Sₜᵀqₜ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651FE-5E00-4CB9-BC0D-10640485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48583-9BED-40FE-8717-55D54052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① 遗忘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E6457E-D82A-4C08-A1EA-1BB57954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48000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Mₜ = Diag(αₜ) · Sₜ₋₁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E16FE-2174-4986-9031-B608D99A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逐 key 通道衰减旧状态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BD453-FF1E-4620-94D7-81DC2679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A9E814-BD50-49C8-A6FA-89C93847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② 旧预测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002AE-8E45-46E9-866A-AA6C60FC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00450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v̂ₜ = Mₜᵀkₜ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B8083E-842F-4500-BF8E-8442A8BA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19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读出当前 key 的已有映射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A360A-8665-445C-955F-48AC8F5E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686CB-FC99-4FE5-AD79-121F56B1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③ 修正 / 写入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59010-75A5-44B3-9242-2306F777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52900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Δvₜ = vₜ − v̂ₜ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Sₜ = Mₜ + βₜ kₜ Δvₜᵀ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4BD432-4BA3-49CA-A2FB-343E8ED6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71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误差驱动写入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1CA6DD-A310-4290-B120-DC66BD7F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B12B58-C9E3-43E5-B30F-BEC46AD9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④ 读取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6FE6B3-F68C-4C4B-A2AB-9CB79B24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05350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õₜ = Sₜᵀqₜ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51BD74-02F6-49DD-88D3-66663184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24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query 读取更新后的状态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C28E10-DDB5-478B-9A96-B35D4142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714750" cy="37909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C605FC-8835-4950-B761-123474B6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变量与 K3 特有稳定化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C5FBB5-DA5D-4C1F-8070-A589BDAA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526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FC4C50-40E8-4346-88AA-28D39C9A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Sₜ ∈ ℝᵈᵏ×ᵈᵛ：固定递推状态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qₜ, kₜ ∈ ℝᵈᵏ：读 / 写地址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vₜ ∈ ℝᵈᵛ：写入内容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αₜ ∈ (0,1)ᵈᵏ：逐通道保留率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βₜ ∈ (0,1)：每个头的更新强度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8F88DE-7175-4C20-9B2D-95D92BDB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3286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B47E50-B8E5-4C10-9E02-108409A4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3057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gₜ = gₘᵢₙ · sigmoid(exp(A) · zₜ)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αₜ = exp(gₜ)，gₘᵢₙ = −5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FB25EC-DBF8-4DB7-B8BC-F41ACE88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29100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下界约束使 16-token tile 的累计衰减保持在 BF16 可计算范围内。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1863CA-22C3-42AE-AAD2-BA38845C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10100"/>
            <a:ext cx="328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6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uₜ = sigmoid(Wg xₜ)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rₜ = uₜ ⊙ RMSNorm(õₜ)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yₜ = Wo rₜ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FFAEF2-E832-4F15-9437-EABA1BDA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10858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1B845F-A6A7-4D6E-971D-FA87E741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D55DB1-038B-4860-810E-9701EE5A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14975"/>
            <a:ext cx="1049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含义：69 / 93 层把任意长度历史压入固定 Sₜ；缓存不随序列增长，但精确逐 Token 检索能力由周期性的 Gated MLA 补偿。</a:t>
            </a:r>
          </a:p>
        </p:txBody>
      </p:sp>
    </p:spTree>
    <p:extLst>
      <p:ext uri="{BB962C8B-B14F-4D97-AF65-F5344CB8AC3E}">
        <p14:creationId xmlns:p14="http://schemas.microsoft.com/office/powerpoint/2010/main" val="2219991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FA6C55-3D4F-4283-85AA-726D135B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C2258-CB03-49DE-9EFF-3FD84022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MULTI-HEAD LATENT ATTENTION · NOPE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CE69F-C56A-435D-8BFC-B82A4D57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Gated MLA：低秩 KV 压缩保留全局精确检索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A6BF4-B909-4CC4-A538-BF211B29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0AB05-F176-402D-9D66-F08C0097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C6CA4-A6E3-4BC6-930B-DEE6C919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§2.1.2, Eq.7；[DeepSeek-V2] §2.1.2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AEF84-6D53-4F1B-86BB-E289F816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BC74D-8A4A-4C51-951B-5B214153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685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B20BE-2A6D-4D41-943F-26A643D9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① 联合压缩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C9745-056B-4177-942B-51FC70BB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85900"/>
            <a:ext cx="500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cₜᴷⱽ = Wc xₜ，cₜᴷⱽ ∈ ℝ⁵¹²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50B01-6336-4934-AA57-4ECC1B97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76425"/>
            <a:ext cx="500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每个 Token 缓存一个低维 KV latent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941D6-D92E-40F7-983E-744DE257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685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A5E7C-CA50-480D-A180-D2F02CFF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② 多头恢复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5A72E-5B6C-4805-A0C3-C7EC6C3A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47925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kₜ⁽ʰ⁾ = Wₕᴷ RMSNorm(cₜᴷⱽ)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vₜ⁽ʰ⁾ = Wₕⱽ RMSNorm(cₜᴷⱽ)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BBD41-D055-46FB-8873-9F63FF20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05125"/>
            <a:ext cx="500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第 h 个头恢复自己的 content key /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05782-D517-4574-9377-7BDE6DFA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685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238AD-EF40-4610-B10B-B77424B6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③ 全局注意力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D8E7C-4CBA-4C3A-88A7-D883678A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09950"/>
            <a:ext cx="5000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sₜⱼ⁽ʰ⁾ = qₜ⁽ʰ⁾ᵀkⱼ⁽ʰ⁾ / √dₕ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aₜ,:⁽ʰ⁾ = softmaxⱼ(sₜ,:⁽ʰ⁾)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oₜ⁽ʰ⁾ = ∑ⱼ≤ₜ aₜⱼ⁽ʰ⁾vⱼ⁽ʰ⁾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ACFF5C-224C-4E6E-AE91-51F81972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52875"/>
            <a:ext cx="500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仍对历史 Token 做显式全局匹配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A32C07-3EFD-4314-9624-0FF6ED13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685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3A513-C773-484B-A413-D97EA965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④ K3 输出门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BFDA33-8DDF-4D26-8C3C-4F236D01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71975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uₜ = sigmoid(Wg xₜ)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yₜ = Wo [uₜ ⊙ õₜ]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2F6D7-5D37-4174-918F-847F86D2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29175"/>
            <a:ext cx="500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逐 Token、逐通道调制读出；不是关闭整层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AE60CA-7B23-4B83-8AE3-92310E2F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09700"/>
            <a:ext cx="3714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D25D8D-B481-4A14-9266-63E3EB69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9067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K3 配置与计算含义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438A3B-FFEE-4B39-BBAD-DB4A2D05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C3E90C-1F9C-4068-AD4F-60764489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526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24 / 93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23D705-73BD-4999-A684-5DBDC8A0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Gated MLA 层；其余 69 层为 KDA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478D7C-C115-42E6-B37C-C6E646F5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C23FBE-1090-419A-913F-DE2B5949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512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130B79-2AC4-47E4-9B9D-977E6537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194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KV latent rank；不是 hidden size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971F93-3E5F-4F2B-98B0-91CD7D5B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9565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30345A-F430-4486-9927-DE0630C6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96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6F8C0D-5DD6-4F48-957A-02B11CE1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671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注意力头；每头 content Q/K 维 128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C9C88D-73A2-4FD2-B83B-B8B72A88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709EB5-10F2-4FF2-B4B2-77FD54B4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957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NoPE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AECF1A-5813-4383-8D1B-C70CDF1E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148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MLA 的 Q/K 不显式叠加位置编码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B6C9F5-55E2-49BC-AF02-3FE18151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863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1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缓存随长度 O(T × 512) 增长；相比完整多头 K/V 显著压缩，但仍保留 Token ↔ Token 的全局 softmax。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04B6C6-8BCF-49CF-A86A-325B9332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5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6AF6F3-A6D5-4AF3-8262-1E61F8A3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E4577E-6B4D-4143-9D3D-D47960FD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95925"/>
            <a:ext cx="1049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互补关系：KDA = 固定容量的快速记忆；MLA = 低秩缓存的全局检索。“Gated”指输出通道门控，不是按需关闭整层注意力。</a:t>
            </a:r>
          </a:p>
        </p:txBody>
      </p:sp>
    </p:spTree>
    <p:extLst>
      <p:ext uri="{BB962C8B-B14F-4D97-AF65-F5344CB8AC3E}">
        <p14:creationId xmlns:p14="http://schemas.microsoft.com/office/powerpoint/2010/main" val="5944580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408512-BBDB-472D-B70E-74BE7A34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F873A-C230-4FD8-B653-89FBDD01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ATTENTION RESIDUALS · DEPTH-WISE RETRIEVAL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E8A36-51A5-4237-A1BB-DBBA5889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AttnRes：用深度注意力检索历史层表示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661F5-3C44-48D7-9B8F-47147544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7AC46-7F4E-4ACE-8717-4ADBBDBD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22A07-C0A1-414C-8CC4-54BB20BC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§2.2, Eq.8–10；[AttnRes]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30920-F9CB-4D5F-AC72-C00784AC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37AE4-E963-453A-85FE-7CF3314C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23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9DA48-EAB8-4D09-B0A9-C198A701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传统残差：相邻层固定相加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76C9E-737E-470B-966E-687E03CC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hₗ = hₗ₋₁ + Fₗ₋₁(hₗ₋₁)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652D0-D8C4-4353-B0C3-C5944427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81125"/>
            <a:ext cx="523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5075C-F3C8-4857-B843-23705D1F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AttnRes：所有历史深度自适应加权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5DA89-209A-4D46-ABD8-6C046697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hₗ = ∑ᵢ αᵢ→ₗ · vᵢ    （i = 0,…,l−1）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40422-9BEB-4E34-932B-9A34152B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69532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2D3EB-77B8-4515-B48D-42853DCE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Full AttnRes：四步公式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81EB6-8FEA-4C12-AA23-A093BB7F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① 来源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C48AF-997A-43EB-A6E3-4401EED5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575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qₗ = wₗ；k₀ = v₀ = embedding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kᵢ = vᵢ = Fᵢ(hᵢ)，i ≥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6B65C-CE19-4D93-9DE9-60800DCB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575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wₗ 是第 l 层的 pseudo-query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0F5B5A-97DF-46A2-A49C-05E2BB97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6505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9AF56-6A51-4674-A59F-D13E00B4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② 打分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09CE69-7DFD-45A4-821A-54307D1A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814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sᵢ→ₗ = wₗᵀ · RMSNorm(kᵢ)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A4C4E-464A-4C90-8512-44DE1522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归一化避免大幅值层天然占优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994CB-B322-4F57-B1EF-6C7F6BF1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6505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8C11CE-658F-47A7-B095-06D35368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③ 归一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50FC69-CC30-4EEC-A488-FA67AEEB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052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αᵢ→ₗ = exp(sᵢ→ₗ) / ∑ⱼ exp(sⱼ→ₗ)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03C273-EFCC-4619-A7DF-75B27B0D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softmax 沿历史深度来源进行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81E1CB-C28C-4547-80F1-95E09F60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6505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E3636C-42FD-4F00-8588-D4F96D9F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④ 聚合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AB0CB9-7F41-4331-8AC5-140142B5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291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hₗ = ∑ᵢ αᵢ→ₗ · vᵢ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3DA4AC-78DD-4056-B56C-481C7102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291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求和范围：i = 0,…,l−1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9AA4E3-F0D4-4A8E-A946-256E24D7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3619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D7C579-CADE-476F-94FF-8D0E7DDF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K3 的 Block AttnRes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1545B5-0414-4F1B-AD43-A803FE67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C663A7-9F0F-453C-BBDE-7D1B8A54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7182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bₙ = ∑ⱼ∈Bₙ Fⱼ(hⱼ)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BF9BF2-0BB5-4BCF-81FA-266D7E8C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3377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V = [b₀,…,bₙ₋₁,bₙ⁽ⁱ⁻¹⁾]ᵀ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5BEF5C-5402-4FCA-BB33-2586B9BF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3190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• 块内层输出先求和为 bₙ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• K3：8 个 12-layer 块，末块不满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• 加 embedding 共 9 个深度来源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• Attention / MLP 使用独立 wₗ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• 状态与通信：O(Ld) → O(Nd)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6637F3-8108-48F7-87F0-E2763658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5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994DAB-BD48-4E19-9F20-8A629784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F941A8-36A0-4537-8D1D-F8BFC453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95925"/>
            <a:ext cx="1049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一句话：KDA 在“序列轴”压缩 Token 历史；AttnRes 在“深度轴”检索层历史。它不扩大 1M 上下文，而是改善 93 层网络的信息流。</a:t>
            </a:r>
          </a:p>
        </p:txBody>
      </p:sp>
    </p:spTree>
    <p:extLst>
      <p:ext uri="{BB962C8B-B14F-4D97-AF65-F5344CB8AC3E}">
        <p14:creationId xmlns:p14="http://schemas.microsoft.com/office/powerpoint/2010/main" val="15668559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E5B411-4FC9-487C-B980-D84B49B2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D06CE-0761-440C-9B33-DE2290D5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MIXTURE OF EXPERTS · QUANTILE BALANCING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EE836-CB77-436F-BA6B-2504A098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Stable LatentMoE：QB 校准 896 专家负载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F6085-F586-45B5-B1C8-4EFA3AD2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9F233-8657-42E1-BD43-DC7A8189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C2602-E134-4F79-8871-A257289B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§2.3.3, Eq.13–14, Fig.5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1CB85-33FC-461F-8190-FCEF8186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074C3-EEDD-4211-94FB-74086C42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476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041D1-727C-452A-A79D-9A3F8439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B92DA-C4DC-4A92-A449-E67623CA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896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9AE86-57D3-45A4-8CAC-DDD52A65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路由专家总数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67753-3D9D-4DB4-9E39-7BEB6AF8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28750"/>
            <a:ext cx="2476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D4D60-581C-4DBE-95CC-735A303F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287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DC3B9-44C0-42C6-AAF6-58D12CA9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6002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1E24F-8275-4EE0-91C1-756E04D8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717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每 token 激活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1A9DC-0D11-4826-9A08-335F6141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2476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897CC-FE61-4854-A5AB-246550C8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532AF-D74D-4940-A379-E1AD6F6F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002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+2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869855-8924-4068-A014-27EBD154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共享专家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A7ABC-6A6C-4A18-A25D-9DB014C7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28750"/>
            <a:ext cx="2476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D84B3-6060-490A-A191-321FE9D0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287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AEF7C-349E-4BEB-AECE-62020A09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6002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≈56×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E63DE4-2FB4-4364-B0D9-FD1E4E28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717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路由稀疏比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0436A9-9516-4D29-B5BB-13BBB2EF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91262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93336B-2151-4046-A858-848E79B6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Router 原始分数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4B1436-CBEF-4243-8AB8-2DE84D43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1645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sᵢ = Sigmoid(Wᵣxᵢ)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7EC72-41EE-4C4A-8BCD-498E5113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3267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CCD84C-A319-47B8-AD9B-33B251C7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3000375"/>
            <a:ext cx="191262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E955E6-9005-4189-B10E-BDBD3145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3133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带偏置 Top-k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C4E320-FBE6-44DB-8CEB-23A8BCF5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3476625"/>
            <a:ext cx="1645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Tᵢ = Top-16(sᵢ + b)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A39FEF-67D8-4116-91CE-DE35A1D6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940" y="3267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F8E87C-053A-4474-8FC7-D074BDEB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0" y="3000375"/>
            <a:ext cx="191262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AE56E2-5186-446D-B426-D660B693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3133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混合权重不含 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C15E59-86C8-40F8-9FD0-4F4D41E4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3476625"/>
            <a:ext cx="1645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pᵢⱼ ∝ sᵢⱼ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ACB73A-E7C7-4AD0-ADC0-E4565A13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3267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EBA11D-37BB-4F40-A5E4-7E1B5F4F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3000375"/>
            <a:ext cx="191262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22C099-3FCF-4853-B818-E4EFA11A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3133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目标负载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BC46EB-8F4B-4D75-968E-E50DFC41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3476625"/>
            <a:ext cx="1645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q = mk/n = m/56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1670CB-89ED-48CF-AC4D-B0D38EB3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67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E61BE5-0AA2-45B2-88B4-B6C0DB21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3000375"/>
            <a:ext cx="191262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6A5254-9ECE-41B3-B1F1-63E11452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3133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QB 下一步偏置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FFC712-9A05-46EB-849A-591BF394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3476625"/>
            <a:ext cx="1645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b̂ⱼ = −Q₅₅⁄₅₆(s:ⱼ−α)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6DEF76-1951-4777-9382-633C36E4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3333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315640-DBD7-4BE2-9435-373BED2E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815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6CA62C-0CE2-4912-A55A-82D9BB88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815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42BFD6-EF2A-46CA-8F02-BE9B90B7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005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Top-(k+1) 取门槛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F5182E-C213-4B1F-BF9C-D42A354B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Top-17 第 17 名为 αᵢ；margin sᵢⱼ−αᵢ 表示专家距离入选门槛。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FCCCA3-3AC1-4913-8BB7-76AB56BF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29125"/>
            <a:ext cx="3333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112DF9-57C7-4520-ACD9-9A485A45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815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B5AD6D-4E1D-4487-A0B3-406CED27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815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E6E6EC-3466-4D20-819A-A42B172D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6005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分位数直接定偏置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3A4955-3045-44B7-8EE7-9413289D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9911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无辅助损失；按 Q₅₅⁄₅₆ 求偏置，使负载趋近 m/56；减均值防漂移。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B83D4C-485A-42A7-80FE-DF221E46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29125"/>
            <a:ext cx="3333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6CD31B-1A9A-4FB9-BAF2-C9EF543E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815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D58B18-5CF2-4244-93FC-B1E6F940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815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22648A-DE30-42D2-A8F5-21A3C850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005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全局直方图工程化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89A29B-EFA6-4A38-B8D0-C198AE5F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911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All-Reduce 估计全局分位数；下一步生效、推理冻结；归一化 + SiTU-GLU 控制数值。</a:t>
            </a:r>
          </a:p>
        </p:txBody>
      </p:sp>
    </p:spTree>
    <p:extLst>
      <p:ext uri="{BB962C8B-B14F-4D97-AF65-F5344CB8AC3E}">
        <p14:creationId xmlns:p14="http://schemas.microsoft.com/office/powerpoint/2010/main" val="20708905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E939CD-C19E-4631-AC17-21A30DF1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CDD9A-6BE4-44DA-8B64-FA7DF399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NATIVE 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1D4E9-1E3C-4D6A-8909-3B8C9BDA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原生视觉：MoonViT-V2 从第一阶段参与统一预训练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FE142-C4F3-4BC4-B8F5-EB156398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CF8D3-FC98-4699-9E40-4C5848C4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32AF8-B442-4CA0-9670-F783D8EC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§2.4；§3.2；Appendix 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2DF8F-757A-4853-89D9-73B91639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A170B-5912-418C-9588-8BCAD85E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91262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C5C98-F48D-4ACD-82D5-9A4EC6FE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图像 / 视频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7B199-5EFD-4AFF-A35C-F13AB5DD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164592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最高 3584²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888AE-EFB6-422A-BC35-241E8E4C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F3FDD-DB5F-4B66-87E1-09D2A6A3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1476375"/>
            <a:ext cx="191262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01095-10C5-4173-86EA-94D1B54A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MoonViT-V2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7E8E7-9FD0-4CD1-B1C8-52EC9EDC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1952625"/>
            <a:ext cx="164592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27 层 · 401M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56498-AEC4-445A-B9BF-9046F913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94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58427-2310-4B3B-8E1A-6FE8A761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0" y="1476375"/>
            <a:ext cx="191262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43AE0-E550-4044-B838-74364E67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2×2 Pixel Shuffle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D7FDD-D343-4EE8-BF52-74A5B6B3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1952625"/>
            <a:ext cx="164592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token 数 ÷4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D0252-A670-4834-A385-A1390254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DE3A6A-2EEB-4A6F-88CD-F384EC38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1476375"/>
            <a:ext cx="191262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3427E9-2B9F-4E32-8D20-A8E1163C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统一序列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A027C6-517B-4B96-ADAD-8F689F4D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1952625"/>
            <a:ext cx="164592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视觉 + 文本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C51810-6AFC-4680-ACC2-2EDDA5CF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23A4FF-A851-40FC-8EFA-464A3A1C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1476375"/>
            <a:ext cx="191262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643AA-7996-4DCE-AF7E-2FD73306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Next Token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E7EDD6-8667-4645-9DCE-0D3B42D2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1952625"/>
            <a:ext cx="164592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同一 objective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1F156A-632B-46DA-9DE7-21D7E6CD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6C00B8-F979-44ED-80D9-3C840C3F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8B3142-0821-4FA8-8F4B-D914441B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858120-0772-4B70-8FAA-779E45C0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194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从零训练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AA49C5-CBEE-443C-BD7E-5075F8F1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2990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视觉编码器不依赖先验对比学习；直接在生成目标下学习可被语言主干使用的视觉表示。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D763C1-7DBA-4319-BBCE-52F49DE1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4800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A00C48-D2B6-4B4C-8BA8-BA47008C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0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9ABD42-3AD2-425B-BAFC-AE452F1D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0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E639FF-654F-4BE6-AB6B-E43B52B3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2194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时空交错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B2B990-0A72-4593-B040-65800559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67125"/>
            <a:ext cx="2990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空间层与时间层交错；视频端使用 temporal pooling，降低长视频 token 压力。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F06292-29A8-4ECB-8442-1C2E158F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9EA159-182E-42DE-9842-D17072DA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8F355A-C1BD-48CE-A846-52D4F2B7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C33158-D3C5-4153-99E3-B1FFFD5A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194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视觉编程数据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F5D32A-BC28-4B91-95AD-1E904294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67125"/>
            <a:ext cx="2990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代码与 SVG、3D、网页、游戏、CAD 渲染成对，为“看图→写代码→验证”建立闭环。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5E979D-B63C-4470-9DDE-A54DA3B8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E4129F-97B7-4B1D-85DB-3BE6B12F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76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02894E-FA1B-48AC-836D-CD3E1403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10496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原生视觉的真正价值不只是识图分数，而是让视觉观察进入 Agent 轨迹：截图、网页、文档、图像操作与代码执行可以联合训练。</a:t>
            </a:r>
          </a:p>
        </p:txBody>
      </p:sp>
    </p:spTree>
    <p:extLst>
      <p:ext uri="{BB962C8B-B14F-4D97-AF65-F5344CB8AC3E}">
        <p14:creationId xmlns:p14="http://schemas.microsoft.com/office/powerpoint/2010/main" val="7425589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42F94-59DD-4469-893A-ABA3D209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DA71C-24E0-4169-9116-31EED450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0"/>
            <a:ext cx="4048125" cy="6858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24DEF-BCDB-45BB-B1D3-AFE17F3E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3C1C2-FCFD-4AC6-A471-53301D4F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预训练与长上下文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08C86-F663-47DB-981A-76199046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28E7F-A485-4C97-B99C-C59DF0B0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733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rPr>
              <a:t>从数据构造、规模律与上下文课程出发，说明视觉、代码、工具轨迹如何统一进入 1M 长上下文训练。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6E685-2B4A-4DCC-8DD5-9EF740BD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694676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933666-D870-4FFE-AE68-E75F3F44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F1AA6-C6E3-4871-8ACE-B133E2E8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PRETRAINING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80484-5DB2-4B48-85F3-F8CE61E7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预训练数据：公开“构造方法”，未公开 token 总量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F9C53-4E33-4ECF-9FC8-5F0D3DFE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BAE64-0F67-431E-A3A2-8A77CB23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6A576-B1B3-4060-A0B4-95A399E0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§3.1–3.3；[DSV4-TR]；[GLM5-TR]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BC260-DB31-4D95-B1EB-E69B66B0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9C037-06FB-459E-B535-7ED25D18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952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4CDC7-4AFB-4D5B-B9ED-228080EE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A074D-B9DA-41FB-BD9A-00335F44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1609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DC5CE-9A15-48DF-9A2F-273E490A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清洗网页、长文档、跨页信息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F03A6-F1C1-4B27-A5FC-D60EA5B4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28750"/>
            <a:ext cx="1952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633F3-D657-49F9-93B4-DCF7DA88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00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5859F-FB88-423B-84C5-AE819FA3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52600"/>
            <a:ext cx="1609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6800B-901A-46E3-802B-1C6B06FE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8122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仓库、可执行代码、视觉编程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B4684-8724-4194-A5C7-D8E9232A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28750"/>
            <a:ext cx="1952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2B422-B941-46CD-AB6C-C5315465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00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C6A2A0-B704-4948-AC44-7656FAAA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52600"/>
            <a:ext cx="1609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Math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7030D4-58C7-43EE-9890-053FA52C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8122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推导、证明、可验证题目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71A13-1A36-42AB-A607-82E39E73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28750"/>
            <a:ext cx="1952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8D57A-A693-429C-9934-F788C10D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00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4D0197-24E6-45CA-99E6-668460AF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752600"/>
            <a:ext cx="1609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Knowledge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C8E530-774C-49A5-BA0F-30F9D194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8122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专业知识与结构化材料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D79EBC-965F-442C-A9A8-2687AC81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28750"/>
            <a:ext cx="1952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892EAD-54C1-483D-9954-5E7874D8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00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1264EE-4F72-4073-9183-695579B6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52600"/>
            <a:ext cx="1609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Vision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50D6CB-B1C0-46AC-BB88-53ED3B6B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8122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caption、OCR、视频、交错图文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D318C2-29FB-42C5-B91E-6F279542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可比较的公开规模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5F7126-33AD-4D4E-9C68-5E6104F2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0BF56A-5C32-4F75-9264-DEE0FAFB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E29EF7-1F2E-4377-AA29-CFFCF7CA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0"/>
            <a:ext cx="438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7C299B-D784-44C5-B2E2-44EF80B6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766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公开预训练规模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5F9379-8E0C-4D52-AFB2-9DF411D6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19500"/>
            <a:ext cx="438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9BCD5E-A07E-4CF4-AF29-EC2715F0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766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CF13FC-D5A0-4A1C-AC83-30B5AAEF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DFC3A4-B0A9-4180-814B-4E725586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1480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Kimi K3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B5EBB2-4076-4185-90A1-24610ABC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57650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7BD2EA-45BD-4A06-9270-7FB60503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1148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未披露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A44D8A-9FC4-470B-95DD-62EE5A7F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57650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D70903-0EF6-4EAA-AB76-A325C0CD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1148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只能比较数据机制，不能比较 token 预算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272F18-A707-49F9-8BD8-A0586CBD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37799C-97D2-47DE-9972-A187C059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672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DeepSeek-V4 Pro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523350-961A-475D-A849-EBF19BC7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10100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A78101-9FF3-4E1E-85DD-13883D4C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6672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33T+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65F5B4-1BC8-4532-A0A7-E91D705E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10100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8CCD49-336A-4DE1-8CAB-D88A8BB8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6672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当前公开开源阵营中披露最充分之一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FE580D-395A-4D5B-84CE-F35880E1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EC13B1-00E2-4656-95A9-3BDCBBF9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1970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GLM-5 基座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2474C2-839E-4609-A71E-A385AC04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62550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288283-20AC-45DE-BE5D-F49F43F8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2197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28.5T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158C49-8976-4C28-9D4E-79383922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47157C-68DB-4231-968F-DAC66E79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2197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含大规模代码与长上下文 mid-training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77B681-6663-4783-A989-B881F0DD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858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981315A-E18C-45DA-B9C4-0DE58FEF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7B1810-95D3-440A-B884-3BFF53E1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K3 报告的重点是“数据如何服务长上下文与 Agent”，而不是用 token 总量解释能力。</a:t>
            </a:r>
          </a:p>
        </p:txBody>
      </p:sp>
    </p:spTree>
    <p:extLst>
      <p:ext uri="{BB962C8B-B14F-4D97-AF65-F5344CB8AC3E}">
        <p14:creationId xmlns:p14="http://schemas.microsoft.com/office/powerpoint/2010/main" val="3372430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80C20D-6DD4-458B-8518-37BE72CB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11D7B-5505-4E4C-805B-D76F2432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SCALING &amp; OPTIMIZATION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741B9-7580-4C78-8312-55A04C31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规模律：K3 声称约 2.5× K2 scaling efficiency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9923D-B71D-45F0-BB1A-AA50A6FA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B0AFB-0DF3-4376-97D4-CB8ABF6C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D6A26-A722-43D1-8C4F-DFE13459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§3.1；Appendix A–C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878BE-72AA-43F1-9FFF-6BABB3F6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A0953-3779-4B45-A684-63B48AB6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238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14CBA-A717-49B1-BF19-B03A0253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D9224-356B-416D-A18D-4AF55FE9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≈2.5×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5482D-CD0F-4418-AE4C-5342F1FF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相对 K2 的 scaling efficiency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3018A-BD48-44DC-A721-934915D3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2875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AD6FC-389C-45E4-83D5-0A6F9E9A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A651D-A2FA-48AD-AF97-66E0C7EE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581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987C7-874F-4026-9F26-3E0BE19E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6002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联合重标定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DDFAB-A32C-469C-B67C-165EE405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47875"/>
            <a:ext cx="2990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不只扩大参数；同时重选 batch、学习率、tokens-per-parameter 与模型形状。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149977-E575-4F92-BED1-AC772CE4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486FC-6334-4F2A-9CBE-DFC48EE5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973F4-427B-48CF-B5CF-1FE82252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81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7F990-CE11-4202-A22F-82ECF9B9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优化器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81379D-36CD-4480-BA47-A4C8C4C1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47875"/>
            <a:ext cx="3086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Per-Head Muon：Q/K/V 的 momentum 按 head 分区后再做 Newton–Schulz 正交化。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4288BC-940D-43EE-953A-9B567E64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2471738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593FF-6A53-42DB-AA71-379CD8B8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2205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1% Warmup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65BBFB-BF5D-4F06-A088-D7BD2EF6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22050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线性升温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DB0AA3-EF6F-478D-8B8E-4817BA00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35528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576D77-8EE1-4046-9E99-611DCA07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286125"/>
            <a:ext cx="2471738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0A96E-A95E-42B6-83BD-61B9EF61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419475"/>
            <a:ext cx="2205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Cosine Decay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A3E66F-FC72-4111-B63E-0C21B549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762375"/>
            <a:ext cx="22050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主训练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5B1E84-00FF-4CCA-A7B5-4220DF5D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5528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A4A9AD-1F92-4C38-9061-7D6230DC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86125"/>
            <a:ext cx="2471738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607534-3F77-40F3-9904-78647AF3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19475"/>
            <a:ext cx="2205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WD 0.1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C966F2-281B-45B6-8F0C-665F82BB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62375"/>
            <a:ext cx="22050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权重衰减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1CD885-F1E2-45E5-B9FB-9ABA4BE8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35528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61DD2D-6252-4EB0-BE68-9FCF833C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286125"/>
            <a:ext cx="2471738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FE5C7D-A719-4473-9EA7-924B02FA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3419475"/>
            <a:ext cx="2205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Cooldown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3A75F6-6BF4-4584-B150-68A0FD7F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3762375"/>
            <a:ext cx="22050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长上下文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FC804E-6E59-4475-8D04-931852CD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5238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2CA414-6EAF-47E6-A54F-16D9F298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5238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7C3207-D9D2-4FCF-87B0-89898187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67275"/>
            <a:ext cx="2266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61B67C-FB3E-4FB0-B418-E1ADDE2A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K3 的取向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9ECA83-BADF-47DD-B9D5-227061C9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67275"/>
            <a:ext cx="2266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C05BC2-0CE9-48B4-B0AF-FD7E9344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768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需要谨慎解读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47E41F-B170-4778-8F11-4A5E7B98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F27948-81EB-4481-81D6-6B2FA93A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292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架构、优化器和数据同时共设计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4E2E5C-AE7E-453C-ABD4-0B4577C2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9ECF8C-3C23-40E9-9052-DF876002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21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把 1M 能力放进训练课程而非外插补丁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EEB8A6-88FA-40E9-90C6-A46F41A8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14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CFF06D-55D8-41AC-B96F-ED60EA87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292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未披露总 token、GPU 数与训练 FLOPs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2CF038-EFEB-4D94-8CAA-2B628837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57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EF8DCB-9F98-4AE6-AF7B-700EEA35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721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2.5× 不能直接换算为成本下降 60%</a:t>
            </a:r>
          </a:p>
        </p:txBody>
      </p:sp>
    </p:spTree>
    <p:extLst>
      <p:ext uri="{BB962C8B-B14F-4D97-AF65-F5344CB8AC3E}">
        <p14:creationId xmlns:p14="http://schemas.microsoft.com/office/powerpoint/2010/main" val="12870062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2C34D2-A716-40F5-9270-CAEEE0C1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2C521-E689-4667-B87C-77267582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LONG-CONTEXT CURRICULUM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2F034-5E34-4BF1-8156-3F317BFB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1M 上下文课程：先学局部规律，再逐步学习长程依赖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8BB21-399B-4C0E-870B-A860D85B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FF394-728B-4BBA-B342-190CC18C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0AADA-3AB0-4EA5-B64D-1EE4B73C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§3.4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242E5-6C64-4FE9-8A7B-8D745C70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21C9C-C557-45D3-A839-47A2D60D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2376488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02340-0779-4F09-96D4-9E99ECEC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04975"/>
            <a:ext cx="21097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8K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B59E7-FE8D-4A4E-8E40-DDF2BB41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210978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基础预训练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89F78-95E6-4C83-9EAB-9057A955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8383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4795C-7CE4-4FE9-B81B-F852FFDE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1571625"/>
            <a:ext cx="2376488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E53D5-23BC-4D59-845A-8CFEEE7F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938" y="1704975"/>
            <a:ext cx="21097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64K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79FB2-767E-4EB2-86BF-69D505E3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938" y="2047875"/>
            <a:ext cx="210978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主预训练后段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1EA04-1758-4561-8D8C-4E9C4173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8383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1766E-F302-4B63-9756-1F59767D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71625"/>
            <a:ext cx="2376488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C5B04-2240-4F87-9585-2A62B0A0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704975"/>
            <a:ext cx="21097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256K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2D752-B8FE-4B0E-9772-4EC12559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47875"/>
            <a:ext cx="210978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cooldown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66D52-BDA9-40F1-979E-27354539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513" y="18383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19A5B-E179-4641-ADF5-04F5E4DD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1571625"/>
            <a:ext cx="2376488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72B9D-FFF0-4809-8414-91536B39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1704975"/>
            <a:ext cx="21097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DCAB04-0BE9-4AFD-AD55-E40F2BCB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047875"/>
            <a:ext cx="210978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cooldown +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D7637A-B5BF-44EB-AB66-CEA0AFDB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49601B-5123-46C0-B726-42708598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2BA2A3-7400-4A2A-92D0-42CDA74F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4194D8-EFD8-495F-B9F8-58F4B756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575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自然长数据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751D4F-5642-4FD2-BF29-56D6D3E7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990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长文档、长视频、跨页材料清洗并上采样，保留真实分布与语义连续性。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5DE523-462E-4707-A7DF-3AA96520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86125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2BE252-5EC9-4C35-867D-C03AE66A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385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6E47AB-7D58-4935-B2A6-129EC13D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385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9BEC6B-45CF-4F1A-96E6-262B34BB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4575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强依赖合成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0CDE91-B54B-4DD0-B5EE-320AC5D7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05250"/>
            <a:ext cx="2990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置换、拼接、多模态任务故意让答案依赖远距离证据，防止模型只靠近邻猜测。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A94502-7646-46A4-B348-75ED3A79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F525CA-F921-4E89-818A-8AE279CE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385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17DA58-BDEC-40DD-99C4-12D9F94F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385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361029-62D5-4E01-BE17-1EDDB0E2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575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NoPE + 混合注意力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7450C0-DB3C-4356-9670-60B3E374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2990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全模型无显式位置编码；KDA 借递归门控与衰减感知顺序，MLA 提供全局内容交互。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2C578B-2996-42AE-91A5-EDBAEC4D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1BAA49-AFED-4286-B900-ADA9C9D0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5C7BD8-7330-44D3-9678-1A663A00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00675"/>
            <a:ext cx="1049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训练 1M 的难点不是“把序列塞进去”，而是让任务真的需要 1M 范围内的信息。</a:t>
            </a:r>
          </a:p>
        </p:txBody>
      </p:sp>
    </p:spTree>
    <p:extLst>
      <p:ext uri="{BB962C8B-B14F-4D97-AF65-F5344CB8AC3E}">
        <p14:creationId xmlns:p14="http://schemas.microsoft.com/office/powerpoint/2010/main" val="5431180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E18705-FACB-498B-8C90-399276D4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A23AB-1E50-4C6E-B553-FD1DDF75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MULTIMODAL LONG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4C5F3-6EFA-4A22-8E3C-460DD83A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多模态长上下文：统一承载视觉、代码与工具轨迹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2E27F-07CD-485F-8BF2-08E5310F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B4CFD-6497-4806-91DB-3B661B45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B9786-959D-4360-9A1B-0152ACFF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§3.2–3.3；§4.3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4BBBF-FDA4-4C95-AB6C-C3ACE826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73DFB-AA6E-4487-BC5E-3249757B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66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7B8B6-1C7C-47BB-85DA-5407BD6B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视觉证据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979BB-EB70-4041-869A-113862FB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543050"/>
            <a:ext cx="128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7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截图、PDF 页面、视频帧、图表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32022-8CD3-4B58-8C38-B4CAB28A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81175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F7A94-59C8-4B23-B15A-A223CEDC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66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ECA53-A17F-42D9-8954-B0A1D283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文本证据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5B37A-A906-47F5-A73D-F1C22F64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14600"/>
            <a:ext cx="128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长文档、网页、邮件、代码仓库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3818A-40CC-4B6F-A597-9DC4E32A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52725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85DB4-4F20-47D7-864F-70679042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66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59ED7-DAE9-45C1-86A6-F2170740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行动结果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CC232-0B4E-47E4-A43F-5972C0D8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86150"/>
            <a:ext cx="128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工具返回、错误日志、测试、环境状态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83FA7-9BE0-4733-A264-0987948B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CBDAC-47B3-4694-B968-BF740219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266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4966F-31A3-4EA2-9807-9ECDFCEE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决策轨迹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8F440-3895-4A74-B844-D4B1645B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457700"/>
            <a:ext cx="128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1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reasoning、tool args、observation、修正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39A177-4FC3-41F2-96F0-5C2EAA7E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95825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2B3CF-3DF3-4610-BF25-1FA8C8CE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71625"/>
            <a:ext cx="2476500" cy="3524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916A6D-2560-4006-9331-BA51F2A4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统一 1M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Agent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926EF1-F9CD-4710-8AB6-DE7F4759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478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6A7E5C-F592-4E1F-B679-B7F8F4CA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66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1D2D76-CE6C-4458-9013-7A342E5F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478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D697D5-68B5-42EC-BD3A-C372A3CE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57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跨文档定位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90E56F-FF02-49BE-BBDB-5B90BD03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AE2ECB-0F44-4C72-9278-CA052A5E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66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BB2B99-57CF-49B3-9F4A-A69C3D55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812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C3F5B0-92D1-4BD7-BE52-24D55F39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90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视觉/状态理解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ABD289-11B2-4609-8F46-EC085BAB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5FF239-FE3D-4F92-BD78-F3A220D0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266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F1FEB0-83E4-4C80-A2E9-D287F0D8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147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规划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A624C0-882F-4EB4-A7F2-89C660DD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24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长程分解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274FA1-A183-4479-A5C6-1A21D36A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482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2148BB-40AE-4F38-8AD4-1B101FD0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24350"/>
            <a:ext cx="266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585D47-F7C3-411A-BE07-6DA881D1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48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85D3EF-37DC-4F5E-9721-EF4AF82F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57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多轮工具调用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AA90F2-630F-4B66-8D0C-32DE4404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04C422-E7BB-417D-BA95-992C0F1C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D6BDAE-F820-4026-B754-3F491F3A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1049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多模态 1M 的系统含义：不仅 KV/state 要扩展，环境日志、工具观测、图像 token 与训练回放也要能共同持久化。</a:t>
            </a:r>
          </a:p>
        </p:txBody>
      </p:sp>
    </p:spTree>
    <p:extLst>
      <p:ext uri="{BB962C8B-B14F-4D97-AF65-F5344CB8AC3E}">
        <p14:creationId xmlns:p14="http://schemas.microsoft.com/office/powerpoint/2010/main" val="14316806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EF86A-387E-41AA-B6B7-BCBFD658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00FA7-DE02-4CC8-848A-3F56EF4B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0"/>
            <a:ext cx="4048125" cy="6858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E2BB2-A3C7-4EEC-897C-3C2F8FEF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EEE26-A9D4-4134-9295-C68DD603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后训练与 Agent 轨迹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7BB70-C3D3-461E-A5A3-AE3A8C4D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8B7D7-44A9-48CC-AF30-FF750C36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733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rPr>
              <a:t>从 SFT/XTML 到白盒环境、AET、3×3 RL 专家、GRM 与 MOPD，梳理 Agent 轨迹训练闭环。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4C9B6-3D19-4E80-B0E0-0B18F972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442012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496C3C-F705-4653-A4B8-4B6242F0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FA259-76D9-406F-BB83-8662732C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POST-TRAINING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49F1A-51CB-43B2-B21D-BEFDCEFE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后训练总览：SFT → 9 个 RL 专家 → MOPD 统一模型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55FC1-EF27-4A45-823F-ACDAE41C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BB4C5-2F47-4DA5-A9BA-9449884E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B5B59-9704-46D9-B2CE-AC56AAAF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§4.1–4.4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4F1BA-1B5E-4076-AA7A-8C6E83FD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E2618-0ADD-4F5D-A190-062AD0EF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9126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F4C80-4C8D-46B5-AA2C-0230E97B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7D784-ADDA-4103-ABEE-8622B1A0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164592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高质量 XTML 轨迹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19EA3-3F22-4815-B007-C0E00541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BF606-6B00-4869-BA45-CF97CA1D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1476375"/>
            <a:ext cx="19126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3F6B5-2D55-4B49-AEEA-93ED4CF5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3 个领域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4E8B9-A2C7-45F9-9107-1C937D2A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1952625"/>
            <a:ext cx="164592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General / Agent /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17785-17E5-4E25-8DC9-62493EF5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94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F818B-6416-4DF3-B404-445E6987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0" y="1476375"/>
            <a:ext cx="19126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D9E71-4F2D-4C37-819C-EBB9DFAB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3 个 effort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A8CDD8-B03A-4598-B725-9B80129D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1952625"/>
            <a:ext cx="164592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Low / High / Max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77424-31B9-45EC-9000-68ECB60A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869F6-0E20-4515-B903-F2E7187D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1476375"/>
            <a:ext cx="19126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57D183-27C9-44BF-A7C6-32796D01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9 个 RL 专家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036B8-F7AF-4610-978F-0FC56DAB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1952625"/>
            <a:ext cx="164592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预算条件化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CCE752-7361-47C9-970E-4D1A619C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32B898-9414-45C1-B993-269385B4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1476375"/>
            <a:ext cx="19126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661A6E-F002-48FD-9675-8B1E76DD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MOPD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DC62DE-126D-4322-905D-01F29D1F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1952625"/>
            <a:ext cx="164592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合并为 K3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6C9E44-6C0D-4446-89F0-310CF38C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333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551AF3-8554-4F7F-8752-D3BF8B6E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5DADEA-50A4-42FB-82A3-CCBCF158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FD2847-E9D8-48D8-86A6-07E70132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为什么先拆分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534A94-2785-497C-ACAB-14735D58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2990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不同任务的奖励密度、轨迹长度、工具环境和最优推理预算差异极大；统一 RL 容易互相干扰。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C1D045-5CF8-4B7D-B4B6-A90B3A59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3333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34E790-02A2-4B6F-AAA9-5FA1CA68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956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1E9980-6A76-489A-A9AF-5A8DFB01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956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E51B5C-39F3-430C-8D5E-211D2C53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3147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为什么再合并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D9B60D-0363-4044-8EE5-2467C41D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762375"/>
            <a:ext cx="2990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部署只希望维护一个模型；MOPD 用各专家作为 teacher，密集地回传 token-level 行为差异。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635811-D400-4940-8C34-D2EBEF25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3333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C32EA2-5204-442D-A805-3D9D223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47FD80-3A38-4D40-B985-AB6494D2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3B651E-F87A-420C-8E39-ABDC9EBE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147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核心结果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726119-1EDE-462C-922B-52737A6A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62375"/>
            <a:ext cx="2990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把“领域 specialization”和“统一可用性”解耦：训练时多模型，交付时单模型。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2674FC-AA61-41E1-BAE4-6E44F16D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FC0EF6-3756-4644-A04D-283A6C46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B8CE30-31D9-4286-855E-69159151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1049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 Agent 轨迹的直接影响：同一个任务可以在不同 effort 预算下产生多条策略轨迹，形成可控成本—质量前沿。</a:t>
            </a:r>
          </a:p>
        </p:txBody>
      </p:sp>
    </p:spTree>
    <p:extLst>
      <p:ext uri="{BB962C8B-B14F-4D97-AF65-F5344CB8AC3E}">
        <p14:creationId xmlns:p14="http://schemas.microsoft.com/office/powerpoint/2010/main" val="9857592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F8C517-3E59-4792-BF61-EE57F9EF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C19DE-6657-4522-A9CD-A3965DA0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SUPERVISED FINE-TUNING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6A37F-B901-4345-A8B9-94F4DD9A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SFT 轨迹：专家生成、验证与 XTML 序列化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064C8-FB84-4762-935B-32E7C028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DDC62-ABEA-42C4-9B14-4524BFBF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8D8A7-6B4D-4E6F-9B17-E20277EC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§4.1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85FC1-9D01-4C8A-A473-3660FB6E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02652-7104-4109-AC34-6C13D0B3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91262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82F83-626D-4AD7-BCF8-92831D2E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旧版 Kimi 专家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CEA9B-C099-43CF-ABB5-BD5EF026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16459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领域生成器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314B2-FDC1-4FC3-939D-904E2BFC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7E83AD-7B0A-47D1-BA30-3E47604C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1476375"/>
            <a:ext cx="191262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F0429-35D5-44EC-80C8-50D86CDC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轨迹合成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E565A-6345-402A-866E-26ABBDD1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1952625"/>
            <a:ext cx="16459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reason +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28043-D8F1-44AA-BEA1-0F541044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94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3D028-D9DD-404C-ACC8-2EDD6B35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0" y="1476375"/>
            <a:ext cx="191262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9F358-73CE-4B00-A448-3869539B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自动验证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6C474-71A4-41F2-9F02-3CD9B807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1952625"/>
            <a:ext cx="16459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格式/工具/结果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DF2B65-1A70-42AD-B2AB-7F182566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628A6E-155F-49F5-8B8C-11469566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1476375"/>
            <a:ext cx="191262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A96EE-C50C-4894-872A-73D6C3E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人工标注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100F9-BCAF-4537-B117-D9D854BF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1952625"/>
            <a:ext cx="16459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难例与偏好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0F999-1E79-4462-860A-0A241D1C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7B3D7D-B899-4548-B7FC-009AEAB6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1476375"/>
            <a:ext cx="191262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E0DE7A-9476-4AA6-B2B6-56CEA883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XTML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E69611-8C78-4D23-99C4-E8005CE1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1952625"/>
            <a:ext cx="16459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统一序列化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80E4D8-60D9-48DF-A757-E3C0CDD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238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AB4BDA-BA33-42B9-9F16-9D97808B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5238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DAA54C-B8A5-4E81-9EAF-375746CF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266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25AFC7-0C1A-4F3C-B747-B03A9BFB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轨迹中保留的信号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8770B5-F53B-4CD3-B52A-CEFE4642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2266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7E60C6-DE7E-40D3-8406-8B89541E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146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SFT 的局限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C9262-247C-45B2-8D1B-D4F71688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90CDF8-EC47-4631-B58F-241DB4AE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推理文本与工具调用参数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A8A344-3C45-4705-9657-B9BACCCD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F728FB-F678-4BA0-854C-01121586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386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observation 作条件；最终答案作监督目标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D117BE-3FF4-4921-BA4C-1EAA03E8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48541C-344F-46D9-927E-D8DA244C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格式边界、角色与动作类型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E18A23-C1CD-43CD-A574-FF4083E2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22C10E-07DD-4C4E-BD99-60374592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多阶段验证后的可执行轨迹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D2F29A-4E07-4D9F-8B78-4417F4F2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1B0F6A-411F-4F30-90FB-C2EF7DC6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814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离线轨迹受 teacher 能力上限约束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8CB83D-088D-40CD-B5A6-51839CB8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24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BDF548-9D31-48B3-A4E4-575F4A4D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386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对长程错误恢复的覆盖仍不足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4FD2CA-6E73-477F-BD90-7373934A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81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A78F75-0DF3-47DC-8327-351F167B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958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高 effort 轨迹可能过长且昂贵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EBDBF4-5C6C-4A58-8C93-3AE6EA1F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38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9BF8B2-87DB-41AF-A3F7-8C7E547C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530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需要 RL 在真实环境中探索补齐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882DA8-6E66-471F-9EA5-68F39405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10858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4DDC57-00AC-42AE-B28C-97BC39BC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76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A44435-6EA9-4C54-A4EB-0AD3495C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05475"/>
            <a:ext cx="1049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XTML 统一工具、角色与 observation 的序列接口，让同一 next-token objective 学习 observation → action。</a:t>
            </a:r>
          </a:p>
        </p:txBody>
      </p:sp>
    </p:spTree>
    <p:extLst>
      <p:ext uri="{BB962C8B-B14F-4D97-AF65-F5344CB8AC3E}">
        <p14:creationId xmlns:p14="http://schemas.microsoft.com/office/powerpoint/2010/main" val="15343141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C6D38B-09EE-450F-A046-1ABA3993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3E13F-D81E-442A-9E66-75183DEF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EXTENSIBLE TOKEN MARKUP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A802C-448E-43DA-8121-57323609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XTML：用 4 个保留 Token 统一 Agent 轨迹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C2786-335E-452A-AF9E-CC70607B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039FB-CCB5-4A05-9C72-DA80DA91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F1D44-A613-4EBC-A142-E23C2349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§4.1.1；Appendix F, Fig.16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D2E28-C0DF-4C96-86A0-C841B8E2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783E0-8CD2-46B4-BB74-4D3F341A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3333750" cy="35242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60DFD-B61D-4A87-8835-6F404B87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XTML 定义的 4 个符号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A4AD2-5B26-4E9A-AEE7-59F5AF22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CE954-1805-49CF-8B6A-1047D5DD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rPr>
              <a:t>[open]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7BF91-5576-4464-B61B-F6F93AF5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66950"/>
            <a:ext cx="17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CFC58-E4DA-49E1-A853-91C36700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6695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打开元素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C549C-C6D5-4F8B-A50F-C44C3737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1462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1FFF3-BCE4-4C7B-978F-F0DD714F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rPr>
              <a:t>[sep]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93555-1116-41E7-AA2E-2F59FC97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57500"/>
            <a:ext cx="17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5CD84-696A-46C1-858C-50A918EA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575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分隔结构边界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8FF92-CC9C-4FC9-B554-2696F94A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F3D68-62A6-4A9F-9587-ACA49F78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rPr>
              <a:t>[close]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CAA53-A162-45ED-831B-3729DAFE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48050"/>
            <a:ext cx="17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BC0E8-E618-45B0-9352-88BA60B7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4805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关闭元素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8BAA48-2C3C-4FCA-A24A-BC99F8E1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9572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0DDF5-3590-498D-AE14-A3F0B4F4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rPr>
              <a:t>[end_of_msg]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4A518C-8FC3-420C-BE0E-C861D145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38600"/>
            <a:ext cx="17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F6A8B9-8326-4CE5-B595-1D61DF01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386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停止生成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6C14AB-3906-48F1-9CD0-AEFC851E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异构事件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7ED950-2332-492B-A6E3-3C599D80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1809750" cy="2571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A75E9D-EA91-4457-B400-EA5AEB5F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7137BB-298A-4C00-800E-BFD5D45A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system / user / tool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72E396-9744-44A3-85FF-4F74062C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9825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F2524F-96F1-4439-84CB-806610F6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527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2ACCF3-70C6-43B8-9641-A630E32C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5270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8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search / python / browser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7D2CE2-EC9B-4751-879D-91A3D3E7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62275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28DE2D-B55D-46A5-86B5-C4DFF09A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参数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01E073-6DD9-470B-AEF8-F0A37816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051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query / code / url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261039-D139-4187-8445-BE807DFB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14725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A5D48C-FC45-41A1-A413-D7927CE3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观测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F92900-1B2F-4642-8636-D377DF09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5760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结果 / 状态 / 错误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DC4B1E-904B-4355-AE07-4815A3C5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1381125" cy="1428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080A86-C9C9-4D75-B223-8F8A4F80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57450"/>
            <a:ext cx="100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XTML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序列化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57A0ED-49E8-49D9-9D87-A64887EB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95625"/>
            <a:ext cx="1114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[open] · [sep]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[close]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[end_of_msg]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FA11C7-554C-4755-8D22-2CDD6E75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289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A158EB-825A-4A84-815E-1E4A695C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289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D2B318-BF40-4F3E-AC74-F5560C25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统一序列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263D2E-CFD2-4BD8-BEA0-679DE75F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19087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D17814-F53C-4AE9-AEC3-34E610CF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09775"/>
            <a:ext cx="280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[open]message role="assistant"[sep]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568148-19C7-4560-B1F1-185D82C0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62200"/>
            <a:ext cx="2809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  [open]think[sep] … [close]think[sep]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  [open]response[sep] …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  [open]tools[sep]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    [open]call tool="search" index="1"[sep]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      typed argument …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    [close]call[sep]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  [close]tools[sep]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[close]message[sep]  [end_of_msg]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095941-71A2-4E9B-8333-856E75FB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19625"/>
            <a:ext cx="209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0C0F6E-FEF4-4E73-AD3F-B8080113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339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可扩展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926818-0113-4B74-8A41-67699FA8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0196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动态声明新工具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38CF84-5C66-4962-912A-05E3905A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19625"/>
            <a:ext cx="209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5C75B9-7E61-400E-B7CC-086DA353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7339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低对齐成本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B0EA49-EB6D-40CE-B566-63E0D8E3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0196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沿用同一模板与模型头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DAE901-5CB8-4667-88D5-A6EABB4C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19625"/>
            <a:ext cx="209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C8522C-E315-4462-BA6E-519BC6EB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7339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易约束解码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B6D47A-929A-48FA-9181-352D7EC7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0196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边界清晰、可流式解析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8E4343-A311-471B-89F9-57FE0BE7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8A6274-F3AC-428C-A4D3-651834E7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DB0C0B6-CEE1-4E1C-A6A4-3781948B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86425"/>
            <a:ext cx="1049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XTML 只定义 4 个保留 Token；message / think / response / tools / call / argument 均为可扩展标签名。</a:t>
            </a:r>
          </a:p>
        </p:txBody>
      </p:sp>
    </p:spTree>
    <p:extLst>
      <p:ext uri="{BB962C8B-B14F-4D97-AF65-F5344CB8AC3E}">
        <p14:creationId xmlns:p14="http://schemas.microsoft.com/office/powerpoint/2010/main" val="21292447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C896A4-9917-4858-9A7C-5A6751F4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55CEC-8733-4C1C-9049-BC0E8A08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ONE AUTOREGRESSIVE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8F5F1-20A0-4C11-B6BB-252B9529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XTML：用 next-token 学习观测到动作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CB6BB-4070-40ED-9EC1-ED6D2871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9F854-52D3-4E54-A4EE-A1862BBD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9D75D-3382-407A-8E70-674EF380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§4.1.1；Appendix 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AE7D6-7D22-4C87-A6AC-54E7D638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9F851-8ECD-4F0C-9E9A-F5AB4E83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BEBA9-F6B8-424A-91D7-67840AAC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Lₙₜₚ = −Σₜ mₜ log P(xₜ | x₍&lt;t₎)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608CD-7A38-493E-B36E-23D58D48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rPr>
              <a:t>mₜ：模型输出=1，环境输入=0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EA8E9-D9D8-4969-B227-56B6E097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09700"/>
            <a:ext cx="6858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FB7BB-50E9-4E11-8D4C-E0141F49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581150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XTML 把动作类型、工具名、参数、频道与结束边界都变成可预测 Token；因此不必为每种工具增加专用 action head。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4813D-3E04-49AC-A1B1-5B4BF23A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91262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9F2D3-B46C-463D-9D68-A786A712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EEB73-A20D-4525-A684-966DF969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645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system / user / 历史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33DDB-B043-4263-A55F-27CD2B6C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2895600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2DC17-9230-42CD-AA10-607FA395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2628900"/>
            <a:ext cx="191262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EFE24-62AF-47C6-A3C8-BB9437BD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762250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最新观测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D8C613-2D32-4A28-9CC6-A0AF0365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3105150"/>
            <a:ext cx="1645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tool result / error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D3B7F7-9625-4323-9E51-29D791CF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940" y="2895600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3F3692-8714-4BA2-947C-21D388DE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0" y="2628900"/>
            <a:ext cx="191262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C22B18-4B78-403F-934D-DE1EA30B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62250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模型输出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9F473B-12BD-41C2-B00C-6667FAE1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3105150"/>
            <a:ext cx="1645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think / tool / args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096E21-F86D-46F3-A96F-34098DA9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2895600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1FFF47-1BFA-4EC3-B0AA-A9453AE3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2628900"/>
            <a:ext cx="191262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4ED94-0FBC-400F-B88D-5A14C369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762250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Harness 执行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F53A01-F9C4-4532-A902-0799189C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3105150"/>
            <a:ext cx="1645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解析并调用环境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023CCC-C539-4FD9-BE9C-606E7F2B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895600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67FA64-39C2-4B09-9499-D703796F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628900"/>
            <a:ext cx="191262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662139-0893-4618-81AB-10FDC2F8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762250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新 observation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D2F27A-B793-4A9C-88E6-9B752047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3105150"/>
            <a:ext cx="16459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进入下一轮上下文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BE4788-638C-4912-B94C-888B8122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95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循环直到模型进入 response 频道并完成答案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0FCB56-F62A-4FCE-A55A-4F39DA01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5191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44807C-2073-44CA-928F-749AB7A6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3000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73BF1D-B76D-404D-916A-1D683D11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通常由模型生成，可进入监督目标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7A1B1C-A9AC-4A9E-BB56-6AC4FF65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EA68CA-0B77-4ECF-82E1-9618410D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4505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think / tools / response 的结构边界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AC9C0D-F436-4BB7-A30A-36339C41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B710A6-24BB-410B-AFAB-1F4A7F07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05375"/>
            <a:ext cx="4505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工具选择、调用序号与参数内容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19DBE1-9FB9-4B0D-A04E-447064A4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67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9BC6EA-38D3-4545-86EC-74D1FF4F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81600"/>
            <a:ext cx="4505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最终答案以及是否继续执行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9DEB49-BB40-46F7-80B3-13890893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48125"/>
            <a:ext cx="5191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0960D2-9BB0-4C95-9850-9A4ECFB8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219575"/>
            <a:ext cx="3000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5B06FE-EF28-4078-8E04-55843933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2291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通常由环境提供，作为条件输入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242F80-9D5A-4573-9398-33B167DA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3474F0-54BE-40BE-B1E4-8139C402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629150"/>
            <a:ext cx="4505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system / user 消息与工具声明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7700BB-3903-4D93-8F62-7D4221FE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991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D8A72F-2809-4539-AECE-80DFE10C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905375"/>
            <a:ext cx="4505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tool result、状态、错误等 observation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223471-573B-4C11-A745-B6497010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162550"/>
            <a:ext cx="47720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9D82B0-920F-41BB-8E45-C4780A41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181600"/>
            <a:ext cx="4505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Loss Mask：环境输入不参与目标，不要求模型预测或复现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F8738F-0E87-496A-A840-992B69FE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858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6B8658-ADE4-46BD-9BDC-57B9DBE9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5F31FE-956F-4B4E-AA17-7EB1B943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1049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关键：XTML 统一序列，但 loss 只监督模型应生成的 Token；环境输入可被 mask，只作为决策条件。</a:t>
            </a:r>
          </a:p>
        </p:txBody>
      </p:sp>
    </p:spTree>
    <p:extLst>
      <p:ext uri="{BB962C8B-B14F-4D97-AF65-F5344CB8AC3E}">
        <p14:creationId xmlns:p14="http://schemas.microsoft.com/office/powerpoint/2010/main" val="19572722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DAD67C-08A9-4B03-9832-F951285C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0E3AF-8379-463F-8712-2A1F2B43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TRAJECTORY ANATOMY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E8846-F9CD-4B21-8FE5-AB43F720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4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高价值 Agent 轨迹：可复现的状态转移，而非“长思维”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177AD-EA6A-4D3F-9F50-986248B9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91E66-2DF1-4F3A-AE1C-DB2E1392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79354-8252-40FE-8C33-75A52AEB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§4.2–4.3；本报告归纳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D7FA1-56AC-4E3D-B4CD-F8E55D7C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FC23D-3415-4AFF-AE3B-9CB2746D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219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E8B33-3A81-409F-81F0-1A27CB35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60FE8-503A-44F0-8EBF-00112F7C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97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初始环境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E6159-F252-4B16-81C9-6722A84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781175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10FD4-80B1-4D3D-8B69-A44A3499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0"/>
            <a:ext cx="1219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BB173-BAC9-485B-9D5E-1CB97274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6573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R₁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D6256-EB77-415D-81AA-191E5DE1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97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计划/假设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BDB33-CC3E-400D-B409-98EAD95A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81175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FB207-B72C-4975-A031-FCFCCD29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524000"/>
            <a:ext cx="1219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B286E-A4BB-45CD-B6A5-D8DF20C1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6573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A₁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12AED-829B-4CDD-B373-3D0D00DF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097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工具动作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2C4C75-C56E-496E-B9B3-30472AC4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81175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4AB3F-7AA7-47B5-A43B-246FA061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524000"/>
            <a:ext cx="1219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C52055-1E6D-441A-8DE2-1B475D61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573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O₁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484EC2-4D9E-4B94-8354-AC03423B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097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环境观测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D96E89-4B39-446E-ABD5-42D182D4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81175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F8AF6F-9493-4AE5-BB98-1ED0F211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24000"/>
            <a:ext cx="1219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4E386E-F639-4097-82ED-03957D6D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573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R₂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33C47C-00A9-45F7-AA12-00BDC6BF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097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诊断/修正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58F8F2-3921-43F6-A84A-9EF70DD2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81175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A69B52-7499-4BE5-8A36-D9731966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1219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259143-34EC-4833-AC22-3D67387A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573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A₂…n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82FA9D-96B4-42E3-BEC2-A647D606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97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继续执行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3C5FBF-B3E1-4C99-A914-22A368D3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81175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85458C-22A0-46E5-9F7E-84E9E262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219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ADF913-B43B-4C09-BB85-94D3F5A1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6573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1CD579-5526-422A-B266-C74A304A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97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独立验证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98C6AE-2659-4DB0-A16F-EC523FE2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476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CCBE94-26B7-4E0B-A5CF-841D6C28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217D2F-D28B-40DF-B7AF-B5B6C348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55A976-E7F5-4FA0-871A-739210F8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19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可执行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488120-3499-41CC-A6DB-13E4A328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2133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tool args 必须能在真实 harness 中运行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A3119C-5110-42BA-94F9-2DCCD86B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48000"/>
            <a:ext cx="2476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842CC3-6AE7-45D8-BDE4-C3DFF6C6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00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8A6601-F674-40D1-BE3E-DD9F9BD1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00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4665E7-9AA5-4665-9CA4-542BFB7B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219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可恢复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A83FE9-528E-4E00-917E-70559E39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667125"/>
            <a:ext cx="2133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错误 observation 后仍能回到有效策略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5CF5DB-AD8B-4290-8A6F-F3D0BD06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2476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1BE528-7D29-4F2C-95E7-75C8BB84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061C91-5914-4E24-9811-124F673F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170C5A-E0A6-4B44-AE15-5438AD7D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19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可验证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206CFD-BC67-48FC-9770-7C861705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67125"/>
            <a:ext cx="2133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奖励来自最终状态或测试，而非文风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B768F6-4969-45D8-8D29-AC13B227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8000"/>
            <a:ext cx="2476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5F76EC6-39C7-47D4-990B-F797D72C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200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CD6A4A-635A-43C6-BEA7-A1AD0A3E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200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CAFE50-EB67-47C5-8F11-16937BA2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219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可复现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20A7FD-D466-4D8C-BAEE-40F88181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67125"/>
            <a:ext cx="2133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状态、镜像、工具和 verifier 有版本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D13439-47B7-4214-807C-94CAF959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85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CE0F52-AB92-4E36-8F93-28B332B6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8890BE-2C55-494B-B323-D31C0894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0496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K3 的突破点：把 trajectory 当作“带环境版本和验证器的可重放程序”，而不是聊天记录。</a:t>
            </a:r>
          </a:p>
        </p:txBody>
      </p:sp>
    </p:spTree>
    <p:extLst>
      <p:ext uri="{BB962C8B-B14F-4D97-AF65-F5344CB8AC3E}">
        <p14:creationId xmlns:p14="http://schemas.microsoft.com/office/powerpoint/2010/main" val="1256530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69863D-77FC-44BE-B59B-CDC4AE7F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99086-7A54-474A-A3CD-27D51809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UNIFIED WHITE-BOX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A9CC7-A16E-4E6C-93A3-0D6EC3D3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统一白盒 Agent 环境：把 harness 拆成可组合模块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04ABD-4E37-432C-A081-3C1EFD68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1C896-EC28-4B09-B971-1C69E6F1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3E12C-5D5A-479C-B345-FABEA07B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§4.3.1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D4925-60B9-4D9F-8021-D3BD55BB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C53D3-FFDC-478B-AAB1-67F54989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333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273C5-AA37-4EE3-9CA9-180180A4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F5F61-CAC8-4C19-96C7-0C60272F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E234B-2C5B-4EF4-8BF0-83EAD8AD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02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1E755-8CEC-4327-A8DA-209283DD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搜索、文件、终端、浏览器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BEB0B-D195-4191-A210-C1E19B7E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28750"/>
            <a:ext cx="3333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DD1F0-0826-4BE2-B7A2-61DFE89D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1D7F4-4EB8-4F36-9CFB-8A6C6FD4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581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4FD7E-9BCB-4200-B98B-AEF9B15C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6002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2DCFB-56AE-4117-B33F-E8B76E3B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47875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角色、规则、任务边界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4ECA1-19AD-402E-BE26-EF6E2F4B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3333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B663C8-A65F-4BDE-B13D-BA63572B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C9A20F-8DFC-470E-9F08-C8C98A6A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F01E0-8C82-4896-BE0C-3EDFEF37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002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CF357-B14B-4FBB-9D3F-8FD193E2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47875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裁剪、摘要、recent-k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89EBC-CE75-4F0E-A1C7-885AA6DB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3333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7EFAD1-1AB1-4C82-B4CC-5FD4A0C1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622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815F24-B1CA-4A7E-A1CC-6585BA2D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622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182157-3384-4387-825E-3D8D5DF3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Skills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710140-A44E-4D04-B8BC-647C2F1D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领域工作流与工具说明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D40A8D-B415-4929-8597-70E004DD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3333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768BA9-452D-433B-8078-74DD817B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622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F592B0-1772-4198-9A03-CAC27352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622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162DB6-275C-4691-8522-48BF9453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813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C68F7A-D2D7-4348-BDEB-E56BB3C6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290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跨步骤/跨日持久状态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B6BBF4-7956-4AF6-B8D6-5F0FE439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3333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B42600-394A-42DD-8987-09DB9DAC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622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DAEC0D-316D-46DC-B4AB-8663F59C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622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39D147-145C-4294-A248-C9559B1E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813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Subagents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2A7D2F-5753-4578-B6C8-200EED0F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2900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并行探索与委派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7D0269-64A1-45BD-94C8-71D12780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同一训练抽象可实例化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00058D-F3D0-4D47-B8E2-AEDEF31F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5D78CA-3A79-4538-A193-38B2606F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Kimi Code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30A760-089B-4894-8CDE-7B2D025A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90537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BAAB4B-84BD-4E58-9966-D2342856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914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Claude Code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BE15F9-1BC1-4D19-B255-EBA514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736FA1-3054-4265-8D17-3D94A856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14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267A56-7506-4AF0-9C06-07AC6631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0537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268553-D8B7-4FB1-B0D9-6846CA0B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14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OpenClaw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FD433D-F720-4A3E-8686-3C435AC1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0537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60A1B1-C962-4137-A2B7-8AFFC921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14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Hermes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1CCEF4-6E98-4A88-A6DA-8570B606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6F081B-4B35-46B1-BEB2-223CD478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B505F6-D010-40DF-A9A4-F79D34B1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049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训练目标从“学会某个界面”升级为“在不同工具语义、上下文管理和子 Agent 结构下都能完成状态转移”。</a:t>
            </a:r>
          </a:p>
        </p:txBody>
      </p:sp>
    </p:spTree>
    <p:extLst>
      <p:ext uri="{BB962C8B-B14F-4D97-AF65-F5344CB8AC3E}">
        <p14:creationId xmlns:p14="http://schemas.microsoft.com/office/powerpoint/2010/main" val="16313880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336066-CD12-46E5-B7D8-7F437D11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CCAD8-0BD3-4AB6-89F9-ED2D1A61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TASK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1863D-E4DB-4490-B74C-E9780B96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知识图谱驱动任务合成：一套自动出题系统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E1353-9D44-4303-87A3-112A3BC9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A1950-8EE0-4D3A-B72B-B4D023E7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51D61-D6BF-4A9B-BAC2-158CED48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§4.2.2, Fig.9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B6D7D-5806-429B-B978-1AF97BAA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32130-206C-47DF-887B-9699816A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1AE5B-6D06-4EB2-BDEE-15405FC9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F3CE9-F9C8-47B4-BE04-1B40516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D604A-A9EE-4E48-AC59-678E0F37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9070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自演化DAG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CA43A-6358-440D-AB73-D01C643F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1657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Agent递归搜索
去重复用，粗→细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4C509-5781-4C2F-B69A-8E334433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193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71C0C-9376-44EF-8646-3C04F3F3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1925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A688F-8750-4352-AE26-1A2B915E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7716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5A9DD-1CC9-4C52-A3EA-E105DD22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7716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DCC29-5A02-4033-9482-20126893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9070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采样节点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43FC8-F84F-4D59-8E2C-FE175A4D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38375"/>
            <a:ext cx="1657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单节点或相关组合
覆盖不同粒度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E2CEC-D077-4319-ADD9-FB7BB58A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193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2EE10-5538-49A3-BE7F-65A4E088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7CD9E1-9500-4727-A281-BE34758F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716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7F44E-FAE6-43DA-A590-5F4A619C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716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E21C1-6505-4276-9AC9-EEC9C0FA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9070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检索材料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1EF1E-B7F0-4D0F-AA10-C3657192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38375"/>
            <a:ext cx="1657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祖先增强Query
论文/博客/代码库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AFDD68-640F-470D-98F1-E937DC04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193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66F16F-3F31-467B-BAFD-2E41CCCC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8A1E26-2B40-4D2D-B9B2-6CB3ED08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716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498CEB-565E-4928-9590-A9A616CA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716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168200-E391-4DCD-A837-BF41D1F5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9070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合成任务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6D4856-9091-4F18-8D3A-D02DD715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38375"/>
            <a:ext cx="1657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选择任务类型
编码 / 知识 / 视觉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0E1114-4203-463A-A317-FACBC064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539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DCBECF-C1A2-4216-A288-F83E79E0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9975"/>
            <a:ext cx="127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示例：知识种子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8BFC38-26CB-47E1-96DB-009E0E5F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1273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CS / AI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C5A02B-24DF-4BF9-9D91-7CE87FA4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37433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6AC8DE-A23C-4851-9D3D-8F697CC3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475" y="3476625"/>
            <a:ext cx="1539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4FB2A9-E95E-443B-98FF-33EB76D4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825" y="3609975"/>
            <a:ext cx="127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递归扩展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E894B7-E768-4E14-9887-44C45D67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825" y="3952875"/>
            <a:ext cx="1273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Transformer → RoPE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0D2797-1C20-4864-8653-DF79E61E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37433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F942B8-1DF7-4011-A19E-9952CE66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476625"/>
            <a:ext cx="1539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37017A-8DDD-43C7-BDC5-2236ACF6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609975"/>
            <a:ext cx="127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相关节点组合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AE7954-7B77-4178-9319-61070603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952875"/>
            <a:ext cx="1273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RoPE + GPU Kernel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70C995-4605-49EB-A63A-31B672B2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7433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83D119-8D7E-4DA3-8673-BFC7D637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76625"/>
            <a:ext cx="1539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B11C97-EE9A-4C90-ACB7-6CE8F01B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09975"/>
            <a:ext cx="127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祖先补上下文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DDEDF7-633D-4F24-A6BB-A94B3A73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952875"/>
            <a:ext cx="1273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构造检索 Query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A3F2B1-7F2E-4E56-80A2-C94A1835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37433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641E33-C5C7-4BD5-9CEA-F1C8DDE4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476625"/>
            <a:ext cx="1539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19F4C0-AAC8-425F-B4E3-89C80B21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609975"/>
            <a:ext cx="127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真实材料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7F6288-926A-4217-9154-6E728804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952875"/>
            <a:ext cx="1273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论文 · 博客 · 代码库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54108F-DE6B-4186-8393-01767A21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625" y="37433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FE6B55-EFDE-47AE-9DC6-8B8C4923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75" y="3476625"/>
            <a:ext cx="1539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FB1B2F-CDC6-4C11-A410-72BB683C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725" y="3609975"/>
            <a:ext cx="127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训练任务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4DB6E7-233A-4FA9-B096-537B6BAF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725" y="3952875"/>
            <a:ext cx="1273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6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Coding / Knowledge / Vision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A6ED7C-0E6F-4980-8115-6FE89416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00A150-794F-495B-B7AC-535836D0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CC61BB-13BB-4D33-8AF8-00C469B0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14925"/>
            <a:ext cx="10496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关键：采样节点或相关节点组合，而非祖先链；祖先只补充检索上下文。第24页再负责验证与奖励。</a:t>
            </a:r>
          </a:p>
        </p:txBody>
      </p:sp>
    </p:spTree>
    <p:extLst>
      <p:ext uri="{BB962C8B-B14F-4D97-AF65-F5344CB8AC3E}">
        <p14:creationId xmlns:p14="http://schemas.microsoft.com/office/powerpoint/2010/main" val="135587935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34CFFF-E796-4DE1-A7FF-BE631093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8EC8E-D6A6-449B-81A9-EFB7D870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VERIFIABLE ENVIRONMENTS × AET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21059-F09B-4D6D-AC5B-39636F3E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可验证环境与 AET：用真实终态驱动自主执行训练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55380-6476-494A-8A83-A40BD8D4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77CA2-FC76-4B25-9CB8-FE0A6325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2574E-DD7E-4C27-9B36-7CD8D277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§4.3.3–4.3.7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5C84D-93C6-4219-BBFA-EC1E42AE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9CD5C-E9E5-4BBA-AE9E-90C8B934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952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1CA53-C2D5-4DF5-B6B7-6115D819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5635B-9814-4F33-A64F-3A482CAF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841DF-63D8-43B5-85B2-D4BC1D26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020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初始状态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3FC55-EFAC-4EEE-81C1-0BFC5AB3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环境快照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69107-34FC-4C39-8116-9E303AFF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28750"/>
            <a:ext cx="1952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DD830-B5FE-4A4B-B56A-476038B9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D05B0-75BC-40DA-9E65-38D5EFBD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81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CD7A9-2160-4C69-96DC-26252C57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0020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D58F1-3456-468B-9528-FD9226A0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4787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期望终态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24BE6-D5EE-429E-80B4-A1643AA1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28750"/>
            <a:ext cx="1952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11CDC-A8AA-4659-9586-4037B9DC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C04C3C-683E-407B-A81E-E8E14CB4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581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E4878A-CDB9-4BE8-8204-EC93C8BB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0020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工具空间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E5636-C7F2-490A-A4B0-B53C8E64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4787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允许动作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68FD50-AA0D-4BB6-B698-C608B3B6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28750"/>
            <a:ext cx="1952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558DD-3461-4AA4-ABF8-A6889C4B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9A8247-C3D7-49EE-A1D7-26A7ACE9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81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C16D02-8A62-4759-930D-A497F0EE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0020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预算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1C7A94-9001-4013-B74F-2BFE7E6B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4787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token / step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0FEAAA-8FA1-4668-BB0B-86970C05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28750"/>
            <a:ext cx="1952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797735-02B5-41EC-A134-55A708CB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7D399D-3196-43B3-B110-8DC6FC5B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81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631303-1B25-4DA7-8F39-4DF25137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0020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验证器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492F9A-9AE7-428A-91A1-76FB33CF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4787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独立判定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E2AE0D-B249-4B28-8F52-B4081180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4953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4F61FD-1113-497A-A868-E4E9F431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训练时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BF9BBF-0898-47E0-91BB-A7B0A9DC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9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73CC90-2369-46F5-9C8F-B4719DD6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4076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无 reference trajectory；Agent 自主探索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743C18-CF19-4AA5-A12A-FC8A6DC8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1420DC-8F8D-407D-8D4F-DBC3F254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38625"/>
            <a:ext cx="4076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public verifier 可见：负责教学与纠错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035BA2-0E31-4003-9522-B2300C22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ED32FF-FC0E-4ABE-A970-B65C760C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4076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返回诊断反馈，支持多轮修正轨迹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CF8A26-C016-44AD-96F6-7C5432C1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56197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DDC5D7-BCF3-449A-8D37-EDB9B3F6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38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评估时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D257F4-96F8-4EEC-AAAC-B63ED0FF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9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2374A4-FEBC-46B8-AE75-93E9D4DD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4648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hidden verifier 不可见：负责考试与裁判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6DA5A1-916C-40D4-8772-176EBDB0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DC8960-50CD-4B72-AC56-C127257D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38625"/>
            <a:ext cx="4648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与训练诊断隔离，不泄露测试细节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809862-C156-4E0B-B6D4-E19F9E49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29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5BD52A-DA8D-453A-A9E9-40EBF0B0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43450"/>
            <a:ext cx="4648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限制提交次数，只检查真实最终状态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451EA2-94AA-4FDA-95C6-FF55A4E9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0BDE62-C08C-47C6-893E-BC21858D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261CB4-DF1E-458D-BE88-B0A12047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049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适用：搜索｜专业工作｜视觉推理｜GPU Kernel｜Web 开发
奖励：正确性门槛 → 质量/性能 → anti-hack；失败、伪造或环境错误归零</a:t>
            </a:r>
          </a:p>
        </p:txBody>
      </p:sp>
    </p:spTree>
    <p:extLst>
      <p:ext uri="{BB962C8B-B14F-4D97-AF65-F5344CB8AC3E}">
        <p14:creationId xmlns:p14="http://schemas.microsoft.com/office/powerpoint/2010/main" val="9782040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EEBE82-B62A-47AA-9FDB-C3E55E4E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2F495-1E08-4B21-BD33-A126B9B4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SPECIALIST RL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39D9D-EB5F-41E6-B4A4-EC1B2A22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3×3 专家矩阵：领域 × 推理强度，解耦能力与成本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7F0D9-4073-423E-99B2-1B1C34BC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40F67-C19A-4B6A-B5C5-0D0BDED3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9E538-7F5D-4641-9848-08F6CC2F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§4.1.2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7F18C-B609-43FF-B440-67E69514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D3BEB-48A3-4511-9E40-1872DA8A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85867-5BE6-4192-88AD-7220A42E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335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领域 / Effort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6243E-A655-467B-8C1C-9EFF4F00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76375"/>
            <a:ext cx="288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50213-B455-49EE-8134-6F3EA09B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33525"/>
            <a:ext cx="273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CE07D-9D89-4FE1-BBF1-4168E58D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0" y="1476375"/>
            <a:ext cx="288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13211-C711-4BEA-A0A6-CA6995D8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950" y="1533525"/>
            <a:ext cx="273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High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056FC-18F4-4BC2-9093-CB723FCA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1476375"/>
            <a:ext cx="288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AA25D-BE20-4677-9CD0-8E255EB6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1533525"/>
            <a:ext cx="273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22416-1FB0-4CFE-A8CC-E8FB65D0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CA656A-5204-44EE-A321-ACE944AC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2019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General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答案能力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5022B-2F3E-4A40-8978-A134399A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14525"/>
            <a:ext cx="288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40D6E-45E0-4D0B-A7E7-4ABD0199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71675"/>
            <a:ext cx="271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经验、知识、视觉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短推理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FADFD-0641-4FD3-B1C9-C5D5D8BD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0" y="1914525"/>
            <a:ext cx="288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2F53C-E9C8-428D-A1E6-4F69CEF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2475" y="1971675"/>
            <a:ext cx="271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复杂推理、搜索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答案验证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6E772F-7675-44FE-B67C-13614613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1914525"/>
            <a:ext cx="288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ABBED-A877-47B5-A371-748BD5D8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1725" y="1971675"/>
            <a:ext cx="271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困难科学、忠实性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最大探索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5BF3B7-7264-4465-8861-7D5416D1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C48476-DE46-4118-AA40-6E63D628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14675"/>
            <a:ext cx="2019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General Agent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工作流执行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37E0F-89D1-4A26-ACD0-6DBEEFDA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57525"/>
            <a:ext cx="288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8C9F86-C086-4238-868B-879A7EA0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14675"/>
            <a:ext cx="271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日常助理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短工具链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AE800E-FEC9-427B-A313-F9CF50E0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0" y="3057525"/>
            <a:ext cx="288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DDC5A7-1139-497E-A04A-5850E71C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2475" y="3114675"/>
            <a:ext cx="271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Deep Research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多阶段写作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E06E9D-256C-4962-AC79-07E55764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3057525"/>
            <a:ext cx="288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CA4FFE-3F4E-4AA4-807B-DBE4A9FA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1725" y="3114675"/>
            <a:ext cx="271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长程工作流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多阶段交付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310CF2-DC32-4D35-9CE6-805CE0C3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BE153B-BF80-455B-844A-15D0E719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57675"/>
            <a:ext cx="2019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Coding Agent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软件工程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85E535-4AF0-498A-8654-6D5D54CB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00525"/>
            <a:ext cx="288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760518-D3C1-444D-8D55-E898305E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257675"/>
            <a:ext cx="271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小修复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短测试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29E81B-40C0-439C-84FE-2002D797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0" y="4200525"/>
            <a:ext cx="288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32327C-58E3-4CCF-978E-6F920922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2475" y="4257675"/>
            <a:ext cx="271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SWE / Web Dev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多轮调试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3E87D4-09F5-4E8B-95FF-A0D9F2B2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4200525"/>
            <a:ext cx="288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619FFD-2F54-44BF-9C94-86B4ED13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1725" y="4257675"/>
            <a:ext cx="2717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Kernel / 大仓库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最大预算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639BA4-68A8-4CD2-BC0C-EAB4CF7E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523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22D91D-B5B3-4BB6-BEEF-0875C7E8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General｜优化“答案是否正确”；可用工具，但预算主要统计 thinking tokens。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99121F-85A6-450F-B59E-8EFFAD45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24500"/>
            <a:ext cx="523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DB56CB-F565-4AD4-9735-33AB2F89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197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General Agent｜优化“任务是否完成”；预算累计 reasoning + tool-call arguments。</a:t>
            </a:r>
          </a:p>
        </p:txBody>
      </p:sp>
    </p:spTree>
    <p:extLst>
      <p:ext uri="{BB962C8B-B14F-4D97-AF65-F5344CB8AC3E}">
        <p14:creationId xmlns:p14="http://schemas.microsoft.com/office/powerpoint/2010/main" val="19617619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EF74A9-B685-48A8-939D-F6FB5B31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77A3E-400F-4F49-968E-C9EBB614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ASYNC × COST-AWARE AGENT RL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EFD52-F2F1-4431-8341-9B7DB852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Agent RL 效率：Partial Rollout 提升吞吐，预算奖励约束成本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F1954-C886-4255-8C08-D8089123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4465F-266C-4A16-8CE3-7C91A061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7A8FC-D235-405F-88C7-4FFF7DB6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§4.1.2；§4.2.1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B50DF-2457-4CB2-98EF-2F9628D0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87B30-4D54-401B-BD64-BC5549DC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Partial Rollout：完成 λNK 条即可优化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EF961-2544-49C4-84B5-AAF38291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39CD5-2476-4144-A3B4-76EF2B64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65228-9462-4DDC-A12B-7A19DF11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A235D-B811-45AB-BC7E-6287D94B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CF74A-D1AD-42ED-9FBF-877FC65D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4FEB1-0807-47E5-B7F4-1CE27637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2071E-8F0A-4B8A-BD8B-FF8EAE7A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T4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03FF4-5F9F-4474-9CCF-913E057B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83EEA-6E3A-4A87-97AC-90CF2A3E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714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404DE-318C-48CB-8725-31262107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T5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B68FBC-B4B9-450C-93B6-BCC5F184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A4ADF-0408-48C9-A574-176DD735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452BE-714E-4502-966A-99D8EDE5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T6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3DB600-04B4-4CCF-9C11-50607F58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E45645-5954-48C9-8A75-A06EC744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3190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D09658-A803-44FB-B48F-A9BDD535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09750"/>
            <a:ext cx="285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D5562C-1CD8-4B0A-8A6D-1C5EF7C1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43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λNK 完成 → 暂停本轮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8C8509-3D98-47F1-B31F-F2166BED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667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FFAC3C-F0FC-4BC7-8D3D-85650FD8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F7C90A-6F06-4977-B013-89772876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81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052DCA-7174-49DC-BC33-37BAB1E2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002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阈值触发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682FC9-EACE-4B71-9D7F-BE9B84A3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4310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完成 λNK 条轨迹即优化，不等待最长尾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62D72F-33D0-4DDA-A9AC-0454BE6C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4667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BCA08B-BC8F-4F7E-B16C-BDA7112E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527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31F88B-8792-4DF0-BC4F-EC075C48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527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3CADE2-BA59-4CCC-9260-24E2B3E9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717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暂停续跑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D715F8-BC13-43FD-B75D-4919E172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1465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保存模型与沙箱状态；未完成轨迹下轮恢复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412365-21CA-499F-A1E0-44C7FCDC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4667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16D3A4-7FFA-4A0A-9C2D-DA3364F2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49BFD3-B06C-49E1-9BE3-F5798D1E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C6CB93-5044-493F-AE32-C1122203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433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成本门槛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1E5FD5-C648-4BC9-B811-BEBF59B5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8620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若 B &gt; τ·B₀，Reward = −1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742180-664B-45D6-9691-20935EF2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4667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7E7EF4-45D3-4D25-819E-5EDCE9CC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958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3E1CD3-2BC0-4DA2-BF6D-F0C832AB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958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BAEF3A-DAF5-4182-9630-F57EC75E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148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预算课程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A8B805-42CA-4CD7-9442-A17C83D7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5775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Max → High → Low，逐步收紧推理与工具预算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793468-CD90-4EEE-AA8F-2953CB45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32467A-8330-4A87-A5C1-1F244645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51084C-C680-49B1-ADF1-5D0B206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1049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边界：未完成轨迹只暂停续跑，不被丢弃，也不会被截断后直接算奖励。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收益：GPU 不等最慢 Agent；代价：持久化状态并管理 stale / off-policy。</a:t>
            </a:r>
          </a:p>
        </p:txBody>
      </p:sp>
    </p:spTree>
    <p:extLst>
      <p:ext uri="{BB962C8B-B14F-4D97-AF65-F5344CB8AC3E}">
        <p14:creationId xmlns:p14="http://schemas.microsoft.com/office/powerpoint/2010/main" val="156223931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A274E4-9F58-4112-B089-AE76C482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47789-97D7-494E-BF78-2368E056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GENERAL REWARD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80DC5-0AEA-4339-ACC3-53582EAE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Agentic GRM：先定规则再锦标赛，减少文风偏置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28F7B-479D-4DDA-86A2-ED6064AE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2C96F-D8A3-4FC7-AE3C-06188C66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67689-E539-4090-A04B-18BDE830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§4.2.3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95A7D-CCFC-4625-8C48-2A97E0C3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5BABB-16CC-4105-B747-CC144DB7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9126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AF58D-F9CC-465B-84CA-10CE3B0D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读取任务/产物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D9B21-1B61-4360-9F49-246162F8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164592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artifact + outcome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01FA7-F630-4F3B-AC58-3EDDEC05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95AF8-8BE7-498B-B0E8-BD3DEB60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1476375"/>
            <a:ext cx="19126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3F260-3522-4911-861F-751081CA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生成 Rubric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BA6F9-8F7D-4030-AB41-5B71F00D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1952625"/>
            <a:ext cx="164592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任务自适应标准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428E3-BF1C-478E-B41C-E11874EC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94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98E4B-C0C9-445F-B7D6-826DFCB2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0" y="1476375"/>
            <a:ext cx="19126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C8073-278F-4B1E-8709-66B7236A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Scorepad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FB26A-1B9F-4A91-AE91-C60A3D1C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1952625"/>
            <a:ext cx="164592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逐项证据记录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BF4143-8D60-488D-A128-CD3645B7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6806D-42C5-4FAE-A647-D854D8D8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1476375"/>
            <a:ext cx="19126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92CC2-57A5-47EA-9985-25FCB5FE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Group Tournament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57988-C663-4C26-8B67-5DA219F3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1952625"/>
            <a:ext cx="164592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二元比较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77CC9A-0592-402E-8918-53AA8C1C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1C8140-BE54-4C44-8523-10AC9187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1476375"/>
            <a:ext cx="19126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19FD2C-C128-4636-80E9-AEF3CF3A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16097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聚合奖励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A2D157-84D3-470C-BD19-D2AF245B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1952625"/>
            <a:ext cx="164592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训练信号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9DBE1E-ECF7-453A-99B6-3FE6195C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238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74A318-9E54-4E01-9A56-DB4C4B08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5238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32A01A-1CF9-46CF-8E44-E458AF00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266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28894A-9F19-4646-A54D-42C0263D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992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Rubric 评价维度示例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573A3D-B3DB-4EEE-A954-3D67FD27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0400"/>
            <a:ext cx="2266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2DC71D-6712-4BC6-BC73-C4C74EF5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992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仍需注意的风险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424F2B-916A-47DC-8645-19771A57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62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9C70B7-CA10-48BA-A875-36EDA4A0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766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rubric 生成器本身可能遗漏关键约束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CAD8B2-047F-49FC-B4BF-C94A7C7F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2B92D7-2BD8-43DA-A6E1-B0A33C46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338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模型评审难覆盖隐藏环境错误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6F5ED8-E4F0-4991-B3A2-45B9C2F2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76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935789-0356-4FA3-A272-EA53E6AC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910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二元比较可能放大共同偏差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BB5ABD-D25B-4A5A-8FC4-7BE3B000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33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AECD0E-6001-4107-A7FE-07D68D02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48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必须与硬 verifier 和终态检查结合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FD2564-F8C5-4CC4-8F5D-61FB3ECC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858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285F66-CEEB-43C6-BBE0-5498E59C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D0BDD0-6340-4F26-8E01-C8EB73B4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43575"/>
            <a:ext cx="1049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K3 的奖励哲学：能硬验证就硬验证；不能硬验证时，把 judge 的推理过程结构化并限制其投机空间。</a:t>
            </a:r>
          </a:p>
        </p:txBody>
      </p:sp>
      <p:graphicFrame>
        <p:nvGraphicFramePr>
          <p:cNvPr id="97" name=""/>
          <p:cNvGraphicFramePr/>
          <p:nvPr/>
        </p:nvGraphicFramePr>
        <p:xfrm>
          <a:off xmlns:a="http://schemas.openxmlformats.org/drawingml/2006/main" x="895350" y="3581400"/>
          <a:ext xmlns:a="http://schemas.openxmlformats.org/drawingml/2006/main" cx="478155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52550"/>
                <a:gridCol w="3429000"/>
              </a:tblGrid>
              <a:tr h="285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7000B"/>
                          </a:solidFill>
                        </a:rPr>
                        <a:t>评价维度</a:t>
                      </a:r>
                    </a:p>
                  </a:txBody>
                  <a:tcPr marL="66675" marR="66675" marT="0" marB="0" anchor="ctr" horzOverflow="clip"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7000B"/>
                          </a:solidFill>
                        </a:rPr>
                        <a:t>判断标准</a:t>
                      </a:r>
                    </a:p>
                  </a:txBody>
                  <a:tcPr marL="66675" marR="66675" marT="0" marB="0" anchor="ctr" horzOverflow="clip">
                    <a:solidFill>
                      <a:srgbClr val="FDECE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7000B"/>
                          </a:solidFill>
                        </a:rPr>
                        <a:t>事实准确性</a:t>
                      </a:r>
                    </a:p>
                  </a:txBody>
                  <a:tcPr marL="66675" marR="66675" marT="0" marB="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A1D21"/>
                          </a:solidFill>
                        </a:rPr>
                        <a:t>核心数据是否正确</a:t>
                      </a:r>
                    </a:p>
                  </a:txBody>
                  <a:tcPr marL="66675" marR="66675" marT="0" marB="0" anchor="ctr" horzOverflow="clip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7000B"/>
                          </a:solidFill>
                        </a:rPr>
                        <a:t>证据质量</a:t>
                      </a:r>
                    </a:p>
                  </a:txBody>
                  <a:tcPr marL="66675" marR="66675" marT="0" marB="0" anchor="ctr" horzOverflow="clip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A1D21"/>
                          </a:solidFill>
                        </a:rPr>
                        <a:t>结论是否有来源支持</a:t>
                      </a:r>
                    </a:p>
                  </a:txBody>
                  <a:tcPr marL="66675" marR="66675" marT="0" marB="0" anchor="ctr" horzOverflow="clip">
                    <a:solidFill>
                      <a:srgbClr val="FAFAFA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7000B"/>
                          </a:solidFill>
                        </a:rPr>
                        <a:t>任务完整性</a:t>
                      </a:r>
                    </a:p>
                  </a:txBody>
                  <a:tcPr marL="66675" marR="66675" marT="0" marB="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A1D21"/>
                          </a:solidFill>
                        </a:rPr>
                        <a:t>是否回答所有要求</a:t>
                      </a:r>
                    </a:p>
                  </a:txBody>
                  <a:tcPr marL="66675" marR="66675" marT="0" marB="0" anchor="ctr" horzOverflow="clip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7000B"/>
                          </a:solidFill>
                        </a:rPr>
                        <a:t>专业性</a:t>
                      </a:r>
                    </a:p>
                  </a:txBody>
                  <a:tcPr marL="66675" marR="66675" marT="0" marB="0" anchor="ctr" horzOverflow="clip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A1D21"/>
                          </a:solidFill>
                        </a:rPr>
                        <a:t>分析方法是否合理</a:t>
                      </a:r>
                    </a:p>
                  </a:txBody>
                  <a:tcPr marL="66675" marR="66675" marT="0" marB="0" anchor="ctr" horzOverflow="clip">
                    <a:solidFill>
                      <a:srgbClr val="FAFAFA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7000B"/>
                          </a:solidFill>
                        </a:rPr>
                        <a:t>风险披露</a:t>
                      </a:r>
                    </a:p>
                  </a:txBody>
                  <a:tcPr marL="66675" marR="66675" marT="0" marB="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A1D21"/>
                          </a:solidFill>
                        </a:rPr>
                        <a:t>是否说明假设和不确定性</a:t>
                      </a:r>
                    </a:p>
                  </a:txBody>
                  <a:tcPr marL="66675" marR="66675" marT="0" marB="0" anchor="ctr" horzOverflow="clip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7000B"/>
                          </a:solidFill>
                        </a:rPr>
                        <a:t>表达效率</a:t>
                      </a:r>
                    </a:p>
                  </a:txBody>
                  <a:tcPr marL="66675" marR="66675" marT="0" marB="0" anchor="ctr" horzOverflow="clip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A1D21"/>
                          </a:solidFill>
                        </a:rPr>
                        <a:t>是否简洁，避免无效扩写</a:t>
                      </a:r>
                    </a:p>
                  </a:txBody>
                  <a:tcPr marL="66675" marR="66675" marT="0" marB="0" anchor="ctr" horzOverflow="clip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960351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53080D-7B7B-4D0E-A814-52DCD76A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60222-8207-4BD8-BE5F-7D8965E0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MULTI-TEACHER ON-POLICY DISTILLATION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3A1D7-40AC-4342-8128-6F0F8606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MOPD：3 个任务域 × 3 档推理强度，蒸馏为统一 K3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6BDED-1E7F-4FD4-AA73-B72F6D6F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052D5-141B-4E8F-8676-3A0F6C5D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15379-A481-4729-848E-93E0FD5A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§4.1.2–§4.1.3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1798F-CCB3-4B0F-BC0C-61B183FA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DA492-61DB-4FC4-82E0-3E7210CB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09750"/>
            <a:ext cx="723900" cy="4953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G-L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F3786-E226-42E3-8BFF-6398B846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2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任务域 × 强度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E6FF2-87E4-49F6-A8B0-A6AA94E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09750"/>
            <a:ext cx="723900" cy="4953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G-H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15874-CBA5-4EC6-B139-95F67D0D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287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66872-4E8C-4051-89AF-8F52B745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09750"/>
            <a:ext cx="723900" cy="4953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F1B8B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G-M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900DD-DC2A-49CC-9CE4-4655718A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287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High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423B9-CA55-4AE7-9AF7-C6824CF6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81250"/>
            <a:ext cx="723900" cy="4953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A-L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46F14-2248-4129-A96A-1B12ED0B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287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E4477-49F3-4236-BD22-94636232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1250"/>
            <a:ext cx="723900" cy="4953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A-H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EFD59-1B85-47B7-9144-A3B32359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General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通用任务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315F1-FE55-43D4-9055-C0FCA8CE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81250"/>
            <a:ext cx="723900" cy="4953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F1B8B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A-M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AF506-117E-4826-BDE4-FFB89764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5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General Agent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通用智能体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FB9BD-4526-4ACB-82E4-65FEE848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52750"/>
            <a:ext cx="723900" cy="4953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C-L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B5093-C1F4-4F10-9E5D-C070B3C5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6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Coding Agent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编码智能体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22472-D19A-445C-8C04-C518016A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52750"/>
            <a:ext cx="723900" cy="4953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C-H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D20C91-5892-4947-B8AE-13E8A2D6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52750"/>
            <a:ext cx="723900" cy="4953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F1B8B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C-M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E61A8D-4AC7-4757-B0D2-DAFFB9D9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5B75F6-76A3-459B-8DE2-2783BA0B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145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764560-1DBC-4847-93D7-E9BF60F4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43125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8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Student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on-policy rollout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E463A0-C119-4B36-B1B3-6C4BA6A6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A22ACF-52D1-4AD7-AA04-CFA0F36B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1E39E4-16B9-4AB1-9327-6C80066F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478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 K3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7B6660-6591-45E7-A52B-FE13ED47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rPr>
              <a:t>保留领域能力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rPr>
              <a:t>支持 effort 控制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60C9C2-E3AF-47DC-82C1-80EFEDA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DDD6E1-8EE5-435E-AEB0-C2061E6F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910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B570B8-9152-4C70-B4B6-0B85B0BA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910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8D5DF4-977C-4499-97C6-C9147045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100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Student 自己生成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F00020-D4AB-4BF9-AF8A-040705F8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990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71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Student 当前策略生成 rollout；
覆盖真实状态、前缀与错误路径，
降低离线蒸馏的分布偏移。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81D264-F7D8-4462-A8B4-BDB8B8CD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3862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FDA026-E645-48DA-9B3C-9D643530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910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517830-7F86-4653-B1C2-25B5804B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910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5491FD-1900-47D6-99B1-3BD6E027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4100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匹配 Teacher 打分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9066E6-3705-4177-860D-E8648C13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857750"/>
            <a:ext cx="2990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71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按任务域 d × 推理强度 e 匹配；
单个样本只选一个 Teacher，
只打分，不负责生成轨迹。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168E69-5A7B-4F7E-BD4B-25F932D3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3862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03574F-9C04-4091-BCCA-5A918A07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910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BF792B-5A8D-4F06-A509-CE13940D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910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342DAF-E1CF-4F8A-A9BF-8116ADE5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100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OPD 奖励更新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BEEA44-758E-48FD-B429-0D202051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57750"/>
            <a:ext cx="2990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71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Teacher 更认可 → 正奖励；
反之负奖励；clip 限制极端信号。
Top-k 无明确额外收益。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166C5A-BD87-453D-AF53-5AC0265A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F1B8B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B0E977-C2BC-4CB1-AE13-32ECEB54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96206A-71FF-42AA-B8EC-36CED461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054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核心 OPD 奖励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81A2C6-B40D-4E99-A7F0-BCEEE720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95950"/>
            <a:ext cx="881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rₜᴼᴾᴰ = clip{ sg[ log( πᵀ₍d,e₎(yₜ|x,y₍&lt;t₎) / πθ(yₜ|e,x,y₍&lt;t₎) ) ], −Rmax, Rmax }</a:t>
            </a:r>
          </a:p>
        </p:txBody>
      </p:sp>
    </p:spTree>
    <p:extLst>
      <p:ext uri="{BB962C8B-B14F-4D97-AF65-F5344CB8AC3E}">
        <p14:creationId xmlns:p14="http://schemas.microsoft.com/office/powerpoint/2010/main" val="31229533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E093F-1E84-4553-8686-B9F1E7C6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C869E-552D-400B-92AB-3C7489AA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0"/>
            <a:ext cx="4048125" cy="6858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7BD5E-191B-41BE-820D-56E598B7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3F0F8-BE3C-4882-A9B6-1EE9E643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训练与推理系统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90B86-10A5-471A-8DE8-83722FDD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BB943-A5A3-4BD5-986C-3771C0CA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733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rPr>
              <a:t>贯通 FlashKDA、MoonEP、QAT、EAGLE-3、统一缓存与状态复用，说明训练到长会话服务的系统协同。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08B1B-4866-4A66-82F2-3927A3E2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37408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CD67B1-09DD-4FBA-85C2-FDF0F310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DD838-AC16-451E-BE12-A39F92A3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TRAINING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94F1E-85D1-4C46-8FA6-3B2AF07C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训练系统：FlashKDA、MoonEP 与上下文并行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04573-5A2F-4D13-BDA7-53DC9699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B10D2-A240-48FC-99D0-FC457B3A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0B341-4F20-42CD-9226-3CA71058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§5.1–5.2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FB43A-0AFA-4487-A3E0-73BE2BA6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1A8EE-4DAF-4CC1-9722-CD8DCE66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80908-7388-4F42-A8F7-FF706AB1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30D58-F50B-4593-88B4-303C12FC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544B8-FA79-40D9-9FC7-F3B529BF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02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FlashKDA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0DD52-2D71-450B-8BAC-30AF6AF4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2990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基于 CUTLASS 的 KDA kernel；融合递推与矩阵计算，并支持 KDA context parallelism。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DE062-16A7-4131-B959-3ECDA2E8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B91F7-582F-41D1-8D45-87EEE832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E7B3F-A52F-4379-95AA-DAEC6687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581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29E7B-B215-486E-AA87-6D65EB0D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6002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MoonEP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A090E-54F2-48FB-9935-B887EEED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47875"/>
            <a:ext cx="2990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动态冗余专家、静态 shape、zero-copy 与自适应调度，追求 expert load 的完美均衡。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8F42F-F6CA-4356-B56D-4993DE9F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93289-6091-453D-A4F8-86824C4E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0D7D6-678C-4462-B0D7-EF7B6048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81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65902-703D-414B-BC3D-A8DDF805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002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Pipeline / ZeRO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A54AE4-1385-4D47-AE00-8FCFCB64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2990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混合层型与超大专家参数下优化 pipeline bubble、参数分片和通信重叠。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5FD41C-EF99-45ED-8029-8B4FEBD3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91262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D9511F-D371-4CDB-8775-3D18C3CF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260C66-8B5A-4C94-9579-AB7314E6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16459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context parallel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AC456A-699C-44B1-AB6F-1E332B90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4171950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8734FC-BBAF-436B-BFF1-FECC87FA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3905250"/>
            <a:ext cx="191262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0EC5AD-6678-4104-A1B0-2CD9DF88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4038600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FEE1BE-29D6-4609-A42C-500B7ACC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4381500"/>
            <a:ext cx="16459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KDA / MLA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ED2565-A269-446F-A4BC-14FE7DE8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940" y="4171950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46B7D8-1E1E-4F5C-BC57-DD0919F4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0" y="3905250"/>
            <a:ext cx="191262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A017EC-8E4F-4240-827F-3D2B13A4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4038600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Experts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DAEDDF-AAC8-4A59-B3AE-D7B03D42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4381500"/>
            <a:ext cx="16459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EP routing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264884-EB56-4A71-B035-039458F9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4171950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1921AF-3DF4-4D0D-A8C8-0C083E8B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3905250"/>
            <a:ext cx="191262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A24605-C45B-4FAD-BD39-38523B3A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4038600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Parameters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B9E797-99BC-4848-84E0-D0708745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4381500"/>
            <a:ext cx="16459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ZeRO shard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8F27A6-BD2D-465A-889E-85935BD7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171950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D478AB-6B7C-40DB-9B7A-A2823D7B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3905250"/>
            <a:ext cx="191262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140A96-FF10-405E-BD9D-D9A47F44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4038600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Pipeline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89AAB5-8A07-4EB8-B265-600CAD04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4381500"/>
            <a:ext cx="16459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stage overlap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CBA4A4-374E-47A8-9FE4-5FC2E08B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58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0234B7-0666-49A5-A9E8-0887A01A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84A7DB-5A74-48C4-817D-810AE2D1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95925"/>
            <a:ext cx="1049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系统设计目标不是单 kernel 峰值，而是让 93 层异构注意力与 896 专家在大规模集群上保持稳定有效吞吐。</a:t>
            </a:r>
          </a:p>
        </p:txBody>
      </p:sp>
    </p:spTree>
    <p:extLst>
      <p:ext uri="{BB962C8B-B14F-4D97-AF65-F5344CB8AC3E}">
        <p14:creationId xmlns:p14="http://schemas.microsoft.com/office/powerpoint/2010/main" val="51159936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03B45F-A73E-4A35-9658-A66535A4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5C978-65FD-4E45-B216-AF82EA99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QUANTIZATION-AWARE 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1C8D1-9188-444C-9474-9D15DFBF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原生量化：从 SFT 开始采用 MXFP4 / MXFP8 QAT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D1890-84CD-4BE3-A95A-496DDB49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8011B-208A-403B-AC72-827E5A86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BAE56-447F-4392-89F4-959A1A6B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§2.5；§5.2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EC6E8-C406-4723-B343-A4013DAC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F922A-3811-446C-B031-BD2AFFF4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471738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97068-6FC0-4F78-908A-DF273103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2205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Pretraining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45B6E-A021-405B-BB94-5B4AC224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220503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高精度主训练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9BC2D-D531-4C0A-B8CE-0533D030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B72EF-A974-4AB8-BFC6-1BB9CF21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1476375"/>
            <a:ext cx="2471738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FF4CF-1E7D-48BC-9908-9FE85C3C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1609725"/>
            <a:ext cx="2205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SFT 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53BB9-D868-44A6-B501-D19B4944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1952625"/>
            <a:ext cx="220503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开启 QAT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4E18D-C3B4-471E-91F0-2F2188EC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FBD38-48F8-40F3-94E9-E880B312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76375"/>
            <a:ext cx="2471738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E45E2-A54D-4CA1-BED1-1D325E01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609725"/>
            <a:ext cx="2205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RL / MOPD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B7B25-E841-4988-9468-0E618185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52625"/>
            <a:ext cx="220503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量化形态学习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00B4F-957D-4542-83D1-9CB6C793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DF418A-538A-44C9-842D-1AFF13E7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476375"/>
            <a:ext cx="2471738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6493EE-D6DB-4751-8050-4CD0395D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1609725"/>
            <a:ext cx="2205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Serving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A846C5-E196-4697-8815-48F02327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1952625"/>
            <a:ext cx="220503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MXFP4 W / MXFP8 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EC3591-6072-4258-A16C-11BA6106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5238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91FF40-4E57-4DD0-8286-AC4510E8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5238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1886B7-48A1-4B1D-A4CA-7FCC1268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2266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7BB7EE-C517-46E5-AF40-6950CB15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32788B-3D91-4A94-8AAB-08D3D720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95650"/>
            <a:ext cx="2266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657C96-5CF4-48DD-891A-B7BB2D53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051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挑战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02428D-BE47-463A-A404-1D5E24C7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5835C3-F0E1-47D0-B29E-68DAFF63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训练分布更接近部署数值误差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9344B3-E66E-41DA-9A2E-95C0DEC8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C5C975-938F-4B69-9808-236A20FB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超大 MoE 权重存储显著下降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BF8B58-E0A8-4FB6-9C75-A7E6F478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C295EB-6BA6-4839-BB5D-00B635A7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86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减少 post-hoc quantization 能力回退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AC940B-CD4B-4C68-A015-8FEAB81D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29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26F0B7-F696-4329-9EBA-7E266986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rollout 与线上策略的一致性更高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2A8DCA-1896-417A-988D-21D7E341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5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156D29-B204-46E7-BF23-0C002E34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719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路由与 latent 激活对量化误差敏感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7857C4-BBBF-4DEE-96F2-6619AD56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14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22BA4D-79A9-4B0A-8E87-180A1FAB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291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RL reward 对微小策略变化更敏感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2C7701-380A-4065-B772-0D66FEBB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72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CBB994-1CEB-47CE-8295-5A681E40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86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需要稳定的 scaling、clipping 与 kernel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6B1D9D-E716-4F7A-A360-90DE9C80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29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646A6F-9901-494B-988D-0724C2FC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43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不同层型的数值范围不一致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D2B444-6D3F-4959-A606-319D30A5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10858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A3D040-BE5D-4270-99BE-A53CF9B9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70E23F-D325-4F3B-9BB8-6057A9A3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00725"/>
            <a:ext cx="1049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K3 的信号：未来前沿模型的后训练配方会越来越“部署原生”，而不是在高精度实验室模型上优化后再压缩。</a:t>
            </a:r>
          </a:p>
        </p:txBody>
      </p:sp>
    </p:spTree>
    <p:extLst>
      <p:ext uri="{BB962C8B-B14F-4D97-AF65-F5344CB8AC3E}">
        <p14:creationId xmlns:p14="http://schemas.microsoft.com/office/powerpoint/2010/main" val="183878783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57EFD0-931A-461A-B56E-3E5AEE82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D8DED-D31C-414E-9B8A-6143F08F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SPECULATIVE DECODING × SERVING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D93FB-EADD-4783-8C5C-C3B6F34D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推理系统：EAGLE-3 加速生成，缓存编排保障长会话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19506-2269-4AE7-91B6-F5F9847B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34CB6-5BFB-479C-9B17-5F1AA13D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7E363-7A03-420A-9170-CF230F14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§6.1–6.4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A607E-D8CB-4517-9FD6-867DD5C7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D12BD-EB13-4DCD-941D-8F58C96C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1F809-E83C-45F4-946B-DE59EF61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BBF3B-85FF-430E-9F99-8B43E733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B8DAD-702E-4683-A26F-9BA74D40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02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EAGLE-3 Draft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5444E-A77E-41AD-8950-0ED5A463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2990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unroll = 7；以接受率为目标，一次 Target forward 接受更多草稿 Token。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B52EE-3B27-4277-842D-55AB1D69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62B40-E00C-4639-A606-52302A57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28A63-06F0-4A01-BC8B-61D68465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581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CF307-6B3D-4783-AD45-91365C50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6002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Unified Prefix Cache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2A7940-8C9E-4608-A209-29CC6540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47875"/>
            <a:ext cx="2990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统一索引 KDA recurrent state 与 MLA KV prefix，避免两套缓存割裂。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45A4F-B29E-41FD-AF7C-E63D405A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08827-15CD-4463-A820-074D2480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3D62B6-5BB5-45AB-B3D1-09510E87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81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B20E7-7889-4758-8B9E-5BDC2244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002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State-aware Reuse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35A6BA-305F-4E5D-BC69-92614863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2990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命中同时检查混合层状态；实例亲和保持长会话状态局部性。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4FFBA-B4D8-4E65-A7A7-555D6C03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91262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87C41-407E-409B-889C-5CA91359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请求到达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96DA3-930D-4C6C-9F37-E15F4EBF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8125"/>
            <a:ext cx="164592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effort / budget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F5FCCC-AB12-4C71-B569-2E7B7784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38385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78C23-8474-480A-B693-F0AF7BE7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3571875"/>
            <a:ext cx="191262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9C9E90-94E7-45A9-A2BD-1C5E0D0D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37052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EAGLE-3 草稿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A86EAA-5532-4F5E-9F04-A1451D38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4048125"/>
            <a:ext cx="164592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draft tokens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E0127B-CDB2-4746-8861-94ABF248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940" y="38385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BF07D3-A4FE-416B-8E55-9419D75A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0" y="3571875"/>
            <a:ext cx="191262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C912C0-4392-4DA8-8D62-26B558F3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37052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Target 验证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667FEF-9013-453F-B760-CD3C3B76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4048125"/>
            <a:ext cx="164592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接受 / 回退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D4797E-05F7-4B00-A4E0-9406AA72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38385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1203E1-61F2-4F25-B9DC-387D4856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3571875"/>
            <a:ext cx="191262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92CBCD-20F0-488F-B661-D5B74C9F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37052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缓存与亲和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CB479A-1464-4C3B-B157-74F66FBB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4048125"/>
            <a:ext cx="164592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state-aware reuse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0A57B3-5ED5-433E-91D1-B4C5B5A0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8385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BD6397-AC81-498D-8F5B-A4FCF8A7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3571875"/>
            <a:ext cx="191262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3B34DB-CE7C-455D-92C0-888D93DF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3705225"/>
            <a:ext cx="1645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生成 / 续跑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3156F1-5085-401E-B0C1-DE248E4C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4048125"/>
            <a:ext cx="164592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长会话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3911CA-88E7-4BDD-86FA-FB32A1FF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B7C88D-1252-47C9-B67E-F913E55F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23B419-72B6-45A9-920C-EF8283F4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0175"/>
            <a:ext cx="1049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单请求：一次 Target forward 接受更多 Token；系统侧：统一缓存、状态复用、实例亲和与预算准入保障 1M 长上下文。</a:t>
            </a:r>
          </a:p>
        </p:txBody>
      </p:sp>
    </p:spTree>
    <p:extLst>
      <p:ext uri="{BB962C8B-B14F-4D97-AF65-F5344CB8AC3E}">
        <p14:creationId xmlns:p14="http://schemas.microsoft.com/office/powerpoint/2010/main" val="172244632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CF955-002A-4CA5-BA5C-8376BE63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124A2-EB4A-4EF7-A140-860D7FEC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0"/>
            <a:ext cx="4048125" cy="6858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445D2-3834-4D6A-8AA5-C1C64B49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253DD-F4B8-43E7-AED1-9734E2B8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国内外同行对比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7936E-8691-4E45-A411-B04B8159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01355-4FAE-46F7-9F54-62174C78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733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rPr>
              <a:t>以公开证据对比架构、规模、上下文、训练披露与 Agent 基准；未披露机制不做强推断。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DDC15-61B6-4941-8AFF-3BCCB95E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35566477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CDEE74F-35AA-477D-850A-81D07B46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4A5B4-0EBF-4CEF-BFAE-5DD734F0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DOMESTIC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B7234-0334-4E6D-96D3-BF41F327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国内模型：架构、规模、上下文与开放性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3E09F-23E6-4AC5-85AE-016A8940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25489-5D40-42BB-AD33-3C60D248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C574A-043D-4722-80D3-DCB853C4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来源：[K3-TR]；[DSV4-TR]；[GLM5-TR]；[QWEN36]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9C899-A856-41A2-84C3-7188F57E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51370-5119-4E15-A8BC-D0107D2E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7CCD8-D3EC-4650-A8D6-9AA382CF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8D808-2D4C-45D3-8CBC-8A700E31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381125"/>
            <a:ext cx="2488406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854BE-347C-49CE-9712-A0D9E75F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438275"/>
            <a:ext cx="233600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Kimi K3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BE74F-BC89-444A-83E0-6F98E9F8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531" y="1381125"/>
            <a:ext cx="2488406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60AA1-5EA6-417A-945E-572474A0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731" y="1438275"/>
            <a:ext cx="233600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DeepSeek-V4 Pro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79F5B-0418-4E13-89AD-1A913975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1381125"/>
            <a:ext cx="2488406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83DAD-D8DB-482F-9CA2-5340CE5D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138" y="1438275"/>
            <a:ext cx="233600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GLM-5.2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E8692-9E05-4C0C-B4E1-60ABBA25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344" y="1381125"/>
            <a:ext cx="2488406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675C4-506D-4687-8B4D-88A5EA45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544" y="1438275"/>
            <a:ext cx="233600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Qwen3.6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20246-300A-4C67-ABE5-DBB2227B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19275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7CF61-6473-4E01-B894-5D822A0C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76425"/>
            <a:ext cx="1114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8E8BA-999D-4510-87AA-84126B29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192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0E17A4-95E4-4AD6-BBB4-298063C1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8764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2.8T / 104.2B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FAC8FB-4B82-4E37-94CB-0673F941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531" y="18192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F1C68-ABA2-4FBA-B89E-038578E9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256" y="18764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1.6T / 49B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3F6C55-C171-4BDC-ABB7-AB25D253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18192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20ADD2-24F0-4C4C-A264-F868CD62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663" y="18764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744B / 40B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AFA63-0CCD-4D1F-BA70-3795813B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344" y="18192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F5F956-C642-45ED-B073-F959B94C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069" y="18764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35B-A3B / 27B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7D1C63-AC49-4811-8700-A82E1A9F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7475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658AD3-8E23-4BED-A8F0-295978A1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714625"/>
            <a:ext cx="1114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注意力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529E91-FFD3-4D88-8ED6-A1CA967F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574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FF7C6A-3945-4CD8-96B3-21DACFA7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146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KDA + Gated MLA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C9AA99-19B4-468D-8E4A-2439E44D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531" y="26574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D98E99-0D40-4FFC-9A8D-F1A8E1B3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256" y="27146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CSA + HCA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667A74-04BC-4DD9-BBE3-E6B74D29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26574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CDF56C-9698-4CCE-8A97-A17BCA51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663" y="27146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Sparse attention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IndexShare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E16379-2F3B-4022-BEC5-516E737D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344" y="26574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A193EB-6844-4A23-80CC-FEDE8A99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069" y="27146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Gated Delta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Network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7DDD1B-41DD-4B2C-8C47-E02824E9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95675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FE8543-3549-4659-9E96-204D999F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552825"/>
            <a:ext cx="1114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MoE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4780D8-5D72-428B-B93B-9D77CBD8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956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3EFA84-571A-4700-A7C3-26B487A5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528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896，激活16+2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AA21B8-7474-4849-B2ED-356FF7D3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531" y="34956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4D7A47-0DF4-499B-86E2-1525F07A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256" y="35528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384，激活6+1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B211AD-1166-43F4-A6BB-BF4BC280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34956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AD3BCD-B0EE-46DB-9CA1-20CFCE44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663" y="35528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MoE，A40B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F720CD-64DF-40E7-982F-BF50F1C5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344" y="34956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EB42B8-B3CD-4A71-9C15-9524C1D2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069" y="35528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35B-A3B 版本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BB224D-3BF4-4714-9F05-D1D401EA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33875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D56F80-0970-4702-9278-A7EFC3E7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391025"/>
            <a:ext cx="1114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E8CB4E-8460-45D0-BFA6-44ED2F37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3338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11AD73-17C4-4723-9CC9-A96E103D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910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B2FE88-D661-47ED-867E-AC67AB6D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531" y="43338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D7EECD-0E39-4F70-ABC8-99CF6FC1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256" y="43910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0B7C49-A8C7-453F-B223-A3E8476A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43338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7B92FF-71A6-4FA3-9037-6F3FEC58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663" y="43910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0BC185-9C91-46BF-AB96-D6233C7D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344" y="43338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120E05-6984-4615-9FEB-275D7D16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069" y="43910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262K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D6B554-431D-4E6A-A0A3-29588E1C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72075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D430C4E-C22B-40C8-BCA3-E28BDF6B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229225"/>
            <a:ext cx="1114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开放性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3125BCC-10E8-4865-986D-54FC86A6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720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5AAEBB-C4FF-4BC4-96DD-608299E8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292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开放权重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611F66D-1D33-4180-8026-5F9347A7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531" y="51720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AFFE10F-A854-450C-9700-5622D2C6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256" y="52292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开放权重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56658EF-00E7-4817-8488-84B54E91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51720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FF1765-3A38-46F9-A435-89672F2F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663" y="52292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开放权重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63C0774-7CBC-4107-A7A8-245DEF2E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344" y="5172075"/>
            <a:ext cx="2488406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917CF86-2EA4-4D1F-B9EC-C0B64EED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069" y="5229225"/>
            <a:ext cx="2316956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Apache 2.0</a:t>
            </a:r>
          </a:p>
        </p:txBody>
      </p:sp>
    </p:spTree>
    <p:extLst>
      <p:ext uri="{BB962C8B-B14F-4D97-AF65-F5344CB8AC3E}">
        <p14:creationId xmlns:p14="http://schemas.microsoft.com/office/powerpoint/2010/main" val="4904502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DCBFC8-20B1-4EA7-957F-D5A64FD3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071D2-C6B3-43F1-95C5-9093B9C1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DOMESTIC TRAINING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5412D-72D1-4F58-AD4B-E221A9BE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国内模型：预训练、后训练与 Agent 轨迹披露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20321-B3EE-4F01-84B0-B535C900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F374F-5984-4934-82A9-6D89562C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359A0-915D-46CB-81F7-E7284D90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来源：[K3-TR]；[DSV4-TR]；[GLM5-TR]；[QWEN36]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F26CA-0EF3-44B9-B6E3-0D7B9608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42B60-D6A8-45B6-8A6A-D9B7680D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E1566-B9C5-4BE0-9462-AB41ADB3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38275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4FDA7-5E51-4947-9183-E2FCCB08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381125"/>
            <a:ext cx="246459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52185-4D4B-424A-8313-9352FCA2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438275"/>
            <a:ext cx="231219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Kimi K3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08D38-6287-41D0-83AF-6CFDACA2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344" y="1381125"/>
            <a:ext cx="246459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FA872-7269-4C90-9317-0E5E8D7D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544" y="1438275"/>
            <a:ext cx="231219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DeepSeek-V4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A4143-1C54-4D68-9898-1B1FE30B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1381125"/>
            <a:ext cx="246459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01548-1AD2-45CB-9224-165F704E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138" y="1438275"/>
            <a:ext cx="231219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GLM-5/5.2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62FE3-B828-4B4F-80CD-143DFE3E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531" y="1381125"/>
            <a:ext cx="246459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76F011-F83A-46A4-B0CD-0295CCD4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9731" y="1438275"/>
            <a:ext cx="231219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Qwen3.6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B2851-46EC-4736-A1D7-E67E62F8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19275"/>
            <a:ext cx="1285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89C0E-D102-4D22-A3F9-A69550F9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1144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预训练规模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B1D02-201D-4ADD-96D8-E8639534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19275"/>
            <a:ext cx="2464594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D37C2E-6325-4CD3-9763-5A2CF15C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876425"/>
            <a:ext cx="2293144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规模未披露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文本+视觉早融合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858609-6970-48B4-8078-5C67F3A5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344" y="1819275"/>
            <a:ext cx="2464594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1EC8DD-A187-4585-A8C3-B7E77731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069" y="1876425"/>
            <a:ext cx="2293144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Pro：33T+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A9AD79-5032-4190-8BED-C214266D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1819275"/>
            <a:ext cx="2464594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0C316C-8E64-43CE-AD1F-D4EE92FA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663" y="1876425"/>
            <a:ext cx="2293144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28.5T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长上下文 mid-train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B309F1-2B86-45E8-87E8-AEEE7155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531" y="1819275"/>
            <a:ext cx="2464594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73BEB7-6725-440D-B14E-339B2D80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256" y="1876425"/>
            <a:ext cx="2293144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trillions multimodal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精确值未披露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BFFFFD-5763-48CA-84B5-CD5480E4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1285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4688CC-A0B4-4BAF-92C5-8294B7E3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1144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SFT / RL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D699F-6889-4C05-A8E0-650E3325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52775"/>
            <a:ext cx="2464594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3F2602-8BA0-4257-BF70-5ECCABFC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09925"/>
            <a:ext cx="2293144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SFT → 3×3 RL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→ MOPD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F316EA-17CA-4851-8E71-DCBE9158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344" y="3152775"/>
            <a:ext cx="2464594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962BDA-6EF4-402D-A396-AA71D2C7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069" y="3209925"/>
            <a:ext cx="2293144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领域专家 + GRPO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→ 多教师 OPD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170F72-FC92-4133-B788-C1FAD2A9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3152775"/>
            <a:ext cx="2464594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FDA81B-5573-4F26-AB6E-3533EABA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663" y="3209925"/>
            <a:ext cx="2293144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SFT + GRPO / IcePop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+ 异步 Agent RL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83EA8B-AF35-4FF4-88F8-B0F8EC84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531" y="3152775"/>
            <a:ext cx="2464594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CCB0FD-6D68-4BB6-B978-AEAE1019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256" y="3209925"/>
            <a:ext cx="2293144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progressive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async RL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310541-F851-4F2D-B020-D78B285E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86275"/>
            <a:ext cx="1285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EE68D1-885D-4B20-9A63-FA3B3E88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1144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Agent 轨迹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与环境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D0AE91-1FE2-432E-A404-83C94A8A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86275"/>
            <a:ext cx="2464594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B41DCE-C8FD-4E32-8BEE-DD0395F2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543425"/>
            <a:ext cx="2293144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白盒 harness；KG 合成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AET；微虚机；1M RL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6F3935-09AB-4C4D-AA7D-5303CAFB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344" y="4486275"/>
            <a:ext cx="2464594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214048-0F0C-4391-83C3-35D2B423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069" y="4543425"/>
            <a:ext cx="2293144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DSec sandbox；token WAL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百万上下文 RL / OPD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193950-186D-40AB-9367-EA4E053E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4486275"/>
            <a:ext cx="2464594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12909D-DF65-4014-B903-AE02F729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663" y="4543425"/>
            <a:ext cx="2293144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&gt;10K SWE；终端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2M 页面图；TITO 对齐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688CDA-FA9F-4C69-8B90-9DFD04E4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531" y="4486275"/>
            <a:ext cx="2464594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EEEE48-6640-4DDB-825B-DEDCD66B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256" y="4543425"/>
            <a:ext cx="2293144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million-agent envs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配方粒度较低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EFC5DB-3D42-4729-B3CF-ED4312BA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17287C-A0A0-49BD-B98D-EA992BF0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E7A600-248D-48C0-BCCF-84A7F4FE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72175"/>
            <a:ext cx="1049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公开透明度排序（仅技术细节）：K3 ≈ DeepSeek ≈ GLM ＞ Qwen。</a:t>
            </a:r>
          </a:p>
        </p:txBody>
      </p:sp>
    </p:spTree>
    <p:extLst>
      <p:ext uri="{BB962C8B-B14F-4D97-AF65-F5344CB8AC3E}">
        <p14:creationId xmlns:p14="http://schemas.microsoft.com/office/powerpoint/2010/main" val="14386678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87F5F38-3954-4C11-93C7-D1116C11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284FD-D4F4-4CD0-9099-02A0CE4A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INTERNATIONAL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7227C-4EC4-4242-8E4A-D1678BD0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国外模型：公开规格强，架构与训练配方仍是黑箱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CBA48-D523-4286-845E-DA3741A3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30382-8245-4D82-B3E8-37CE9994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17D95-DBB6-4372-9119-55B90B6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来源：[GEMINI31-*]；[GPT56-*]；[FABLE5-*]；[OPUS48]；[CLAUDE-*]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83FFE-408B-4AF1-9FFF-F0BF7435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62BE7-7A5C-424D-8235-3A12BEFE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8473A-EA5A-463B-A546-75C7F633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DC238-BECF-4874-A5AF-C0DD20D8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81125"/>
            <a:ext cx="240506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2E8CE-3558-4CCB-8A5D-FA879FC0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438275"/>
            <a:ext cx="22526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Gemini 3.1 Pro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E2874-5952-4CC3-A0B6-D0D52059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13" y="1381125"/>
            <a:ext cx="240506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AD2B4-5674-4581-BE1F-92914529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513" y="1438275"/>
            <a:ext cx="22526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GPT-5.6 Sol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6B9B1-8F3F-4AB2-9349-EBAFF8E6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81125"/>
            <a:ext cx="240506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D0077-6BCD-475F-A9AD-6BA2CB30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438275"/>
            <a:ext cx="22526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Claude Fable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A780B-0E69-4271-98E0-2D5398AA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1381125"/>
            <a:ext cx="240506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5D878-4A96-4B0F-9F2F-34BDDFBE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638" y="1438275"/>
            <a:ext cx="22526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Claude Opus 4.8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2E156-6C93-48CC-8AAC-D5B4A4C5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142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753E9-55B3-43B4-BAF9-CF252A8F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76425"/>
            <a:ext cx="1257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架构/参数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83D60C-0615-49EE-BFE2-5FCEDB48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19275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2D830-A9D6-496D-A851-70977A37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876425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未披露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46460F-0A88-4AF3-A82B-2720E73C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13" y="1819275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714260-28AA-4754-A07F-462F8053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1876425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未披露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397D7E-0FAF-4064-850B-BD26A45F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19275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733E47-31E9-4744-8331-CF8C37D5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76425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未披露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F4B83C-664D-4A22-8D0D-E5367595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1819275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DB0229-8EBF-4C0D-8907-774244A7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1876425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未披露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C23A69-C4A8-465D-92D5-25429872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142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055046-4D64-402D-8B5E-2EFA7771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90800"/>
            <a:ext cx="1257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输入模态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F03F74-1FDB-49EB-8223-BBD85797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33650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27D6D7-F398-4A67-928C-48F63050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590800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文本/图像/视频/音频/PDF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B38D34-017A-4F1C-8084-B1FC09CC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13" y="2533650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FBD782-DD38-4A78-9233-1F6A63D5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2590800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文本/图像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783A7E-3CC3-4E26-82A6-74C6D718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33650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613654-8FE9-42E6-A807-9F0C06E9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90800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文本/图像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B7166E-493E-4FEF-8C5C-1BAE6FAD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533650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45366C-7176-4588-B969-54ED16D6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590800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文本/图像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186E89-3066-45DA-8CAE-0885E128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48025"/>
            <a:ext cx="142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7D0FE6-1C80-43E8-9B40-77DEF0AD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05175"/>
            <a:ext cx="1257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88DB2A-6A85-4153-A8A6-1AF86742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48025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B420BE-73F8-4A81-9C8B-DB6C40C5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305175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26421B-181C-4D8E-B5EF-84A3DD3F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13" y="3248025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C17AC4-0146-4237-BA6D-6820BF59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305175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EFD0A2-262A-4BB4-8607-CC04B0E9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48025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42EDA9-2248-422A-8E2C-D4637B47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05175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40285A-55CC-45E2-8182-70472EAA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3248025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76C48B-016B-464B-B116-DF0AC9EE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305175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0EB4CA-1C24-496C-8364-79108C99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142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3FCF5A-0A7A-4288-859F-3E6A91B5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19550"/>
            <a:ext cx="1257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输出上限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4BE6F7-7C84-42A6-92A0-9A9BE467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62400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11484C-42F9-4CAA-98C4-B012D789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019550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65,536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EBCDFD-248C-4309-BD7E-D3002E36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13" y="3962400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8641E5C-B7E9-4B33-88FB-0FE075DC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4019550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128K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7FDB87-C28A-4D95-A1D6-A928790C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62400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7E5472-DCA5-415D-B9E9-AE82A800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19550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128K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9FA82E-01FD-4589-B33D-185D5225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3962400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32F86C-4D98-4045-8073-A655AF5E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019550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官方文档依版本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680B89-98C6-49D3-813C-8A6AC271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142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2BF6BBD-E160-4B96-8F65-9FE4C152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33925"/>
            <a:ext cx="1257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63594A-35BE-4CB1-8A46-D55BEEA5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76775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DC10F63-44AE-4310-B437-EB3A365B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733925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thinking / tools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AF6BC4-E993-47AC-A080-31863795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13" y="4676775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4D1E677-2F5B-48F4-AC11-7F12807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4733925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none→max；ultra 为多Agent编排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7C60030-BA54-4BD9-B10B-E03CBE4B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76775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7CA5EBC-8040-4583-B019-D520A350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33925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自适应/长时 Agent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10DA993-0913-4B6D-A8F8-930CD7E1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4676775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8B30AB8-0F93-4D3E-B21E-9CF4E55E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733925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adaptive thinking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AEA3A46-02EB-4CD5-82FE-0B23168B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428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43A28CD-5AD2-4803-82A1-A749AB92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48300"/>
            <a:ext cx="1257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开放性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5639694-E365-47BB-AC5B-92D259C7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91150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D2441B3-BE67-4DEE-BB7C-FE07A13C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448300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闭源 API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C20EBD3-EA21-4207-8A03-2633EE20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13" y="5391150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4FE6C05-F27D-4216-875E-F5067049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5448300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闭源 API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180526A-E9C7-4604-89D2-04DF903B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391150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70790B9-225F-41D2-B37B-FF7A7B90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48300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闭源 API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DB28A51-9598-4B6D-B2CB-F4334C74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5391150"/>
            <a:ext cx="240506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DB36DDC-0254-4839-B5C4-27DC5302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448300"/>
            <a:ext cx="223361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闭源 API</a:t>
            </a:r>
          </a:p>
        </p:txBody>
      </p:sp>
    </p:spTree>
    <p:extLst>
      <p:ext uri="{BB962C8B-B14F-4D97-AF65-F5344CB8AC3E}">
        <p14:creationId xmlns:p14="http://schemas.microsoft.com/office/powerpoint/2010/main" val="128001127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87BDBA6-AF72-4385-BA7B-9A560B67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62037-8587-44E2-B01F-592406C0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SELECTED BENCHMARKS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506EF-7FCB-49D9-AD9B-E7D56772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4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代表性基准：K3 已进入第一梯队，但不是所有维度都领先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6F19A-865A-4F0C-87C9-3247E7D5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1C0D9-41B0-4F81-B65E-311FC68E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2E7C7-3E6E-4C35-BD96-BB3446DC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来源：[K3-REPO] official benchmark 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3356B-61D6-4145-AC2A-310ECEA0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A9986-F323-4A09-B00D-1263278C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8125B-504C-409B-A772-0B7C559F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3827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421D0-D78E-4E64-AADF-14A614EE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811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DA919-C59A-4CA8-9DE6-8D7B5121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382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BA934-4E0D-47D9-BB55-00770A20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811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70E5D-AC9F-45C0-9AA1-4F5AAB2F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4382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Fable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30B84-9031-4124-84D1-EFA326B7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3811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880CC-13F0-4F2B-B96E-C5528A80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382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GPT-5.6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69F42-E766-43FE-88B1-2C2BE781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3811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A762D-B38F-4D0A-A212-AB3008A8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382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Opus 4.8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2FC7B-B6D3-4A4D-849E-9CD7A650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3811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3F7923-63B7-41AB-AC4D-2C8D0EEA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382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GLM-5.2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E3434-3D12-43F5-8176-CD039AC9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19275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247AE-EB01-4D3D-A8DB-6314DEF9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87642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GPQA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B0DD7A-3CBE-44E3-B920-C491F3F4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19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DD704-AA50-4646-936F-0632F5BB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876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93.5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4076D-637F-49FF-BCE8-85D6D594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19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B6DF7D-FD54-46F4-8E62-CD3A6DBF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876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92.6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FF8772-94D0-4AAC-9067-540FCA04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19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5844C1-D38B-490F-8E43-3DB211DF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76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94.1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B1E6B8-129B-4B02-836A-06060DCA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19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9564A1-6FBE-4024-8C19-62F1C801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76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91.0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C5E636-0C44-4795-BBB4-AE4463C3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19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497E47-C8A5-4413-93E9-B67F7081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876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91.2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2F3444-894A-4C07-BA6C-C0C829F4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05075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77C76D-CF38-4051-BC82-A839F960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56222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HLE + tools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3A6D69-86D2-4D17-B6D0-2D6FF0B7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050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A1DD98-E16D-45F2-8B58-58CB47F9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622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56.0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47F1A2-17AD-41BE-B571-263CA3DE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050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CBDAB7-A481-4703-B79E-238AF2E9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622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63.0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BBFE42-CB22-4835-A2D3-63E215E2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050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7846A1-7B05-4AFA-B093-F8127818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622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58.0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1255AC-2A56-42FD-BBE0-348DD867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050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5F2D0C-B33A-439B-949E-75F50634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622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57.9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422F3F-0EBC-4A73-9C62-73218B73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050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B62142-C400-4298-9938-25798118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5622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DCE0EB-4BD6-47CF-A60E-D79F340A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9BF652-A2DF-4A8B-BEF8-E976FD06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4802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Terminal-Bench 2.1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CAF348-0D32-46B8-9789-426BDF23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908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A7D246-D7EF-41FF-ACA1-98BA09D5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2480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88.3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160E89-E88F-4D11-8CA1-5BE8893C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908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6A1EB1-C957-4EB1-9FA1-7770E745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2480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88.0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55FF57-E9EC-49DE-A5A8-701C8BAF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908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B3CD7F-D760-489B-B1DF-B52442D1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480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88.8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281F91-92A1-4780-98AC-5BEEF0D9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908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ADBC96-D17D-4DD5-BB73-3614410F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480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84.6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8980A61-9CFA-4AF9-9D70-17EE8EC4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908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368E31-05E0-4065-9DA2-331A75CC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2480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82.7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BD02A2-02A6-42F1-ABB8-9B77D18C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76675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DA655D-B8F3-4783-8380-84297290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93382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FrontierSWE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2B60182-2A7E-41E3-A5FF-BE437DE7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766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1F43E7-D8DE-4D7E-B04B-89EF6B7B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9338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81.2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157C77-7AE4-4654-A6FE-9C9B9AF7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766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23AA239-CD39-431D-B462-C84C41A8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9338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86.6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2E20FE2-CF1E-4E8C-939A-0F9403D2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766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CEBAED-9A08-45B7-AE9A-8B6DAFBB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338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71.3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46232E-93BF-4410-9DD6-010C6669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766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B2072EE-AB6B-48EE-869A-A3BA47F6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9338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66.7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3A14A9-F7C7-4279-866E-754CB53D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766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2150F1C-51D4-413F-8965-97CCB8C1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9338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67.3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FA54EE8-945D-4513-B86A-EE78140E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62475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BB890B8-E921-4AEB-9E23-0E07EDFB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1962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MMMU-Pro + Python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F71FA94-F0C4-4C19-BA63-48472AB1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624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BD7F1B8-E8BD-41C8-94FA-A40C278D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6196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83.4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2612662-4C6E-4B2A-8206-EA93548E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624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1C52193-4E68-46F6-8587-102634DF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6196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86.5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5A4A694-C19F-4EDC-8E7A-B2355DEE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624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E4C939B-8A40-4D78-99CB-E58F4A1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196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84.6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6EAA844-7E68-4522-9D75-66CD6CAC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624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47E8037-8C01-44C5-84C9-08CC9B2B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6196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82.7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9672CE7-9E61-44E1-87E8-BB6F1247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624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0A55E8F-B9CC-4329-9D8D-693809B5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6196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24E7EC9-AF40-4854-93F4-47F22147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48275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3563B6C-D7C6-4918-833A-0FAE8EE5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0542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OmniDocBench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5D41EC4-DA1F-4A1B-96FE-963E41DE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48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28D2E02-25E1-401D-95F6-B49AD1E3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305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91.1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C724590-2456-4F5C-8EE5-0296A8B7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48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426EE96-C434-4727-AA2E-8259CCDD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305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89.8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735A796-D57B-432E-B641-9A40E43A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48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0F9520E-15B1-488B-95D9-7F4C96BA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305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85.8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A5CF791-76BB-4746-905E-221D0E10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48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D31D717-B934-4F02-A782-335B2783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305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87.9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D852A9A-5D32-4D39-B741-7B5113F8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48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588568C-30C6-4692-A058-F7816119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305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8C7AC90-01E5-4DB6-818E-65E7DCB0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85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4894B1F-6335-4BFC-ACAA-D99C70AE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1676F2B-685C-4BFC-9B42-94D6E864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9800"/>
            <a:ext cx="1049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读法：K3 在终端、文档视觉与部分 SWE 任务非常强；在 HLE 与部分高难知识/推理任务仍落后最强闭源模型。</a:t>
            </a:r>
          </a:p>
        </p:txBody>
      </p:sp>
    </p:spTree>
    <p:extLst>
      <p:ext uri="{BB962C8B-B14F-4D97-AF65-F5344CB8AC3E}">
        <p14:creationId xmlns:p14="http://schemas.microsoft.com/office/powerpoint/2010/main" val="168028415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95C6B44-6122-4705-B032-59A2DCED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45563-67F3-4C90-AAB5-FC5ECCCE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AGENT BENCHMARKS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C089B-3A48-49B4-A926-9698452A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Agent 基准：K3 优势集中于真实操作与长程执行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30E63-EB15-4A4F-A4AB-14EC492D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DEB73-D55C-4AE3-BF1C-EEB20EDF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ED742-4A69-4F11-B391-D5B19BB5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来源：[K3-REPO] official benchmark 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5DCF0-57B1-4316-A818-EDAAD8BE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3BD6F-D3E0-4C9A-80DA-AB4104C3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55078-59D9-48DB-86B4-92CDA170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3827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F0825-2094-450E-B96A-65A1EEFD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811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F16C3-C67B-42D4-906A-2A6F3F55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382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E4538-6E84-4F4E-8F2D-8AD3E155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811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02170-FEF8-4482-A219-408C4DCF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4382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Fable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25E07-EF49-4AEB-87E7-B55C8367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3811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B90D5-D061-4C0B-BEB5-E150D77C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382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GPT-5.6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2A187-E0BD-405B-8920-C7AF05EE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3811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54DDC-4649-4383-B337-D4DEB2CF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382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Opus 4.8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5BD54-6C72-4C1C-8CA7-94934704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3811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90BE7-053E-49A4-A0F1-F40B898B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382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GPT-5.5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A2624-2E2D-4F28-B13C-1F96ABB6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19275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602025-6076-419A-A17B-56048CB0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87642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BrowseComp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AA8A95-A8DA-4AAD-9BE9-A1D30AB2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19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8B54B6-E6E9-4DBC-B0B5-8463CDE1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876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91.2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714A00-2DD6-45C4-AC92-02071043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19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04F02-AC26-42EC-AF1A-E62EEAC9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876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88.0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28B152-914E-477B-BFC6-698DDE69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19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A2D2C0-DB5A-4380-8023-94EBE183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76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90.4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1010F3-C277-4DBC-9F9E-2C34A43F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19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BB1B3D-3162-4248-853C-FF38E4FF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76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84.3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101C6B-2776-4AB4-84A7-8FAED5C8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19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93373D-F189-4A2E-928E-DEC0B4B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876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84.4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C81A8A-556E-44D7-A5BB-E43E7CC2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05075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0C3649-FC0E-40FF-8024-B8A0C540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56222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MCPMark Verified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75E159-2831-480A-B57A-273822D3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050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632D5A-A8E2-40BA-884F-A44ED3CC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622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94.5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0AB3BE-B370-412D-AEA4-25157C92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050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FC91FB-BC4B-48F6-80B9-EF17FD37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622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87.4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7EDDBB-4F17-4010-925B-17437412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050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B6BE4F-2566-4ADD-A768-E8C62CA2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622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92.9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3F3434-D87C-4018-B9F9-BF5FCD51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050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AF7F80-3664-4109-8729-0CB3B395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622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76.4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429CF9-039D-4913-B02E-73EE7A77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050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C652DA-876B-46E1-B05E-5692C4BB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5622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92.9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EDD5BD-0BCC-4080-99F1-A4BC3540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3190FD-4B1F-477F-B9FB-81BEFF8B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4802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AutomationBench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D5A799-016A-49A1-AA98-B38DA8C9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908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0ED8B8-6DAD-4287-A8A1-72617724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2480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30.8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ACD8F1-474B-43EA-BB2A-D79938AD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908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95B750-7BF9-4BC0-840D-4EF1945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2480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29.1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2D4A59-7D02-4760-9EC5-E9EDD941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908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F0DF99-A7F1-438E-B14E-EFE01685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480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29.7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86AB05-F3E8-4E22-A774-7E7A0756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908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4B68A9-6B33-46A0-9BA4-B3E568C8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480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27.2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265A70-0F78-42C5-A40A-DD1A6B80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908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60FFBE-3D93-4CE2-8D49-D3133B2F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2480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22.7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994F93-DB34-427D-91E7-B23C05E5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76675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686A36-C4E7-4129-AAB0-BEDD31F7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93382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OfficeQA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4EFF4C-9DEF-4872-AA48-FF91C116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766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886EF1-22FC-4450-BE1C-8DD0919A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9338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63.3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7AC394-8339-4953-A730-3A7E961E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766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7FCEC88-A6B1-4888-8AA5-3CF27CF6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9338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69.9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8E718EF-19A0-4A7E-BE27-E5C5E809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766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8C40AC2-74C1-4DF3-A609-12AF0736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338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63.2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679593-D656-4591-AF96-D3C1BE24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766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80CDDCA-334D-4368-A48B-9C2C2209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9338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63.9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8B1358D-E32D-4305-A3B9-9224233B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766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AFB6719-52AA-4ADF-8B6A-6CB0B000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9338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60.9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4B82F3-7FC6-4100-9E7F-A273FF8A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62475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99BC716-D79F-4C6E-8FA8-2D023387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1962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OSWorld Verified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CBA257F-EE9F-4CDE-9E2E-F9CCAA51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624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9DE1ABD-72E7-4017-B9BA-23A6FD16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6196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84.8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5793DC9-612F-4356-8146-5E706921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624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B31D643-7308-4A7D-98D3-B2C4C998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6196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85.0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7C4747A-A38A-4A08-9EE9-44856456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624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AEEC06-F005-4BAA-B218-91C000A6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196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83.0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792E84C-46AB-48AB-BDC3-D7018411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624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03E836C-0F5C-4680-8CAD-85508CCE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6196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83.4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DB80144-663F-4E50-BA7D-51291701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624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6B848A-A5F4-4243-9B9B-E3D39B27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6196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79.0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9268BDC-F223-4519-9E75-BD3BD735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48275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875F87C-D600-4DEF-9908-8CA0ED4C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0542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Agents Last Exam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F8FF6E2-D9A7-467C-95EF-8D67D64D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48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B0F7C42-6421-48A3-93B8-1F619E50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305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28.3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DB558A9-8E38-483C-8D7D-584554E5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48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7C024F9-FF42-4478-8E9A-E814B707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305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25.7†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D04C3D3-1DD2-4EEC-B427-36F70223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48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173A3F7-7ABC-4F23-86DF-9A0A5428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305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29.6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21B1215-0D3B-4365-8454-F5565658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48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D77D190-3920-44F7-89C9-BB67D99D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305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27.0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BD7B056-030F-40AC-A26C-21949E28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48275"/>
            <a:ext cx="1600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7ED7C1C-DC4B-4586-8812-FCA81E0C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3054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26.6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7D409CC-5CB8-4A39-8F29-95559823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85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1AD9AAB-8093-4627-A207-6A56BD15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C06B545-0DB7-44A5-89DC-301740B4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9800"/>
            <a:ext cx="1049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结论：K3 并非“全胜”，但在 MCP、自动化与 OS 操作等可执行 Agent 任务上显示出训练环境与轨迹工厂的直接收益。</a:t>
            </a:r>
          </a:p>
        </p:txBody>
      </p:sp>
    </p:spTree>
    <p:extLst>
      <p:ext uri="{BB962C8B-B14F-4D97-AF65-F5344CB8AC3E}">
        <p14:creationId xmlns:p14="http://schemas.microsoft.com/office/powerpoint/2010/main" val="113494970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F9493-61CF-4F8B-9F8F-2010941A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C7466-A403-4203-B80D-32B3AB9B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0"/>
            <a:ext cx="4048125" cy="6858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45058-0452-414B-A1F5-822F25FE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E1D17-F563-4477-9DF4-537F81EF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判断与建议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CB279-91C0-47CE-A72E-671BDD93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A2A96-5FF9-471E-BD0E-8A1F8D62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733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D9DD"/>
                </a:solidFill>
                <a:latin typeface="Microsoft YaHei"/>
                <a:ea typeface="Microsoft YaHei"/>
                <a:cs typeface="Microsoft YaHei"/>
              </a:rPr>
              <a:t>归纳 K3 的结构性优势与关键风险，并给出轨迹工厂的 90/180/360 天复刻路线与最终判断。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48360-3CFC-4043-929C-F22186FF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4998686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31C284-FE34-4D1A-9870-FFC14B6C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856E5-8F18-4B82-99E9-EBF7A74F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STRATEGIC ASSESSMENT ×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DBD3D-DF68-43C0-BF0C-1971B080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K3 结构性判断：五项优势与五项风险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F643F-F792-4AB1-A037-8AA1374E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A495F-F55E-47BA-AB4A-BDACFBF6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1A113-8555-40B9-A9E4-57220E6B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全文；[K3-REPO]；本报告归纳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952B2-0833-484D-87D7-5EB08BEF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2841C-6928-40F6-8D1A-5826F5C4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95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5A2CE-0BF4-4EE1-976F-7F188D51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36E21-2086-47A4-826A-5B61AC24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381125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9D69A-090A-4DA1-AC03-DBAFC15E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38112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长上下文架构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95ADC-3C39-4D2C-99F9-A092F488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81125"/>
            <a:ext cx="714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2B23E-8699-472B-ADFC-44732968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8112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优势：KDA 固定状态 + MLA 精确补偿，1M 原生。
R1 风险：线性记忆取舍；固定状态可能丢失精确历史，需 MLA 补偿。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1BF42-8AC7-4A6B-B8DC-56029202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95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B0E4B-B810-48F4-9005-68672D73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0664D-00B6-4BE1-BF1B-A0F29807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76475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16F31-A0B5-439D-9796-30F72526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764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稀疏容量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B0380-E4C6-4605-A157-2C195811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76475"/>
            <a:ext cx="714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80F5D-6377-495B-82BD-6AED241D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7647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优势：2.8T 总容量、104.2B 激活，容量与计算解耦。
R2 风险：超大权重运维；存储、通信、部署和更新成本仍然很高。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88748C-5589-4E20-8C5E-0957C3F6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95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EC0DF7-0D75-4ED8-929D-E99C161D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1493CF-E064-4493-AC09-9D694905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71825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E43BD-92A7-4295-8251-4C9CEDE9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7182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原生视觉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B9E901-3DC6-4220-9AFF-2CA155EB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71825"/>
            <a:ext cx="714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09F7C0-286E-4125-A5C4-42484EE7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7182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优势：视觉从零进入 next-token 预训练并连接环境。
R3 风险：闭源强模竞争；部分高难基准仍落后 Fable / GPT，生态迭代更快。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3081D8-74DC-4442-B4DE-0D85390D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95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A2834-513D-43F4-A693-589E1CB2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99ACBF-809C-4552-ADD4-FCA80007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67175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9DF2D7-14F2-4786-9027-0B229B27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671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轨迹工厂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BBD7AA-1C01-49E8-B35D-A0C63FF6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67175"/>
            <a:ext cx="714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2073F0-DBC6-49E7-852C-A32DF9FF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6717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优势：任务合成、白盒 harness、verifier 与 1M RL 闭环。
R4 风险：Reward / Verifier 偏差；复杂任务可能被 rubric 或 verifier 的盲区误导。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9F8637-1A1A-4923-A9F6-796F7127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62525"/>
            <a:ext cx="95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5F7188-FCD9-4CD1-933C-F6AADFEB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625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DE46E4-CD28-4F5A-BFCD-471D3DE5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62525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8C0792-AA6B-47E2-A4AA-ED23815D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6252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部署共设计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156A1C-74F5-43AE-88D6-122C0751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62525"/>
            <a:ext cx="714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32A01E-7371-49AC-9D22-6B24B937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6252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优势：QAT、EAGLE-3、混合缓存贯穿训练到服务。
R5 风险：训练规模不透明；Token、FLOPs 与集群规模未披露，2.5× 难验证。</a:t>
            </a:r>
          </a:p>
        </p:txBody>
      </p:sp>
    </p:spTree>
    <p:extLst>
      <p:ext uri="{BB962C8B-B14F-4D97-AF65-F5344CB8AC3E}">
        <p14:creationId xmlns:p14="http://schemas.microsoft.com/office/powerpoint/2010/main" val="28622664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EA7C8B-001F-4898-BD18-5236174E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8B657-380C-455B-935E-5030A781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FINAL TAKEAWAY × EXECUTION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B63A7-B595-4E86-842B-2D05A5DA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最终判断与复刻路径：先建轨迹工厂，再扩大模型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7684F-CA13-477D-81C7-75599190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A1FC8-2467-48FA-A5F2-469809FB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08548-E9BD-4452-8FF5-11E02A99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8F96"/>
                </a:solidFill>
                <a:latin typeface="Microsoft YaHei"/>
                <a:ea typeface="Microsoft YaHei"/>
                <a:cs typeface="Microsoft YaHei"/>
              </a:rPr>
              <a:t>来源：[K3-TR] §4–6；本报告结论与建议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45C6A-8E4B-4968-A11D-F12E31FC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43926-E1DB-4D9A-A476-F39E3AAD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539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839E8-A6C9-48FD-986D-9B15EBE5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127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任务资产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11DAA-F065-449D-8B51-FAE1B624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1273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初态/目标/预算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167F0-A2E3-4DEB-A538-9375051D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C7C0D-8CD6-400B-B6F2-218F32C2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475" y="1476375"/>
            <a:ext cx="1539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2A69E-8F17-4975-81E5-44396F02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825" y="1609725"/>
            <a:ext cx="127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统一 Harness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87FFE-AE00-4DE5-868D-E3FDDDFA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825" y="1952625"/>
            <a:ext cx="1273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工具/记忆/技能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A2985-DA85-47FA-B8D5-3273213D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A80D7-2BB3-4125-B55C-C9588D4F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1476375"/>
            <a:ext cx="1539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58C5F-44BF-4B9F-BA6C-C5546E2C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1609725"/>
            <a:ext cx="127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Verifier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66BDC-0B70-4232-9296-5B4410BF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1952625"/>
            <a:ext cx="1273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终态/测试/隐藏检查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3C953-2B7A-4ED4-8753-3571300E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DDDBB-C6A8-4A99-A001-0FB74D50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76375"/>
            <a:ext cx="1539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AADC88-90AC-4100-AE98-EDEB561B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609725"/>
            <a:ext cx="127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Sandbox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B75AA-93D8-48CB-B689-CCD8E96A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52625"/>
            <a:ext cx="1273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暂停/分叉/快照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EC59F-B8A3-4FA0-BB35-E567140E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0DEFF4-F893-4EC3-B31A-0298F161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1476375"/>
            <a:ext cx="1539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952ED1-DC1E-4D08-9CA5-74201492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1609725"/>
            <a:ext cx="127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异步 RL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F65EDF-FDF8-401E-A054-C8AC2BCD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1952625"/>
            <a:ext cx="1273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partial rollout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9657D9-5B8D-4BFB-B283-EA4AC777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625" y="174307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05AA21-B90C-4B03-8FFE-3D4FCCA3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75" y="1476375"/>
            <a:ext cx="1539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2DF484-48D5-4136-99DB-6EFCD6DF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725" y="1609725"/>
            <a:ext cx="127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多教师合并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791122-F139-45E9-B772-2A4226E3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725" y="1952625"/>
            <a:ext cx="1273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on-policy distill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405B16-D511-4AA1-88B3-EDB672C4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333375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B2B94C-1C42-433A-84AA-059FF76C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90 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B15707-927E-4437-8FC5-DF950566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选 3 类高价值流程；建立 100–500 个可重放任务与隐藏验证器。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9337D1-CE19-4E02-B0BC-676320D3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33750"/>
            <a:ext cx="333375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50D9D4-A906-44FD-BE8D-EAE3C3BE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43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180 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2079B5-E539-45E9-A39B-A832397E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9575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统一工具 schema、状态快照、轨迹版本；上线异步回放与失败分类。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C3F4C3-6EA6-4B1D-A697-5F00B4B7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333375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F43947-5DA8-4568-A70F-38B205A5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43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191C"/>
                </a:solidFill>
                <a:latin typeface="Microsoft YaHei"/>
                <a:ea typeface="Microsoft YaHei"/>
                <a:cs typeface="Microsoft YaHei"/>
              </a:rPr>
              <a:t>360 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D3A8D4-09B3-469C-8B3E-45EE1E65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066"/>
                </a:solidFill>
                <a:latin typeface="Microsoft YaHei"/>
                <a:ea typeface="Microsoft YaHei"/>
                <a:cs typeface="Microsoft YaHei"/>
              </a:rPr>
              <a:t>按领域/预算训练 specialist；用 on-policy distillation 合并并建立成本前沿。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44E748-E7E3-4D8A-ABF7-E93CD3C9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611132-3855-44D5-BA07-FB42879A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732F75-9B9E-4931-A59A-C6F0A19C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91175"/>
            <a:ext cx="1049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最终判断：K3 的护城河是可规模化 Agent 学习闭环。
复刻优先级：Verifier 质量 &gt; 环境可复现 &gt; 任务多样性 &gt; 轨迹数量 &gt; 参数规模。</a:t>
            </a:r>
          </a:p>
        </p:txBody>
      </p:sp>
    </p:spTree>
    <p:extLst>
      <p:ext uri="{BB962C8B-B14F-4D97-AF65-F5344CB8AC3E}">
        <p14:creationId xmlns:p14="http://schemas.microsoft.com/office/powerpoint/2010/main" val="363595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2026-07-29T07:52:55.1150000Z</dcterms:created>
  <dcterms:modified xsi:type="dcterms:W3CDTF">2026-07-29T07:52:55.1150000Z</dcterms:modified>
</coreProperties>
</file>