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2f80b2802a499f" /><Relationship Type="http://schemas.openxmlformats.org/officeDocument/2006/relationships/extended-properties" Target="/docProps/app.xml" Id="Rb2269830849d4f6e" /><Relationship Type="http://schemas.openxmlformats.org/officeDocument/2006/relationships/officeDocument" Target="/ppt/presentation.xml" Id="R008f5671302f4e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3ac65c744a403e"/>
  </p:sldMasterIdLst>
  <p:notesMasterIdLst>
    <p:notesMasterId xmlns:r="http://schemas.openxmlformats.org/officeDocument/2006/relationships" r:id="R29a0954c44374242"/>
  </p:notesMasterIdLst>
  <p:sldIdLst>
    <p:sldId xmlns:r="http://schemas.openxmlformats.org/officeDocument/2006/relationships" id="256" r:id="Rcc39727841b641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0b62bce0334e9e" /><Relationship Type="http://schemas.openxmlformats.org/officeDocument/2006/relationships/slideMaster" Target="/ppt/slideMasters/slideMaster1.xml" Id="R3b3ac65c744a403e" /><Relationship Type="http://schemas.openxmlformats.org/officeDocument/2006/relationships/notesMaster" Target="/ppt/notesMasters/notesMaster1.xml" Id="R29a0954c44374242" /><Relationship Type="http://schemas.openxmlformats.org/officeDocument/2006/relationships/presProps" Target="/ppt/presProps.xml" Id="R48753a556d064b76" /><Relationship Type="http://schemas.openxmlformats.org/officeDocument/2006/relationships/tableStyles" Target="/ppt/tableStyles.xml" Id="R89314118b511488c" /><Relationship Type="http://schemas.openxmlformats.org/officeDocument/2006/relationships/slide" Target="/ppt/slides/slide1.xml" Id="Rcc39727841b641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19754bff4445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a4de313464af5" /><Relationship Type="http://schemas.openxmlformats.org/officeDocument/2006/relationships/notesMaster" Target="/ppt/notesMasters/notesMaster1.xml" Id="R8e13eabbb3c048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860d3ae954f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fa0702d1324e1d" /><Relationship Type="http://schemas.openxmlformats.org/officeDocument/2006/relationships/slideLayout" Target="/ppt/slideLayouts/slideLayout1.xml" Id="R8668a69a7f134b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8a69a7f134b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0916878c84515" /><Relationship Type="http://schemas.openxmlformats.org/officeDocument/2006/relationships/image" Target="/ppt/media/image.jpeg" Id="R6d6d244208cd474a" /><Relationship Type="http://schemas.openxmlformats.org/officeDocument/2006/relationships/notesSlide" Target="/ppt/notesSlides/notesSlide1.xml" Id="R471772cbd7ba40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rule">
            <a:extLst xmlns:a="http://schemas.openxmlformats.org/drawingml/2006/main">
              <a:ext uri="{FF2B5EF4-FFF2-40B4-BE49-F238E27FC236}">
                <a16:creationId xmlns:a16="http://schemas.microsoft.com/office/drawing/2014/main" id="{C740CA61-B949-4A16-8ABB-24C1ADBE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9B6EDA8-6485-4C94-A758-041C4367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</a:defRPr>
            </a:pPr>
            <a:r>
              <a:rPr sz="1050" b="1">
                <a:solidFill>
                  <a:srgbClr val="C7000B"/>
                </a:solidFill>
              </a:rPr>
              <a:t>WAIC 2026 · RICHARD S. SUTTON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FB2208-A77D-46C7-814A-3ABC8B48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72C"/>
                </a:solidFill>
              </a:defRPr>
            </a:pPr>
            <a:r>
              <a:rPr sz="2700" b="1">
                <a:solidFill>
                  <a:srgbClr val="24272C"/>
                </a:solidFill>
              </a:rPr>
              <a:t>Sutton：下一代 AI 要从“继承知识”走向“创造经验”</a:t>
            </a:r>
          </a:p>
        </p:txBody>
      </p:sp>
      <p:sp>
        <p:nvSpPr>
          <p:cNvPr id="4" name="takeaway-bg">
            <a:extLst xmlns:a="http://schemas.openxmlformats.org/drawingml/2006/main">
              <a:ext uri="{FF2B5EF4-FFF2-40B4-BE49-F238E27FC236}">
                <a16:creationId xmlns:a16="http://schemas.microsoft.com/office/drawing/2014/main" id="{BE1E84A3-EE74-414D-B1C7-C771E6F3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B02733C5-5AFE-4440-994E-629896F4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5CBB1334-A7A6-4F08-B1B5-91BFF576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72C"/>
                </a:solidFill>
              </a:defRPr>
            </a:pPr>
            <a:r>
              <a:rPr sz="1575" b="1">
                <a:solidFill>
                  <a:srgbClr val="24272C"/>
                </a:solidFill>
              </a:rPr>
              <a:t>LLM 擅长表达人类已有知识；真正智能还要通过行动、反馈与学习，持续发现新知识。</a:t>
            </a:r>
          </a:p>
        </p:txBody>
      </p:sp>
      <p:sp>
        <p:nvSpPr>
          <p:cNvPr id="7" name="photo-rule">
            <a:extLst xmlns:a="http://schemas.openxmlformats.org/drawingml/2006/main">
              <a:ext uri="{FF2B5EF4-FFF2-40B4-BE49-F238E27FC236}">
                <a16:creationId xmlns:a16="http://schemas.microsoft.com/office/drawing/2014/main" id="{7DEBB646-7CDE-4B8E-B99E-E6126401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743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d244208cd474a"/>
          <a:srcRect xmlns:a="http://schemas.openxmlformats.org/drawingml/2006/main" l="0" t="10667" r="0" b="10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105025"/>
            <a:ext cx="2743200" cy="2247900"/>
          </a:xfrm>
          <a:prstGeom xmlns:a="http://schemas.openxmlformats.org/drawingml/2006/main" prst="rect">
            <a:avLst/>
          </a:prstGeom>
        </p:spPr>
      </p:pic>
      <p:sp>
        <p:nvSpPr>
          <p:cNvPr id="9" name="photo-name">
            <a:extLst xmlns:a="http://schemas.openxmlformats.org/drawingml/2006/main">
              <a:ext uri="{FF2B5EF4-FFF2-40B4-BE49-F238E27FC236}">
                <a16:creationId xmlns:a16="http://schemas.microsoft.com/office/drawing/2014/main" id="{B72C23B6-3859-4A93-855D-F624499D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86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72C"/>
                </a:solidFill>
              </a:defRPr>
            </a:pPr>
            <a:r>
              <a:rPr sz="1275" b="1">
                <a:solidFill>
                  <a:srgbClr val="24272C"/>
                </a:solidFill>
              </a:rPr>
              <a:t>RICHARD S. SUTTON</a:t>
            </a:r>
          </a:p>
        </p:txBody>
      </p:sp>
      <p:sp>
        <p:nvSpPr>
          <p:cNvPr id="10" name="photo-role">
            <a:extLst xmlns:a="http://schemas.openxmlformats.org/drawingml/2006/main">
              <a:ext uri="{FF2B5EF4-FFF2-40B4-BE49-F238E27FC236}">
                <a16:creationId xmlns:a16="http://schemas.microsoft.com/office/drawing/2014/main" id="{063852D8-387F-4973-8BCA-C1DC06E6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7677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871"/>
                </a:solidFill>
              </a:defRPr>
            </a:pPr>
            <a:r>
              <a:rPr sz="975" b="0">
                <a:solidFill>
                  <a:srgbClr val="626871"/>
                </a:solidFill>
              </a:rPr>
              <a:t>2024 图灵奖得主｜强化学习奠基人</a:t>
            </a:r>
          </a:p>
        </p:txBody>
      </p:sp>
      <p:sp>
        <p:nvSpPr>
          <p:cNvPr id="11" name="judgment-rule">
            <a:extLst xmlns:a="http://schemas.openxmlformats.org/drawingml/2006/main">
              <a:ext uri="{FF2B5EF4-FFF2-40B4-BE49-F238E27FC236}">
                <a16:creationId xmlns:a16="http://schemas.microsoft.com/office/drawing/2014/main" id="{3528E883-74EE-4ADD-BEA9-113632F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3872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udgment-label">
            <a:extLst xmlns:a="http://schemas.openxmlformats.org/drawingml/2006/main">
              <a:ext uri="{FF2B5EF4-FFF2-40B4-BE49-F238E27FC236}">
                <a16:creationId xmlns:a16="http://schemas.microsoft.com/office/drawing/2014/main" id="{0AD69BD2-C4E1-424A-9EEB-E946F25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B"/>
                </a:solidFill>
              </a:defRPr>
            </a:pPr>
            <a:r>
              <a:rPr sz="1125" b="1">
                <a:solidFill>
                  <a:srgbClr val="C7000B"/>
                </a:solidFill>
              </a:rPr>
              <a:t>核心判断</a:t>
            </a:r>
          </a:p>
        </p:txBody>
      </p:sp>
      <p:sp>
        <p:nvSpPr>
          <p:cNvPr id="13" name="judgment-text">
            <a:extLst xmlns:a="http://schemas.openxmlformats.org/drawingml/2006/main">
              <a:ext uri="{FF2B5EF4-FFF2-40B4-BE49-F238E27FC236}">
                <a16:creationId xmlns:a16="http://schemas.microsoft.com/office/drawing/2014/main" id="{0F7EBE50-3F8E-4D7E-B6D5-A91503C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673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72C"/>
                </a:solidFill>
              </a:defRPr>
            </a:pPr>
            <a:r>
              <a:rPr sz="1425" b="1">
                <a:solidFill>
                  <a:srgbClr val="24272C"/>
                </a:solidFill>
              </a:rPr>
              <a:t>知识来自经验，</a:t>
            </a:r>
          </a:p>
          <a:p xmlns:a="http://schemas.openxmlformats.org/drawingml/2006/main">
            <a:pPr algn="l">
              <a:defRPr sz="1425" b="1">
                <a:solidFill>
                  <a:srgbClr val="24272C"/>
                </a:solidFill>
              </a:defRPr>
            </a:pPr>
            <a:r>
              <a:rPr sz="1425" b="1">
                <a:solidFill>
                  <a:srgbClr val="24272C"/>
                </a:solidFill>
              </a:rPr>
              <a:t>智能必须在行动中持续更新。</a:t>
            </a:r>
          </a:p>
        </p:txBody>
      </p:sp>
      <p:sp>
        <p:nvSpPr>
          <p:cNvPr id="14" name="num-01">
            <a:extLst xmlns:a="http://schemas.openxmlformats.org/drawingml/2006/main">
              <a:ext uri="{FF2B5EF4-FFF2-40B4-BE49-F238E27FC236}">
                <a16:creationId xmlns:a16="http://schemas.microsoft.com/office/drawing/2014/main" id="{EA4EC826-A489-4651-90C8-D44D3AC0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B"/>
                </a:solidFill>
              </a:defRPr>
            </a:pPr>
            <a:r>
              <a:rPr sz="1575" b="1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5" name="head-01">
            <a:extLst xmlns:a="http://schemas.openxmlformats.org/drawingml/2006/main">
              <a:ext uri="{FF2B5EF4-FFF2-40B4-BE49-F238E27FC236}">
                <a16:creationId xmlns:a16="http://schemas.microsoft.com/office/drawing/2014/main" id="{E52848E5-D4EF-4D8D-A124-C66544FE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72C"/>
                </a:solidFill>
              </a:defRPr>
            </a:pPr>
            <a:r>
              <a:rPr sz="1875" b="1">
                <a:solidFill>
                  <a:srgbClr val="24272C"/>
                </a:solidFill>
              </a:rPr>
              <a:t>知识不等于智能</a:t>
            </a:r>
          </a:p>
        </p:txBody>
      </p:sp>
      <p:sp>
        <p:nvSpPr>
          <p:cNvPr id="16" name="body-01">
            <a:extLst xmlns:a="http://schemas.openxmlformats.org/drawingml/2006/main">
              <a:ext uri="{FF2B5EF4-FFF2-40B4-BE49-F238E27FC236}">
                <a16:creationId xmlns:a16="http://schemas.microsoft.com/office/drawing/2014/main" id="{8CB0A038-50A5-4875-A368-DBEC9AF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1"/>
                </a:solidFill>
              </a:defRPr>
            </a:pPr>
            <a:r>
              <a:rPr sz="1275" b="0">
                <a:solidFill>
                  <a:srgbClr val="626871"/>
                </a:solidFill>
              </a:rPr>
              <a:t>静态语料让模型会复述和推理，却无法提供稳定目标、现实验证与自主发现；</a:t>
            </a:r>
          </a:p>
          <a:p xmlns:a="http://schemas.openxmlformats.org/drawingml/2006/main">
            <a:pPr algn="l">
              <a:defRPr sz="1275" b="0">
                <a:solidFill>
                  <a:srgbClr val="626871"/>
                </a:solidFill>
              </a:defRPr>
            </a:pPr>
            <a:r>
              <a:rPr sz="1275" b="0">
                <a:solidFill>
                  <a:srgbClr val="626871"/>
                </a:solidFill>
              </a:rPr>
              <a:t>幻觉和不可靠性因此难以仅靠扩大训练数据来根治。</a:t>
            </a:r>
          </a:p>
        </p:txBody>
      </p:sp>
      <p:sp>
        <p:nvSpPr>
          <p:cNvPr id="17" name="sep-01">
            <a:extLst xmlns:a="http://schemas.openxmlformats.org/drawingml/2006/main">
              <a:ext uri="{FF2B5EF4-FFF2-40B4-BE49-F238E27FC236}">
                <a16:creationId xmlns:a16="http://schemas.microsoft.com/office/drawing/2014/main" id="{55A398A3-B6EA-49AB-86D0-9D2F282D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779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-02">
            <a:extLst xmlns:a="http://schemas.openxmlformats.org/drawingml/2006/main">
              <a:ext uri="{FF2B5EF4-FFF2-40B4-BE49-F238E27FC236}">
                <a16:creationId xmlns:a16="http://schemas.microsoft.com/office/drawing/2014/main" id="{E3231522-9A0D-40F3-BAEC-591F6DF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B"/>
                </a:solidFill>
              </a:defRPr>
            </a:pPr>
            <a:r>
              <a:rPr sz="1575" b="1">
                <a:solidFill>
                  <a:srgbClr val="C7000B"/>
                </a:solidFill>
              </a:rPr>
              <a:t>02</a:t>
            </a:r>
          </a:p>
        </p:txBody>
      </p:sp>
      <p:sp>
        <p:nvSpPr>
          <p:cNvPr id="19" name="head-02">
            <a:extLst xmlns:a="http://schemas.openxmlformats.org/drawingml/2006/main">
              <a:ext uri="{FF2B5EF4-FFF2-40B4-BE49-F238E27FC236}">
                <a16:creationId xmlns:a16="http://schemas.microsoft.com/office/drawing/2014/main" id="{046DD4E9-6C25-4444-8C93-27EE0103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72C"/>
                </a:solidFill>
              </a:defRPr>
            </a:pPr>
            <a:r>
              <a:rPr sz="1875" b="1">
                <a:solidFill>
                  <a:srgbClr val="24272C"/>
                </a:solidFill>
              </a:rPr>
              <a:t>第一视角经验成为新的数据源</a:t>
            </a:r>
          </a:p>
        </p:txBody>
      </p:sp>
      <p:sp>
        <p:nvSpPr>
          <p:cNvPr id="20" name="body-02">
            <a:extLst xmlns:a="http://schemas.openxmlformats.org/drawingml/2006/main">
              <a:ext uri="{FF2B5EF4-FFF2-40B4-BE49-F238E27FC236}">
                <a16:creationId xmlns:a16="http://schemas.microsoft.com/office/drawing/2014/main" id="{4591E339-EB51-4154-B3BC-79039841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1"/>
                </a:solidFill>
              </a:defRPr>
            </a:pPr>
            <a:r>
              <a:rPr sz="1275" b="0">
                <a:solidFill>
                  <a:srgbClr val="626871"/>
                </a:solidFill>
              </a:rPr>
              <a:t>数据不再由人类预先准备，而由智能体在环境中的行动动态产生。</a:t>
            </a:r>
          </a:p>
        </p:txBody>
      </p:sp>
      <p:sp>
        <p:nvSpPr>
          <p:cNvPr id="21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C5DA8E87-B237-4FBE-89D8-1EC345E3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576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F6BA1C71-F3C7-451C-94AC-5CD1FD82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576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FCE9D5AF-5278-4AF7-BBA5-9B50E7F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0576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oop-1">
            <a:extLst xmlns:a="http://schemas.openxmlformats.org/drawingml/2006/main">
              <a:ext uri="{FF2B5EF4-FFF2-40B4-BE49-F238E27FC236}">
                <a16:creationId xmlns:a16="http://schemas.microsoft.com/office/drawing/2014/main" id="{7610F426-59C7-427D-8242-0C363B7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72C"/>
                </a:solidFill>
              </a:defRPr>
            </a:pPr>
            <a:r>
              <a:rPr sz="1500" b="1">
                <a:solidFill>
                  <a:srgbClr val="24272C"/>
                </a:solidFill>
              </a:rPr>
              <a:t>观察</a:t>
            </a:r>
          </a:p>
        </p:txBody>
      </p:sp>
      <p:sp>
        <p:nvSpPr>
          <p:cNvPr id="25" name="loop-2">
            <a:extLst xmlns:a="http://schemas.openxmlformats.org/drawingml/2006/main">
              <a:ext uri="{FF2B5EF4-FFF2-40B4-BE49-F238E27FC236}">
                <a16:creationId xmlns:a16="http://schemas.microsoft.com/office/drawing/2014/main" id="{540B1EF8-F510-4423-A0DE-FD6E2BF4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719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72C"/>
                </a:solidFill>
              </a:defRPr>
            </a:pPr>
            <a:r>
              <a:rPr sz="1500" b="1">
                <a:solidFill>
                  <a:srgbClr val="24272C"/>
                </a:solidFill>
              </a:rPr>
              <a:t>行动</a:t>
            </a:r>
          </a:p>
        </p:txBody>
      </p:sp>
      <p:sp>
        <p:nvSpPr>
          <p:cNvPr id="26" name="loop-3">
            <a:extLst xmlns:a="http://schemas.openxmlformats.org/drawingml/2006/main">
              <a:ext uri="{FF2B5EF4-FFF2-40B4-BE49-F238E27FC236}">
                <a16:creationId xmlns:a16="http://schemas.microsoft.com/office/drawing/2014/main" id="{2D114E09-1AB4-49BC-BEF7-3C95BAC7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719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72C"/>
                </a:solidFill>
              </a:defRPr>
            </a:pPr>
            <a:r>
              <a:rPr sz="1500" b="1">
                <a:solidFill>
                  <a:srgbClr val="24272C"/>
                </a:solidFill>
              </a:rPr>
              <a:t>反馈</a:t>
            </a:r>
          </a:p>
        </p:txBody>
      </p:sp>
      <p:sp>
        <p:nvSpPr>
          <p:cNvPr id="27" name="loop-4">
            <a:extLst xmlns:a="http://schemas.openxmlformats.org/drawingml/2006/main">
              <a:ext uri="{FF2B5EF4-FFF2-40B4-BE49-F238E27FC236}">
                <a16:creationId xmlns:a16="http://schemas.microsoft.com/office/drawing/2014/main" id="{9BD6C498-00B3-4D7D-BB53-FD36BF6E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719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B"/>
                </a:solidFill>
              </a:defRPr>
            </a:pPr>
            <a:r>
              <a:rPr sz="1500" b="1">
                <a:solidFill>
                  <a:srgbClr val="C7000B"/>
                </a:solidFill>
              </a:rPr>
              <a:t>更新</a:t>
            </a:r>
          </a:p>
        </p:txBody>
      </p:sp>
      <p:sp>
        <p:nvSpPr>
          <p:cNvPr id="28" name="loop-meaning">
            <a:extLst xmlns:a="http://schemas.openxmlformats.org/drawingml/2006/main">
              <a:ext uri="{FF2B5EF4-FFF2-40B4-BE49-F238E27FC236}">
                <a16:creationId xmlns:a16="http://schemas.microsoft.com/office/drawing/2014/main" id="{070FA904-02F0-4BAD-B74D-D15F9FE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7197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循环的价值：判断结果是否有效，并把新经验沉淀为可复用知识。</a:t>
            </a:r>
          </a:p>
        </p:txBody>
      </p:sp>
      <p:sp>
        <p:nvSpPr>
          <p:cNvPr id="29" name="sep-02">
            <a:extLst xmlns:a="http://schemas.openxmlformats.org/drawingml/2006/main">
              <a:ext uri="{FF2B5EF4-FFF2-40B4-BE49-F238E27FC236}">
                <a16:creationId xmlns:a16="http://schemas.microsoft.com/office/drawing/2014/main" id="{8C283456-73BF-4D1B-BFB1-ED124BF2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779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num-03">
            <a:extLst xmlns:a="http://schemas.openxmlformats.org/drawingml/2006/main">
              <a:ext uri="{FF2B5EF4-FFF2-40B4-BE49-F238E27FC236}">
                <a16:creationId xmlns:a16="http://schemas.microsoft.com/office/drawing/2014/main" id="{B2A322AF-465E-4E9D-8308-5E34A613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B"/>
                </a:solidFill>
              </a:defRPr>
            </a:pPr>
            <a:r>
              <a:rPr sz="1575" b="1">
                <a:solidFill>
                  <a:srgbClr val="C7000B"/>
                </a:solidFill>
              </a:rPr>
              <a:t>03</a:t>
            </a:r>
          </a:p>
        </p:txBody>
      </p:sp>
      <p:sp>
        <p:nvSpPr>
          <p:cNvPr id="31" name="head-03">
            <a:extLst xmlns:a="http://schemas.openxmlformats.org/drawingml/2006/main">
              <a:ext uri="{FF2B5EF4-FFF2-40B4-BE49-F238E27FC236}">
                <a16:creationId xmlns:a16="http://schemas.microsoft.com/office/drawing/2014/main" id="{16096972-A60E-4139-AA60-6B075A94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72C"/>
                </a:solidFill>
              </a:defRPr>
            </a:pPr>
            <a:r>
              <a:rPr sz="1875" b="1">
                <a:solidFill>
                  <a:srgbClr val="24272C"/>
                </a:solidFill>
              </a:rPr>
              <a:t>OaK 让抽象能力在运行中生长</a:t>
            </a:r>
          </a:p>
        </p:txBody>
      </p:sp>
      <p:sp>
        <p:nvSpPr>
          <p:cNvPr id="32" name="body-03">
            <a:extLst xmlns:a="http://schemas.openxmlformats.org/drawingml/2006/main">
              <a:ext uri="{FF2B5EF4-FFF2-40B4-BE49-F238E27FC236}">
                <a16:creationId xmlns:a16="http://schemas.microsoft.com/office/drawing/2014/main" id="{8BB19569-6A5B-4C22-A287-4BBBDF67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95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1"/>
                </a:solidFill>
              </a:defRPr>
            </a:pPr>
            <a:r>
              <a:rPr sz="1275" b="0">
                <a:solidFill>
                  <a:srgbClr val="626871"/>
                </a:solidFill>
              </a:rPr>
              <a:t>从概念与子问题出发，逐步形成 Option 技能、世界模型与高层规划。</a:t>
            </a:r>
          </a:p>
        </p:txBody>
      </p:sp>
      <p:sp>
        <p:nvSpPr>
          <p:cNvPr id="33" name="oak-path">
            <a:extLst xmlns:a="http://schemas.openxmlformats.org/drawingml/2006/main">
              <a:ext uri="{FF2B5EF4-FFF2-40B4-BE49-F238E27FC236}">
                <a16:creationId xmlns:a16="http://schemas.microsoft.com/office/drawing/2014/main" id="{F385E641-CAF4-417E-B096-2C61B68A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</a:defRPr>
            </a:pPr>
            <a:r>
              <a:rPr sz="1275" b="1">
                <a:solidFill>
                  <a:srgbClr val="C7000B"/>
                </a:solidFill>
              </a:rPr>
              <a:t>概念   →   子问题   →   Option 技能   →   世界模型   →   高层规划</a:t>
            </a:r>
          </a:p>
        </p:txBody>
      </p:sp>
      <p:sp>
        <p:nvSpPr>
          <p:cNvPr id="34" name="implication-rule">
            <a:extLst xmlns:a="http://schemas.openxmlformats.org/drawingml/2006/main">
              <a:ext uri="{FF2B5EF4-FFF2-40B4-BE49-F238E27FC236}">
                <a16:creationId xmlns:a16="http://schemas.microsoft.com/office/drawing/2014/main" id="{00B2AA98-9FBE-42E0-B21B-5971E730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mplication-label">
            <a:extLst xmlns:a="http://schemas.openxmlformats.org/drawingml/2006/main">
              <a:ext uri="{FF2B5EF4-FFF2-40B4-BE49-F238E27FC236}">
                <a16:creationId xmlns:a16="http://schemas.microsoft.com/office/drawing/2014/main" id="{72A7E5C0-C90B-43E4-AFEE-44DF70C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</a:defRPr>
            </a:pPr>
            <a:r>
              <a:rPr sz="1200" b="1">
                <a:solidFill>
                  <a:srgbClr val="C7000B"/>
                </a:solidFill>
              </a:rPr>
              <a:t>启示</a:t>
            </a:r>
          </a:p>
        </p:txBody>
      </p:sp>
      <p:sp>
        <p:nvSpPr>
          <p:cNvPr id="36" name="implication-text">
            <a:extLst xmlns:a="http://schemas.openxmlformats.org/drawingml/2006/main">
              <a:ext uri="{FF2B5EF4-FFF2-40B4-BE49-F238E27FC236}">
                <a16:creationId xmlns:a16="http://schemas.microsoft.com/office/drawing/2014/main" id="{6CD8B1F2-DE4E-4279-A0E0-F8CB5680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05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72C"/>
                </a:solidFill>
              </a:defRPr>
            </a:pPr>
            <a:r>
              <a:rPr sz="1350" b="1">
                <a:solidFill>
                  <a:srgbClr val="24272C"/>
                </a:solidFill>
              </a:rPr>
              <a:t>下一代 AI 的分水岭，是能否在真实世界中安全、持续地学习。</a:t>
            </a:r>
          </a:p>
        </p:txBody>
      </p:sp>
      <p:sp>
        <p:nvSpPr>
          <p:cNvPr id="3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4660C08-00EC-4F05-BE15-D9A697C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6579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9FA7"/>
                </a:solidFill>
              </a:defRPr>
            </a:pPr>
            <a:r>
              <a:rPr sz="675" b="0">
                <a:solidFill>
                  <a:srgbClr val="9A9FA7"/>
                </a:solidFill>
              </a:rPr>
              <a:t>照片：Amii　内容：WAIC 2026 / MIT CSAIL</a:t>
            </a:r>
          </a:p>
        </p:txBody>
      </p:sp>
    </p:spTree>
    <p:extLst>
      <p:ext uri="{BB962C8B-B14F-4D97-AF65-F5344CB8AC3E}">
        <p14:creationId xmlns:p14="http://schemas.microsoft.com/office/powerpoint/2010/main" val="177078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2026-07-21T11:32:19.7260000Z</dcterms:created>
  <dcterms:modified xsi:type="dcterms:W3CDTF">2026-07-21T11:32:19.7260000Z</dcterms:modified>
</coreProperties>
</file>